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charts/chart4.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88"/>
  </p:normalViewPr>
  <p:slideViewPr>
    <p:cSldViewPr snapToGrid="0">
      <p:cViewPr>
        <p:scale>
          <a:sx n="118" d="100"/>
          <a:sy n="118" d="100"/>
        </p:scale>
        <p:origin x="144" y="-4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clustered"/>
        <c:varyColors val="0"/>
        <c:ser>
          <c:idx val="0"/>
          <c:order val="0"/>
          <c:tx>
            <c:v>Usable outcomes</c:v>
          </c:tx>
          <c:spPr>
            <a:solidFill>
              <a:srgbClr val="F4F4F2"/>
            </a:solidFill>
          </c:spPr>
          <c:invertIfNegative val="1"/>
          <c:dLbls>
            <c:spPr>
              <a:noFill/>
              <a:ln>
                <a:noFill/>
              </a:ln>
              <a:effectLst/>
            </c:spPr>
            <c:txPr>
              <a:bodyPr anchorCtr="1"/>
              <a:lstStyle/>
              <a:p>
                <a:pPr>
                  <a:defRPr sz="1050" b="1">
                    <a:solidFill>
                      <a:srgbClr val="F4F4F2"/>
                    </a:solidFill>
                  </a:defRPr>
                </a:pPr>
                <a:endParaRPr lang="en-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SUCCESS</c:v>
              </c:pt>
              <c:pt idx="1">
                <c:v>RECOVERED</c:v>
              </c:pt>
              <c:pt idx="2">
                <c:v>PARTIAL</c:v>
              </c:pt>
              <c:pt idx="3">
                <c:v>FAILURE</c:v>
              </c:pt>
            </c:strLit>
          </c:cat>
          <c:val>
            <c:numLit>
              <c:formatCode>General</c:formatCode>
              <c:ptCount val="4"/>
              <c:pt idx="0">
                <c:v>1451</c:v>
              </c:pt>
              <c:pt idx="1">
                <c:v>435</c:v>
              </c:pt>
              <c:pt idx="2">
                <c:v>4</c:v>
              </c:pt>
              <c:pt idx="3">
                <c:v>2</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6FB-DC44-AB74-15214528577F}"/>
            </c:ext>
          </c:extLst>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DE"/>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2B2B29"/>
            </a:solidFill>
            <a:prstDash val="solid"/>
          </a:ln>
        </c:spPr>
        <c:txPr>
          <a:bodyPr anchorCtr="1"/>
          <a:lstStyle/>
          <a:p>
            <a:pPr>
              <a:defRPr sz="1125">
                <a:solidFill>
                  <a:srgbClr val="D6D6D2"/>
                </a:solidFill>
              </a:defRPr>
            </a:pPr>
            <a:endParaRPr lang="en-DE"/>
          </a:p>
        </c:txPr>
        <c:crossAx val="48650112"/>
        <c:crosses val="autoZero"/>
        <c:crossBetween val="between"/>
      </c:valAx>
      <c:spPr>
        <a:solidFill>
          <a:srgbClr val="050505"/>
        </a:solidFill>
      </c:spPr>
    </c:plotArea>
    <c:plotVisOnly val="1"/>
    <c:dispBlanksAs val="zero"/>
    <c:showDLblsOverMax val="1"/>
  </c:chart>
  <c:spPr>
    <a:solidFill>
      <a:srgbClr val="050505"/>
    </a:solidFill>
    <a:ln w="0">
      <a:solidFill>
        <a:srgbClr val="050505"/>
      </a:solid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1"/>
        <c:ser>
          <c:idx val="0"/>
          <c:order val="0"/>
          <c:tx>
            <c:v>Learned ε sweep</c:v>
          </c:tx>
          <c:spPr>
            <a:ln w="28575">
              <a:solidFill>
                <a:srgbClr val="0B0B0B"/>
              </a:solidFill>
              <a:prstDash val="solid"/>
            </a:ln>
          </c:spPr>
          <c:marker>
            <c:symbol val="diamond"/>
            <c:size val="8"/>
            <c:spPr>
              <a:solidFill>
                <a:srgbClr val="0B0B0B"/>
              </a:solidFill>
            </c:spPr>
          </c:marker>
          <c:xVal>
            <c:numLit>
              <c:formatCode>General</c:formatCode>
              <c:ptCount val="8"/>
              <c:pt idx="0">
                <c:v>5.85</c:v>
              </c:pt>
              <c:pt idx="1">
                <c:v>6.3</c:v>
              </c:pt>
              <c:pt idx="2">
                <c:v>7.45</c:v>
              </c:pt>
              <c:pt idx="3">
                <c:v>7.9</c:v>
              </c:pt>
              <c:pt idx="4">
                <c:v>12.9</c:v>
              </c:pt>
              <c:pt idx="5">
                <c:v>13.3</c:v>
              </c:pt>
              <c:pt idx="6">
                <c:v>13.7</c:v>
              </c:pt>
              <c:pt idx="7">
                <c:v>23.3</c:v>
              </c:pt>
            </c:numLit>
          </c:xVal>
          <c:yVal>
            <c:numLit>
              <c:formatCode>0.000</c:formatCode>
              <c:ptCount val="8"/>
              <c:pt idx="0">
                <c:v>0.91180000000000005</c:v>
              </c:pt>
              <c:pt idx="1">
                <c:v>0.91210000000000002</c:v>
              </c:pt>
              <c:pt idx="2">
                <c:v>0.91500000000000004</c:v>
              </c:pt>
              <c:pt idx="3">
                <c:v>0.9133</c:v>
              </c:pt>
              <c:pt idx="4">
                <c:v>0.93430000000000002</c:v>
              </c:pt>
              <c:pt idx="5">
                <c:v>0.92579999999999996</c:v>
              </c:pt>
              <c:pt idx="6">
                <c:v>0.93930000000000002</c:v>
              </c:pt>
              <c:pt idx="7">
                <c:v>0.95069999999999999</c:v>
              </c:pt>
            </c:numLit>
          </c:yVal>
          <c:smooth val="1"/>
          <c:extLst>
            <c:ext xmlns:c16="http://schemas.microsoft.com/office/drawing/2014/chart" uri="{C3380CC4-5D6E-409C-BE32-E72D297353CC}">
              <c16:uniqueId val="{00000000-9CF3-C84E-A811-CD6B5BA4ADFF}"/>
            </c:ext>
          </c:extLst>
        </c:ser>
        <c:ser>
          <c:idx val="1"/>
          <c:order val="1"/>
          <c:tx>
            <c:v>Incumbent logged route</c:v>
          </c:tx>
          <c:spPr>
            <a:ln w="0">
              <a:solidFill>
                <a:srgbClr val="555552"/>
              </a:solidFill>
              <a:prstDash val="solid"/>
            </a:ln>
          </c:spPr>
          <c:marker>
            <c:symbol val="circle"/>
            <c:size val="10"/>
            <c:spPr>
              <a:solidFill>
                <a:srgbClr val="555552"/>
              </a:solidFill>
            </c:spPr>
          </c:marker>
          <c:xVal>
            <c:numLit>
              <c:formatCode>General</c:formatCode>
              <c:ptCount val="1"/>
              <c:pt idx="0">
                <c:v>11.65</c:v>
              </c:pt>
            </c:numLit>
          </c:xVal>
          <c:yVal>
            <c:numLit>
              <c:formatCode>0.000</c:formatCode>
              <c:ptCount val="1"/>
              <c:pt idx="0">
                <c:v>0.91200000000000003</c:v>
              </c:pt>
            </c:numLit>
          </c:yVal>
          <c:smooth val="1"/>
          <c:extLst>
            <c:ext xmlns:c16="http://schemas.microsoft.com/office/drawing/2014/chart" uri="{C3380CC4-5D6E-409C-BE32-E72D297353CC}">
              <c16:uniqueId val="{00000001-9CF3-C84E-A811-CD6B5BA4ADFF}"/>
            </c:ext>
          </c:extLst>
        </c:ser>
        <c:ser>
          <c:idx val="2"/>
          <c:order val="2"/>
          <c:tx>
            <c:v>Selected ε=.005</c:v>
          </c:tx>
          <c:spPr>
            <a:ln w="0">
              <a:solidFill>
                <a:srgbClr val="0B0B0B"/>
              </a:solidFill>
              <a:prstDash val="solid"/>
            </a:ln>
          </c:spPr>
          <c:marker>
            <c:symbol val="diamond"/>
            <c:size val="14"/>
            <c:spPr>
              <a:solidFill>
                <a:srgbClr val="0B0B0B"/>
              </a:solidFill>
            </c:spPr>
          </c:marker>
          <c:xVal>
            <c:numLit>
              <c:formatCode>General</c:formatCode>
              <c:ptCount val="1"/>
              <c:pt idx="0">
                <c:v>13.7</c:v>
              </c:pt>
            </c:numLit>
          </c:xVal>
          <c:yVal>
            <c:numLit>
              <c:formatCode>0.000</c:formatCode>
              <c:ptCount val="1"/>
              <c:pt idx="0">
                <c:v>0.93930000000000002</c:v>
              </c:pt>
            </c:numLit>
          </c:yVal>
          <c:smooth val="1"/>
          <c:extLst>
            <c:ext xmlns:c16="http://schemas.microsoft.com/office/drawing/2014/chart" uri="{C3380CC4-5D6E-409C-BE32-E72D297353CC}">
              <c16:uniqueId val="{00000002-9CF3-C84E-A811-CD6B5BA4ADFF}"/>
            </c:ext>
          </c:extLst>
        </c:ser>
        <c:ser>
          <c:idx val="3"/>
          <c:order val="3"/>
          <c:tx>
            <c:v>Public-tier 15k heuristic</c:v>
          </c:tx>
          <c:spPr>
            <a:ln w="0">
              <a:solidFill>
                <a:srgbClr val="555552"/>
              </a:solidFill>
              <a:prstDash val="solid"/>
            </a:ln>
          </c:spPr>
          <c:marker>
            <c:symbol val="square"/>
            <c:size val="10"/>
            <c:spPr>
              <a:solidFill>
                <a:srgbClr val="555552"/>
              </a:solidFill>
            </c:spPr>
          </c:marker>
          <c:xVal>
            <c:numLit>
              <c:formatCode>General</c:formatCode>
              <c:ptCount val="1"/>
              <c:pt idx="0">
                <c:v>9</c:v>
              </c:pt>
            </c:numLit>
          </c:xVal>
          <c:yVal>
            <c:numLit>
              <c:formatCode>0.000</c:formatCode>
              <c:ptCount val="1"/>
              <c:pt idx="0">
                <c:v>0.9</c:v>
              </c:pt>
            </c:numLit>
          </c:yVal>
          <c:smooth val="1"/>
          <c:extLst>
            <c:ext xmlns:c16="http://schemas.microsoft.com/office/drawing/2014/chart" uri="{C3380CC4-5D6E-409C-BE32-E72D297353CC}">
              <c16:uniqueId val="{00000003-9CF3-C84E-A811-CD6B5BA4ADFF}"/>
            </c:ext>
          </c:extLst>
        </c:ser>
        <c:dLbls>
          <c:showLegendKey val="0"/>
          <c:showVal val="0"/>
          <c:showCatName val="0"/>
          <c:showSerName val="0"/>
          <c:showPercent val="0"/>
          <c:showBubbleSize val="0"/>
        </c:dLbls>
        <c:axId val="48650112"/>
        <c:axId val="48672768"/>
      </c:scatterChart>
      <c:valAx>
        <c:axId val="48672768"/>
        <c:scaling>
          <c:orientation val="minMax"/>
          <c:max val="0.95299999999999996"/>
          <c:min val="0.89800000000000002"/>
        </c:scaling>
        <c:delete val="0"/>
        <c:axPos val="l"/>
        <c:majorGridlines>
          <c:spPr>
            <a:ln w="9525">
              <a:solidFill>
                <a:srgbClr val="D7D7D2"/>
              </a:solidFill>
              <a:prstDash val="solid"/>
            </a:ln>
          </c:spPr>
        </c:majorGridlines>
        <c:title>
          <c:tx>
            <c:rich>
              <a:bodyPr/>
              <a:lstStyle/>
              <a:p>
                <a:r>
                  <a:rPr lang="en-GB" sz="1050">
                    <a:solidFill>
                      <a:srgbClr val="555552"/>
                    </a:solidFill>
                  </a:rPr>
                  <a:t>Stabilized DR quality estimate</a:t>
                </a:r>
              </a:p>
            </c:rich>
          </c:tx>
          <c:overlay val="0"/>
        </c:title>
        <c:numFmt formatCode="0.000" sourceLinked="1"/>
        <c:majorTickMark val="none"/>
        <c:minorTickMark val="none"/>
        <c:tickLblPos val="nextTo"/>
        <c:spPr>
          <a:ln w="9525">
            <a:solidFill>
              <a:srgbClr val="0B0B0B"/>
            </a:solidFill>
            <a:prstDash val="solid"/>
          </a:ln>
        </c:spPr>
        <c:txPr>
          <a:bodyPr anchorCtr="1"/>
          <a:lstStyle/>
          <a:p>
            <a:pPr>
              <a:defRPr sz="975">
                <a:solidFill>
                  <a:srgbClr val="555552"/>
                </a:solidFill>
              </a:defRPr>
            </a:pPr>
            <a:endParaRPr lang="en-DE"/>
          </a:p>
        </c:txPr>
        <c:crossAx val="48650112"/>
        <c:crosses val="autoZero"/>
        <c:crossBetween val="midCat"/>
        <c:majorUnit val="0.01"/>
      </c:valAx>
      <c:valAx>
        <c:axId val="48650112"/>
        <c:scaling>
          <c:orientation val="minMax"/>
          <c:max val="24"/>
          <c:min val="5"/>
        </c:scaling>
        <c:delete val="0"/>
        <c:axPos val="b"/>
        <c:majorGridlines>
          <c:spPr>
            <a:ln w="9525">
              <a:solidFill>
                <a:srgbClr val="D7D7D2"/>
              </a:solidFill>
              <a:prstDash val="solid"/>
            </a:ln>
          </c:spPr>
        </c:majorGridlines>
        <c:title>
          <c:tx>
            <c:rich>
              <a:bodyPr/>
              <a:lstStyle/>
              <a:p>
                <a:r>
                  <a:rPr lang="en-GB" sz="1050">
                    <a:solidFill>
                      <a:srgbClr val="555552"/>
                    </a:solidFill>
                  </a:rPr>
                  <a:t>Estimated opening-input cost (USD, lower is better)</a:t>
                </a:r>
              </a:p>
            </c:rich>
          </c:tx>
          <c:overlay val="0"/>
        </c:title>
        <c:numFmt formatCode="General" sourceLinked="1"/>
        <c:majorTickMark val="none"/>
        <c:minorTickMark val="none"/>
        <c:tickLblPos val="nextTo"/>
        <c:spPr>
          <a:ln w="9525">
            <a:solidFill>
              <a:srgbClr val="0B0B0B"/>
            </a:solidFill>
            <a:prstDash val="solid"/>
          </a:ln>
        </c:spPr>
        <c:txPr>
          <a:bodyPr anchorCtr="1"/>
          <a:lstStyle/>
          <a:p>
            <a:pPr>
              <a:defRPr sz="975">
                <a:solidFill>
                  <a:srgbClr val="555552"/>
                </a:solidFill>
              </a:defRPr>
            </a:pPr>
            <a:endParaRPr lang="en-DE"/>
          </a:p>
        </c:txPr>
        <c:crossAx val="48672768"/>
        <c:crosses val="autoZero"/>
        <c:crossBetween val="midCat"/>
        <c:majorUnit val="2.5"/>
      </c:valAx>
      <c:spPr>
        <a:solidFill>
          <a:srgbClr val="F4F4F2"/>
        </a:solidFill>
      </c:spPr>
    </c:plotArea>
    <c:legend>
      <c:legendPos val="b"/>
      <c:overlay val="0"/>
      <c:txPr>
        <a:bodyPr anchorCtr="1"/>
        <a:lstStyle/>
        <a:p>
          <a:pPr>
            <a:defRPr sz="975">
              <a:solidFill>
                <a:srgbClr val="555552"/>
              </a:solidFill>
            </a:defRPr>
          </a:pPr>
          <a:endParaRPr lang="en-DE"/>
        </a:p>
      </c:txPr>
    </c:legend>
    <c:plotVisOnly val="1"/>
    <c:dispBlanksAs val="zero"/>
    <c:showDLblsOverMax val="1"/>
  </c:chart>
  <c:spPr>
    <a:solidFill>
      <a:srgbClr val="F4F4F2"/>
    </a:solidFill>
    <a:ln w="0">
      <a:solidFill>
        <a:srgbClr val="F4F4F2"/>
      </a:solidFill>
      <a:prstDash val="solid"/>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clustered"/>
        <c:varyColors val="0"/>
        <c:ser>
          <c:idx val="0"/>
          <c:order val="0"/>
          <c:tx>
            <c:v>Final routes</c:v>
          </c:tx>
          <c:spPr>
            <a:solidFill>
              <a:srgbClr val="F4F4F2"/>
            </a:solidFill>
          </c:spPr>
          <c:invertIfNegative val="1"/>
          <c:dLbls>
            <c:spPr>
              <a:noFill/>
              <a:ln>
                <a:noFill/>
              </a:ln>
              <a:effectLst/>
            </c:spPr>
            <c:txPr>
              <a:bodyPr anchorCtr="1"/>
              <a:lstStyle/>
              <a:p>
                <a:pPr>
                  <a:defRPr sz="975" b="1">
                    <a:solidFill>
                      <a:srgbClr val="F4F4F2"/>
                    </a:solidFill>
                  </a:defRPr>
                </a:pPr>
                <a:endParaRPr lang="en-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Sonnet</c:v>
              </c:pt>
              <c:pt idx="1">
                <c:v>Terra</c:v>
              </c:pt>
              <c:pt idx="2">
                <c:v>Opus</c:v>
              </c:pt>
              <c:pt idx="3">
                <c:v>Luna</c:v>
              </c:pt>
              <c:pt idx="4">
                <c:v>Sol</c:v>
              </c:pt>
              <c:pt idx="5">
                <c:v>Fable</c:v>
              </c:pt>
            </c:strLit>
          </c:cat>
          <c:val>
            <c:numLit>
              <c:formatCode>General</c:formatCode>
              <c:ptCount val="6"/>
              <c:pt idx="0">
                <c:v>1330</c:v>
              </c:pt>
              <c:pt idx="1">
                <c:v>495</c:v>
              </c:pt>
              <c:pt idx="2">
                <c:v>89</c:v>
              </c:pt>
              <c:pt idx="3">
                <c:v>65</c:v>
              </c:pt>
              <c:pt idx="4">
                <c:v>15</c:v>
              </c:pt>
              <c:pt idx="5">
                <c:v>6</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2E4-7749-9DC0-4B2F46D749D7}"/>
            </c:ext>
          </c:extLst>
        </c:ser>
        <c:dLbls>
          <c:dLblPos val="outEnd"/>
          <c:showLegendKey val="0"/>
          <c:showVal val="1"/>
          <c:showCatName val="0"/>
          <c:showSerName val="0"/>
          <c:showPercent val="0"/>
          <c:showBubbleSize val="0"/>
        </c:dLbls>
        <c:gapWidth val="32"/>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DE"/>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2B2B29"/>
            </a:solidFill>
            <a:prstDash val="solid"/>
          </a:ln>
        </c:spPr>
        <c:txPr>
          <a:bodyPr anchorCtr="1"/>
          <a:lstStyle/>
          <a:p>
            <a:pPr>
              <a:defRPr sz="975">
                <a:solidFill>
                  <a:srgbClr val="D6D6D2"/>
                </a:solidFill>
              </a:defRPr>
            </a:pPr>
            <a:endParaRPr lang="en-DE"/>
          </a:p>
        </c:txPr>
        <c:crossAx val="48650112"/>
        <c:crosses val="autoZero"/>
        <c:crossBetween val="between"/>
      </c:valAx>
      <c:spPr>
        <a:solidFill>
          <a:srgbClr val="050505"/>
        </a:solidFill>
      </c:spPr>
    </c:plotArea>
    <c:plotVisOnly val="1"/>
    <c:dispBlanksAs val="zero"/>
    <c:showDLblsOverMax val="1"/>
  </c:chart>
  <c:spPr>
    <a:solidFill>
      <a:srgbClr val="050505"/>
    </a:solidFill>
    <a:ln w="0">
      <a:solidFill>
        <a:srgbClr val="050505"/>
      </a:solidFill>
      <a:prstDash val="solid"/>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clustered"/>
        <c:varyColors val="0"/>
        <c:ser>
          <c:idx val="0"/>
          <c:order val="0"/>
          <c:tx>
            <c:v>Observed assignments</c:v>
          </c:tx>
          <c:spPr>
            <a:solidFill>
              <a:srgbClr val="555552"/>
            </a:solidFill>
          </c:spPr>
          <c:invertIfNegative val="1"/>
          <c:dLbls>
            <c:spPr>
              <a:noFill/>
              <a:ln>
                <a:noFill/>
              </a:ln>
              <a:effectLst/>
            </c:spPr>
            <c:txPr>
              <a:bodyPr anchorCtr="1"/>
              <a:lstStyle/>
              <a:p>
                <a:pPr>
                  <a:defRPr sz="975" b="1">
                    <a:solidFill>
                      <a:srgbClr val="0B0B0B"/>
                    </a:solidFill>
                  </a:defRPr>
                </a:pPr>
                <a:endParaRPr lang="en-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8"/>
              <c:pt idx="0">
                <c:v>opus-4-6</c:v>
              </c:pt>
              <c:pt idx="1">
                <c:v>luna</c:v>
              </c:pt>
              <c:pt idx="2">
                <c:v>opus-4-8</c:v>
              </c:pt>
              <c:pt idx="3">
                <c:v>fable-5</c:v>
              </c:pt>
              <c:pt idx="4">
                <c:v>sol</c:v>
              </c:pt>
              <c:pt idx="5">
                <c:v>terra</c:v>
              </c:pt>
              <c:pt idx="6">
                <c:v>sonnet-5</c:v>
              </c:pt>
              <c:pt idx="7">
                <c:v>opus-5</c:v>
              </c:pt>
            </c:strLit>
          </c:cat>
          <c:val>
            <c:numLit>
              <c:formatCode>General</c:formatCode>
              <c:ptCount val="8"/>
              <c:pt idx="0">
                <c:v>2</c:v>
              </c:pt>
              <c:pt idx="1">
                <c:v>17</c:v>
              </c:pt>
              <c:pt idx="2">
                <c:v>69</c:v>
              </c:pt>
              <c:pt idx="3">
                <c:v>70</c:v>
              </c:pt>
              <c:pt idx="4">
                <c:v>110</c:v>
              </c:pt>
              <c:pt idx="5">
                <c:v>111</c:v>
              </c:pt>
              <c:pt idx="6">
                <c:v>281</c:v>
              </c:pt>
              <c:pt idx="7">
                <c:v>331</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62C-514D-BA5F-D995ACE26B91}"/>
            </c:ext>
          </c:extLst>
        </c:ser>
        <c:dLbls>
          <c:dLblPos val="outEnd"/>
          <c:showLegendKey val="0"/>
          <c:showVal val="1"/>
          <c:showCatName val="0"/>
          <c:showSerName val="0"/>
          <c:showPercent val="0"/>
          <c:showBubbleSize val="0"/>
        </c:dLbls>
        <c:gapWidth val="34"/>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DE"/>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0">
            <a:prstDash val="solid"/>
          </a:ln>
        </c:spPr>
        <c:txPr>
          <a:bodyPr anchorCtr="1"/>
          <a:lstStyle/>
          <a:p>
            <a:pPr>
              <a:defRPr sz="1050">
                <a:solidFill>
                  <a:srgbClr val="0B0B0B"/>
                </a:solidFill>
              </a:defRPr>
            </a:pPr>
            <a:endParaRPr lang="en-DE"/>
          </a:p>
        </c:txPr>
        <c:crossAx val="48650112"/>
        <c:crosses val="autoZero"/>
        <c:crossBetween val="between"/>
      </c:valAx>
    </c:plotArea>
    <c:plotVisOnly val="1"/>
    <c:dispBlanksAs val="zero"/>
    <c:showDLblsOverMax val="1"/>
  </c:chart>
  <c:spPr>
    <a:ln w="0">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external result, then immediately qualify it: the data supports lower assumed cost with no detected quality loss, not a proven quality gain.</a:t>
            </a:r>
          </a:p>
          <a:p>
            <a:endParaRPr/>
          </a:p>
          <a:p>
            <a:r>
              <a:t>[Sources]</a:t>
            </a:r>
          </a:p>
          <a:p>
            <a:r>
              <a:t>- /Users/chris/Documents/munich-ehl-2026/results/chunk02_external/summary.json</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 the challenge as counterfactual evaluation, not classification accuracy. The model that happened to run is useful evidence, but never a correctness label.</a:t>
            </a:r>
          </a:p>
          <a:p>
            <a:endParaRPr/>
          </a:p>
          <a:p>
            <a:r>
              <a:t>[Sources]</a:t>
            </a:r>
          </a:p>
          <a:p>
            <a:r>
              <a:t>- /Users/chris/Documents/munich-ehl-2026/AGENTS.md</a:t>
            </a:r>
          </a:p>
          <a:p>
            <a:r>
              <a:t>- /Users/chris/Documents/munich-ehl-2026/scripts/load_trajectories.py</a:t>
            </a:r>
          </a:p>
          <a:p>
            <a:r>
              <a:t>- /Users/chris/Documents/munich-ehl-2026/scripts/cost_model.py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methodological pivot. Logged model IDs identify which treatment produced each observed trajectory. They are useful as factual actions and support evidence, while the recovered telemetry outcome supplies the quality target. The first router used a deterministic complexity-to-model mapping. The final router learns model-task quality and then applies explicit support, epsilon, and cost rules.</a:t>
            </a:r>
          </a:p>
          <a:p>
            <a:endParaRPr/>
          </a:p>
          <a:p>
            <a:r>
              <a:t>[Sources]</a:t>
            </a:r>
          </a:p>
          <a:p>
            <a:r>
              <a:t>- /Users/chris/Documents/munich-ehl-2026/scripts/train_two_stage_router.py</a:t>
            </a:r>
          </a:p>
          <a:p>
            <a:r>
              <a:t>- /Users/chris/Documents/munich-ehl-2026/scripts/two_stage_router.py</a:t>
            </a:r>
          </a:p>
          <a:p>
            <a:r>
              <a:t>- /Users/chris/Documents/munich-ehl-2026/results/statistical_audit.md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Answer the black-box question directly. The model contains learned coefficients, but the routing logic is explicit: only supported candidates, quality tolerance, then cost.</a:t>
            </a:r>
          </a:p>
          <a:p>
            <a:endParaRPr/>
          </a:p>
          <a:p>
            <a:r>
              <a:t>[Sources]</a:t>
            </a:r>
          </a:p>
          <a:p>
            <a:r>
              <a:t>- /Users/chris/Documents/munich-ehl-2026/scripts/train_two_stage_router.py</a:t>
            </a:r>
          </a:p>
          <a:p>
            <a:r>
              <a:t>- /Users/chris/Documents/munich-ehl-2026/scripts/two_stage_router.py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Stress the ceiling effect: 1,451 successes and 435 recoveries leave little power to prove a gain. The honest claim is about detecting quality loss while reducing cost.</a:t>
            </a:r>
          </a:p>
          <a:p>
            <a:endParaRPr/>
          </a:p>
          <a:p>
            <a:r>
              <a:t>[Sources]</a:t>
            </a:r>
          </a:p>
          <a:p>
            <a:r>
              <a:t>- /Users/chris/Documents/munich-ehl-2026/scripts/build_evaluation_table.py</a:t>
            </a:r>
          </a:p>
          <a:p>
            <a:r>
              <a:t>- /Users/chris/Documents/munich-ehl-2026/scripts/build_manual_review_sample.py</a:t>
            </a:r>
          </a:p>
          <a:p>
            <a:r>
              <a:t>- /Users/chris/Documents/munich-ehl-2026/results/calibrated_evaluation_table.csv</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why failures are separated from complexity. A difficult task can succeed; an easy task can fail because of an integration issue. Combining them would teach the wrong concept.</a:t>
            </a:r>
          </a:p>
          <a:p>
            <a:endParaRPr/>
          </a:p>
          <a:p>
            <a:r>
              <a:t>[Sources]</a:t>
            </a:r>
          </a:p>
          <a:p>
            <a:r>
              <a:t>- /Users/chris/Documents/munich-ehl-2026/scripts/train_two_stage_router.py</a:t>
            </a:r>
          </a:p>
          <a:p>
            <a:r>
              <a:t>- /Users/chris/Documents/munich-ehl-2026/results/two_stage_summary.json</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actual raw engineered opening vector before standardization. The sanitized prompt is expanded into 96 TF-IDF dimensions; 38 are non-zero for this example.</a:t>
            </a:r>
          </a:p>
          <a:p>
            <a:endParaRPr/>
          </a:p>
          <a:p>
            <a:r>
              <a:t>[Sources]</a:t>
            </a:r>
          </a:p>
          <a:p>
            <a:r>
              <a:t>- /Users/chris/Documents/munich-ehl-2026/results/chunk02_external/trajectory_features.csv</a:t>
            </a:r>
          </a:p>
          <a:p>
            <a:r>
              <a:t>- /Users/chris/Documents/munich-ehl-2026/models/two_stage_router_chunk01.json</a:t>
            </a:r>
          </a:p>
          <a:p>
            <a:r>
              <a:t>- /Users/chris/Documents/munich-ehl-2026/scripts/train_two_stage_router.py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second vector is repeated for each candidate. Candidate capability is task-weighted across tool use, coding, reasoning, instruction following, long context, and multimodal capability. The slope is constrained non-negative.</a:t>
            </a:r>
          </a:p>
          <a:p>
            <a:endParaRPr/>
          </a:p>
          <a:p>
            <a:r>
              <a:t>[Sources]</a:t>
            </a:r>
          </a:p>
          <a:p>
            <a:r>
              <a:t>- /Users/chris/Documents/munich-ehl-2026/scripts/train_two_stage_router.py</a:t>
            </a:r>
          </a:p>
          <a:p>
            <a:r>
              <a:t>- /Users/chris/Documents/munich-ehl-2026/models/benchmark_priors.json</a:t>
            </a:r>
          </a:p>
          <a:p>
            <a:r>
              <a:t>- https://gorilla.cs.berkeley.edu/leaderboard</a:t>
            </a:r>
          </a:p>
          <a:p>
            <a:r>
              <a:t>- https://www.swebench.com/</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rule. Luna is cheaper but falls below the quality floor. Terra is outside historical support. Sonnet is the cheapest supported candidate within epsilon of the best predicted quality.</a:t>
            </a:r>
          </a:p>
          <a:p>
            <a:endParaRPr/>
          </a:p>
          <a:p>
            <a:r>
              <a:t>[Sources]</a:t>
            </a:r>
          </a:p>
          <a:p>
            <a:r>
              <a:t>- /Users/chris/Documents/munich-ehl-2026/results/chunk02_external/test_details.csv</a:t>
            </a:r>
          </a:p>
          <a:p>
            <a:r>
              <a:t>- /Users/chris/Documents/munich-ehl-2026/models/two_stage_router_chunk01.json</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records the earlier prototype experiment rather than the later frozen evaluation. It shows the learned epsilon sweep, the incumbent route, and the single 15k heuristic point on the n=174 test split. The plotted values were transcribed from the supplied chart, so they should remain labelled as approximate prototype values.</a:t>
            </a:r>
          </a:p>
          <a:p>
            <a:endParaRPr/>
          </a:p>
          <a:p>
            <a:r>
              <a:t>[Sources]</a:t>
            </a:r>
          </a:p>
          <a:p>
            <a:r>
              <a:t>- /var/folders/ht/nm9j22w1615bmtq43fl7s5q00000gn/T/codex-clipboard-b11865f8-433f-49ef-ae8f-0e5f9191ca8e.png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external result is the headline generalization check. After that result was frozen, both chunks were used to produce the final deployment model and route all 2,000 corrected trajectories.</a:t>
            </a:r>
          </a:p>
          <a:p>
            <a:endParaRPr/>
          </a:p>
          <a:p>
            <a:r>
              <a:t>[Sources]</a:t>
            </a:r>
          </a:p>
          <a:p>
            <a:r>
              <a:t>- /Users/chris/Documents/munich-ehl-2026/results/chunk02_external/summary.json</a:t>
            </a:r>
          </a:p>
          <a:p>
            <a:r>
              <a:t>- /Users/chris/Documents/munich-ehl-2026/results/two_stage_summary.json</a:t>
            </a:r>
          </a:p>
          <a:p>
            <a:r>
              <a:t>- /Users/chris/Documents/munich-ehl-2026/results/two_stage_routes.jsonl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resolves the Luna question. The chart is the factual assignment distribution in chunk 01: Luna appears 17 times out of 991 usable trajectories. That sparse coverage makes a large Luna-driven savings scenario a sensitivity result, not proof that an all-Luna policy would preserve quality.</a:t>
            </a:r>
          </a:p>
          <a:p>
            <a:endParaRPr/>
          </a:p>
          <a:p>
            <a:r>
              <a:t>[Sources]</a:t>
            </a:r>
          </a:p>
          <a:p>
            <a:r>
              <a:t>- /Users/chris/Documents/munich-ehl-2026/notebooks/01_data_and_label_audit.ipynb</a:t>
            </a:r>
          </a:p>
          <a:p>
            <a:r>
              <a:t>- /Users/chris/Documents/munich-ehl-2026/notebooks/03_router_frontier_and_ope.ipynb</a:t>
            </a:r>
          </a:p>
          <a:p>
            <a:r>
              <a:t>- /Users/chris/Documents/munich-ehl-2026/export/trajectories_v1_01.jsonl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the user's weakness plainly. Conservative support protects quality now, but it can lock the system out of learning that an underused model is actually good. This is a classic coverage-feedback loop.</a:t>
            </a:r>
          </a:p>
          <a:p>
            <a:endParaRPr/>
          </a:p>
          <a:p>
            <a:r>
              <a:t>[Sources]</a:t>
            </a:r>
          </a:p>
          <a:p>
            <a:r>
              <a:t>- /Users/chris/Documents/munich-ehl-2026/scripts/train_two_stage_router.py</a:t>
            </a:r>
          </a:p>
          <a:p>
            <a:r>
              <a:t>- /Users/chris/Documents/munich-ehl-2026/results/evaluator_summary.md</a:t>
            </a:r>
          </a:p>
          <a:p>
            <a:r>
              <a:t>- /Users/chris/Documents/munich-ehl-2026/models/benchmark_priors.json</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one claim, one known weakness, and the full pipeline. Do not say the router proved a quality gain. The next experiment should target unsupported regions deliberately.</a:t>
            </a:r>
          </a:p>
          <a:p>
            <a:endParaRPr/>
          </a:p>
          <a:p>
            <a:r>
              <a:t>[Sources]</a:t>
            </a:r>
          </a:p>
          <a:p>
            <a:r>
              <a:t>- /Users/chris/Documents/munich-ehl-2026/results/chunk02_external/summary.json</a:t>
            </a:r>
          </a:p>
          <a:p>
            <a:r>
              <a:t>- /Users/chris/Documents/munich-ehl-2026/results/two_stage_summary.json</a:t>
            </a:r>
          </a:p>
          <a:p>
            <a:r>
              <a:t>- /Users/chris/Documents/munich-ehl-2026/README.md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37" name="Straight Connector 36">
            <a:extLst>
              <a:ext uri="{FF2B5EF4-FFF2-40B4-BE49-F238E27FC236}">
                <a16:creationId xmlns:a16="http://schemas.microsoft.com/office/drawing/2014/main" id="{037EEF98-6C74-4500-B58F-5E9CA973E78E}"/>
              </a:ext>
            </a:extLst>
          </p:cNvPr>
          <p:cNvSpPr>
            <a:spLocks noGrp="1"/>
          </p:cNvSpPr>
          <p:nvPr/>
        </p:nvSpPr>
        <p:spPr>
          <a:xfrm>
            <a:off x="0" y="0"/>
            <a:ext cx="0" cy="6858000"/>
          </a:xfrm>
          <a:prstGeom prst="line">
            <a:avLst/>
          </a:prstGeom>
          <a:noFill/>
          <a:ln w="9525">
            <a:solidFill>
              <a:srgbClr val="121212"/>
            </a:solidFill>
            <a:prstDash val="solid"/>
          </a:ln>
        </p:spPr>
        <p:txBody>
          <a:bodyPr/>
          <a:lstStyle/>
          <a:p>
            <a:endParaRPr lang="en-DE"/>
          </a:p>
        </p:txBody>
      </p:sp>
      <p:sp>
        <p:nvSpPr>
          <p:cNvPr id="2" name="Straight Connector 1">
            <a:extLst>
              <a:ext uri="{FF2B5EF4-FFF2-40B4-BE49-F238E27FC236}">
                <a16:creationId xmlns:a16="http://schemas.microsoft.com/office/drawing/2014/main" id="{894D39B3-A562-45AE-A918-6D7832760A31}"/>
              </a:ext>
            </a:extLst>
          </p:cNvPr>
          <p:cNvSpPr>
            <a:spLocks noGrp="1"/>
          </p:cNvSpPr>
          <p:nvPr/>
        </p:nvSpPr>
        <p:spPr>
          <a:xfrm>
            <a:off x="762000" y="0"/>
            <a:ext cx="0" cy="6858000"/>
          </a:xfrm>
          <a:prstGeom prst="line">
            <a:avLst/>
          </a:prstGeom>
          <a:noFill/>
          <a:ln w="9525">
            <a:solidFill>
              <a:srgbClr val="121212"/>
            </a:solidFill>
            <a:prstDash val="solid"/>
          </a:ln>
        </p:spPr>
        <p:txBody>
          <a:bodyPr/>
          <a:lstStyle/>
          <a:p>
            <a:endParaRPr lang="en-DE"/>
          </a:p>
        </p:txBody>
      </p:sp>
      <p:sp>
        <p:nvSpPr>
          <p:cNvPr id="3" name="Straight Connector 2">
            <a:extLst>
              <a:ext uri="{FF2B5EF4-FFF2-40B4-BE49-F238E27FC236}">
                <a16:creationId xmlns:a16="http://schemas.microsoft.com/office/drawing/2014/main" id="{6181484B-61E9-4E37-A345-E2613CBAE6EE}"/>
              </a:ext>
            </a:extLst>
          </p:cNvPr>
          <p:cNvSpPr>
            <a:spLocks noGrp="1"/>
          </p:cNvSpPr>
          <p:nvPr/>
        </p:nvSpPr>
        <p:spPr>
          <a:xfrm>
            <a:off x="1524000" y="0"/>
            <a:ext cx="0" cy="6858000"/>
          </a:xfrm>
          <a:prstGeom prst="line">
            <a:avLst/>
          </a:prstGeom>
          <a:noFill/>
          <a:ln w="9525">
            <a:solidFill>
              <a:srgbClr val="121212"/>
            </a:solidFill>
            <a:prstDash val="solid"/>
          </a:ln>
        </p:spPr>
        <p:txBody>
          <a:bodyPr/>
          <a:lstStyle/>
          <a:p>
            <a:endParaRPr lang="en-DE"/>
          </a:p>
        </p:txBody>
      </p:sp>
      <p:sp>
        <p:nvSpPr>
          <p:cNvPr id="4" name="Straight Connector 3">
            <a:extLst>
              <a:ext uri="{FF2B5EF4-FFF2-40B4-BE49-F238E27FC236}">
                <a16:creationId xmlns:a16="http://schemas.microsoft.com/office/drawing/2014/main" id="{A9F07F41-85E5-4702-B1AC-F89B6A729C57}"/>
              </a:ext>
            </a:extLst>
          </p:cNvPr>
          <p:cNvSpPr>
            <a:spLocks noGrp="1"/>
          </p:cNvSpPr>
          <p:nvPr/>
        </p:nvSpPr>
        <p:spPr>
          <a:xfrm>
            <a:off x="2286000" y="0"/>
            <a:ext cx="0" cy="6858000"/>
          </a:xfrm>
          <a:prstGeom prst="line">
            <a:avLst/>
          </a:prstGeom>
          <a:noFill/>
          <a:ln w="9525">
            <a:solidFill>
              <a:srgbClr val="121212"/>
            </a:solidFill>
            <a:prstDash val="solid"/>
          </a:ln>
        </p:spPr>
        <p:txBody>
          <a:bodyPr/>
          <a:lstStyle/>
          <a:p>
            <a:endParaRPr lang="en-DE"/>
          </a:p>
        </p:txBody>
      </p:sp>
      <p:sp>
        <p:nvSpPr>
          <p:cNvPr id="5" name="Straight Connector 4">
            <a:extLst>
              <a:ext uri="{FF2B5EF4-FFF2-40B4-BE49-F238E27FC236}">
                <a16:creationId xmlns:a16="http://schemas.microsoft.com/office/drawing/2014/main" id="{448B2843-5E9B-4F31-BC9B-E67E6D180D36}"/>
              </a:ext>
            </a:extLst>
          </p:cNvPr>
          <p:cNvSpPr>
            <a:spLocks noGrp="1"/>
          </p:cNvSpPr>
          <p:nvPr/>
        </p:nvSpPr>
        <p:spPr>
          <a:xfrm>
            <a:off x="3048000" y="0"/>
            <a:ext cx="0" cy="6858000"/>
          </a:xfrm>
          <a:prstGeom prst="line">
            <a:avLst/>
          </a:prstGeom>
          <a:noFill/>
          <a:ln w="9525">
            <a:solidFill>
              <a:srgbClr val="121212"/>
            </a:solidFill>
            <a:prstDash val="solid"/>
          </a:ln>
        </p:spPr>
        <p:txBody>
          <a:bodyPr/>
          <a:lstStyle/>
          <a:p>
            <a:endParaRPr lang="en-DE"/>
          </a:p>
        </p:txBody>
      </p:sp>
      <p:sp>
        <p:nvSpPr>
          <p:cNvPr id="6" name="Straight Connector 5">
            <a:extLst>
              <a:ext uri="{FF2B5EF4-FFF2-40B4-BE49-F238E27FC236}">
                <a16:creationId xmlns:a16="http://schemas.microsoft.com/office/drawing/2014/main" id="{991B1A3D-D09C-45AA-9483-25E78E036613}"/>
              </a:ext>
            </a:extLst>
          </p:cNvPr>
          <p:cNvSpPr>
            <a:spLocks noGrp="1"/>
          </p:cNvSpPr>
          <p:nvPr/>
        </p:nvSpPr>
        <p:spPr>
          <a:xfrm>
            <a:off x="3810000" y="0"/>
            <a:ext cx="0" cy="6858000"/>
          </a:xfrm>
          <a:prstGeom prst="line">
            <a:avLst/>
          </a:prstGeom>
          <a:noFill/>
          <a:ln w="9525">
            <a:solidFill>
              <a:srgbClr val="121212"/>
            </a:solidFill>
            <a:prstDash val="solid"/>
          </a:ln>
        </p:spPr>
        <p:txBody>
          <a:bodyPr/>
          <a:lstStyle/>
          <a:p>
            <a:endParaRPr lang="en-DE"/>
          </a:p>
        </p:txBody>
      </p:sp>
      <p:sp>
        <p:nvSpPr>
          <p:cNvPr id="7" name="Straight Connector 6">
            <a:extLst>
              <a:ext uri="{FF2B5EF4-FFF2-40B4-BE49-F238E27FC236}">
                <a16:creationId xmlns:a16="http://schemas.microsoft.com/office/drawing/2014/main" id="{AC3F0AC7-F4BE-4A1E-949B-95C8256117E8}"/>
              </a:ext>
            </a:extLst>
          </p:cNvPr>
          <p:cNvSpPr>
            <a:spLocks noGrp="1"/>
          </p:cNvSpPr>
          <p:nvPr/>
        </p:nvSpPr>
        <p:spPr>
          <a:xfrm>
            <a:off x="4572000" y="0"/>
            <a:ext cx="0" cy="6858000"/>
          </a:xfrm>
          <a:prstGeom prst="line">
            <a:avLst/>
          </a:prstGeom>
          <a:noFill/>
          <a:ln w="9525">
            <a:solidFill>
              <a:srgbClr val="121212"/>
            </a:solidFill>
            <a:prstDash val="solid"/>
          </a:ln>
        </p:spPr>
        <p:txBody>
          <a:bodyPr/>
          <a:lstStyle/>
          <a:p>
            <a:endParaRPr lang="en-DE"/>
          </a:p>
        </p:txBody>
      </p:sp>
      <p:sp>
        <p:nvSpPr>
          <p:cNvPr id="8" name="Straight Connector 7">
            <a:extLst>
              <a:ext uri="{FF2B5EF4-FFF2-40B4-BE49-F238E27FC236}">
                <a16:creationId xmlns:a16="http://schemas.microsoft.com/office/drawing/2014/main" id="{0A674A3A-1F69-4FEC-BC5C-A9E9F4092749}"/>
              </a:ext>
            </a:extLst>
          </p:cNvPr>
          <p:cNvSpPr>
            <a:spLocks noGrp="1"/>
          </p:cNvSpPr>
          <p:nvPr/>
        </p:nvSpPr>
        <p:spPr>
          <a:xfrm>
            <a:off x="5334000" y="0"/>
            <a:ext cx="0" cy="6858000"/>
          </a:xfrm>
          <a:prstGeom prst="line">
            <a:avLst/>
          </a:prstGeom>
          <a:noFill/>
          <a:ln w="9525">
            <a:solidFill>
              <a:srgbClr val="121212"/>
            </a:solidFill>
            <a:prstDash val="solid"/>
          </a:ln>
        </p:spPr>
        <p:txBody>
          <a:bodyPr/>
          <a:lstStyle/>
          <a:p>
            <a:endParaRPr lang="en-DE"/>
          </a:p>
        </p:txBody>
      </p:sp>
      <p:sp>
        <p:nvSpPr>
          <p:cNvPr id="9" name="Straight Connector 8">
            <a:extLst>
              <a:ext uri="{FF2B5EF4-FFF2-40B4-BE49-F238E27FC236}">
                <a16:creationId xmlns:a16="http://schemas.microsoft.com/office/drawing/2014/main" id="{54364A3B-C274-4179-AF1D-E23EA0CE9263}"/>
              </a:ext>
            </a:extLst>
          </p:cNvPr>
          <p:cNvSpPr>
            <a:spLocks noGrp="1"/>
          </p:cNvSpPr>
          <p:nvPr/>
        </p:nvSpPr>
        <p:spPr>
          <a:xfrm>
            <a:off x="6096000" y="0"/>
            <a:ext cx="0" cy="6858000"/>
          </a:xfrm>
          <a:prstGeom prst="line">
            <a:avLst/>
          </a:prstGeom>
          <a:noFill/>
          <a:ln w="9525">
            <a:solidFill>
              <a:srgbClr val="121212"/>
            </a:solidFill>
            <a:prstDash val="solid"/>
          </a:ln>
        </p:spPr>
        <p:txBody>
          <a:bodyPr/>
          <a:lstStyle/>
          <a:p>
            <a:endParaRPr lang="en-DE"/>
          </a:p>
        </p:txBody>
      </p:sp>
      <p:sp>
        <p:nvSpPr>
          <p:cNvPr id="10" name="Straight Connector 9">
            <a:extLst>
              <a:ext uri="{FF2B5EF4-FFF2-40B4-BE49-F238E27FC236}">
                <a16:creationId xmlns:a16="http://schemas.microsoft.com/office/drawing/2014/main" id="{50483CAF-012A-4AA6-9836-DFAD045DE5AC}"/>
              </a:ext>
            </a:extLst>
          </p:cNvPr>
          <p:cNvSpPr>
            <a:spLocks noGrp="1"/>
          </p:cNvSpPr>
          <p:nvPr/>
        </p:nvSpPr>
        <p:spPr>
          <a:xfrm>
            <a:off x="6858000" y="0"/>
            <a:ext cx="0" cy="6858000"/>
          </a:xfrm>
          <a:prstGeom prst="line">
            <a:avLst/>
          </a:prstGeom>
          <a:noFill/>
          <a:ln w="9525">
            <a:solidFill>
              <a:srgbClr val="121212"/>
            </a:solidFill>
            <a:prstDash val="solid"/>
          </a:ln>
        </p:spPr>
        <p:txBody>
          <a:bodyPr/>
          <a:lstStyle/>
          <a:p>
            <a:endParaRPr lang="en-DE"/>
          </a:p>
        </p:txBody>
      </p:sp>
      <p:sp>
        <p:nvSpPr>
          <p:cNvPr id="11" name="Straight Connector 10">
            <a:extLst>
              <a:ext uri="{FF2B5EF4-FFF2-40B4-BE49-F238E27FC236}">
                <a16:creationId xmlns:a16="http://schemas.microsoft.com/office/drawing/2014/main" id="{64DEE107-2C91-4A3F-92A0-6B18D33CF972}"/>
              </a:ext>
            </a:extLst>
          </p:cNvPr>
          <p:cNvSpPr>
            <a:spLocks noGrp="1"/>
          </p:cNvSpPr>
          <p:nvPr/>
        </p:nvSpPr>
        <p:spPr>
          <a:xfrm>
            <a:off x="7620000" y="0"/>
            <a:ext cx="0" cy="6858000"/>
          </a:xfrm>
          <a:prstGeom prst="line">
            <a:avLst/>
          </a:prstGeom>
          <a:noFill/>
          <a:ln w="9525">
            <a:solidFill>
              <a:srgbClr val="121212"/>
            </a:solidFill>
            <a:prstDash val="solid"/>
          </a:ln>
        </p:spPr>
        <p:txBody>
          <a:bodyPr/>
          <a:lstStyle/>
          <a:p>
            <a:endParaRPr lang="en-DE"/>
          </a:p>
        </p:txBody>
      </p:sp>
      <p:sp>
        <p:nvSpPr>
          <p:cNvPr id="12" name="Straight Connector 11">
            <a:extLst>
              <a:ext uri="{FF2B5EF4-FFF2-40B4-BE49-F238E27FC236}">
                <a16:creationId xmlns:a16="http://schemas.microsoft.com/office/drawing/2014/main" id="{278CAEE4-9FDD-4FE8-9F96-7F90D91EBA65}"/>
              </a:ext>
            </a:extLst>
          </p:cNvPr>
          <p:cNvSpPr>
            <a:spLocks noGrp="1"/>
          </p:cNvSpPr>
          <p:nvPr/>
        </p:nvSpPr>
        <p:spPr>
          <a:xfrm>
            <a:off x="8382000" y="0"/>
            <a:ext cx="0" cy="6858000"/>
          </a:xfrm>
          <a:prstGeom prst="line">
            <a:avLst/>
          </a:prstGeom>
          <a:noFill/>
          <a:ln w="9525">
            <a:solidFill>
              <a:srgbClr val="121212"/>
            </a:solidFill>
            <a:prstDash val="solid"/>
          </a:ln>
        </p:spPr>
        <p:txBody>
          <a:bodyPr/>
          <a:lstStyle/>
          <a:p>
            <a:endParaRPr lang="en-DE"/>
          </a:p>
        </p:txBody>
      </p:sp>
      <p:sp>
        <p:nvSpPr>
          <p:cNvPr id="13" name="Straight Connector 12">
            <a:extLst>
              <a:ext uri="{FF2B5EF4-FFF2-40B4-BE49-F238E27FC236}">
                <a16:creationId xmlns:a16="http://schemas.microsoft.com/office/drawing/2014/main" id="{E85CCA28-9766-4E09-AC98-6133D101CC40}"/>
              </a:ext>
            </a:extLst>
          </p:cNvPr>
          <p:cNvSpPr>
            <a:spLocks noGrp="1"/>
          </p:cNvSpPr>
          <p:nvPr/>
        </p:nvSpPr>
        <p:spPr>
          <a:xfrm>
            <a:off x="9144000" y="0"/>
            <a:ext cx="0" cy="6858000"/>
          </a:xfrm>
          <a:prstGeom prst="line">
            <a:avLst/>
          </a:prstGeom>
          <a:noFill/>
          <a:ln w="9525">
            <a:solidFill>
              <a:srgbClr val="121212"/>
            </a:solidFill>
            <a:prstDash val="solid"/>
          </a:ln>
        </p:spPr>
        <p:txBody>
          <a:bodyPr/>
          <a:lstStyle/>
          <a:p>
            <a:endParaRPr lang="en-DE"/>
          </a:p>
        </p:txBody>
      </p:sp>
      <p:sp>
        <p:nvSpPr>
          <p:cNvPr id="14" name="Straight Connector 13">
            <a:extLst>
              <a:ext uri="{FF2B5EF4-FFF2-40B4-BE49-F238E27FC236}">
                <a16:creationId xmlns:a16="http://schemas.microsoft.com/office/drawing/2014/main" id="{2A0F8641-E821-438A-BEDC-38BCC20B2216}"/>
              </a:ext>
            </a:extLst>
          </p:cNvPr>
          <p:cNvSpPr>
            <a:spLocks noGrp="1"/>
          </p:cNvSpPr>
          <p:nvPr/>
        </p:nvSpPr>
        <p:spPr>
          <a:xfrm>
            <a:off x="9906000" y="0"/>
            <a:ext cx="0" cy="6858000"/>
          </a:xfrm>
          <a:prstGeom prst="line">
            <a:avLst/>
          </a:prstGeom>
          <a:noFill/>
          <a:ln w="9525">
            <a:solidFill>
              <a:srgbClr val="121212"/>
            </a:solidFill>
            <a:prstDash val="solid"/>
          </a:ln>
        </p:spPr>
        <p:txBody>
          <a:bodyPr/>
          <a:lstStyle/>
          <a:p>
            <a:endParaRPr lang="en-DE"/>
          </a:p>
        </p:txBody>
      </p:sp>
      <p:sp>
        <p:nvSpPr>
          <p:cNvPr id="15" name="Straight Connector 14">
            <a:extLst>
              <a:ext uri="{FF2B5EF4-FFF2-40B4-BE49-F238E27FC236}">
                <a16:creationId xmlns:a16="http://schemas.microsoft.com/office/drawing/2014/main" id="{279521B1-EE5D-47A3-830A-84C4E08061C3}"/>
              </a:ext>
            </a:extLst>
          </p:cNvPr>
          <p:cNvSpPr>
            <a:spLocks noGrp="1"/>
          </p:cNvSpPr>
          <p:nvPr/>
        </p:nvSpPr>
        <p:spPr>
          <a:xfrm>
            <a:off x="10668000" y="0"/>
            <a:ext cx="0" cy="6858000"/>
          </a:xfrm>
          <a:prstGeom prst="line">
            <a:avLst/>
          </a:prstGeom>
          <a:noFill/>
          <a:ln w="9525">
            <a:solidFill>
              <a:srgbClr val="121212"/>
            </a:solidFill>
            <a:prstDash val="solid"/>
          </a:ln>
        </p:spPr>
        <p:txBody>
          <a:bodyPr/>
          <a:lstStyle/>
          <a:p>
            <a:endParaRPr lang="en-DE"/>
          </a:p>
        </p:txBody>
      </p:sp>
      <p:sp>
        <p:nvSpPr>
          <p:cNvPr id="16" name="Straight Connector 15">
            <a:extLst>
              <a:ext uri="{FF2B5EF4-FFF2-40B4-BE49-F238E27FC236}">
                <a16:creationId xmlns:a16="http://schemas.microsoft.com/office/drawing/2014/main" id="{7BB5D496-8D6C-408D-ACF3-45399EE90773}"/>
              </a:ext>
            </a:extLst>
          </p:cNvPr>
          <p:cNvSpPr>
            <a:spLocks noGrp="1"/>
          </p:cNvSpPr>
          <p:nvPr/>
        </p:nvSpPr>
        <p:spPr>
          <a:xfrm>
            <a:off x="11430000" y="0"/>
            <a:ext cx="0" cy="6858000"/>
          </a:xfrm>
          <a:prstGeom prst="line">
            <a:avLst/>
          </a:prstGeom>
          <a:noFill/>
          <a:ln w="9525">
            <a:solidFill>
              <a:srgbClr val="121212"/>
            </a:solidFill>
            <a:prstDash val="solid"/>
          </a:ln>
        </p:spPr>
        <p:txBody>
          <a:bodyPr/>
          <a:lstStyle/>
          <a:p>
            <a:endParaRPr lang="en-DE"/>
          </a:p>
        </p:txBody>
      </p:sp>
      <p:sp>
        <p:nvSpPr>
          <p:cNvPr id="17" name="Straight Connector 16">
            <a:extLst>
              <a:ext uri="{FF2B5EF4-FFF2-40B4-BE49-F238E27FC236}">
                <a16:creationId xmlns:a16="http://schemas.microsoft.com/office/drawing/2014/main" id="{69EB1C06-E303-4AFC-87BD-1C3E69A01281}"/>
              </a:ext>
            </a:extLst>
          </p:cNvPr>
          <p:cNvSpPr>
            <a:spLocks noGrp="1"/>
          </p:cNvSpPr>
          <p:nvPr/>
        </p:nvSpPr>
        <p:spPr>
          <a:xfrm>
            <a:off x="12192000" y="0"/>
            <a:ext cx="0" cy="6858000"/>
          </a:xfrm>
          <a:prstGeom prst="line">
            <a:avLst/>
          </a:prstGeom>
          <a:noFill/>
          <a:ln w="9525">
            <a:solidFill>
              <a:srgbClr val="121212"/>
            </a:solidFill>
            <a:prstDash val="solid"/>
          </a:ln>
        </p:spPr>
        <p:txBody>
          <a:bodyPr/>
          <a:lstStyle/>
          <a:p>
            <a:endParaRPr lang="en-DE"/>
          </a:p>
        </p:txBody>
      </p:sp>
      <p:sp>
        <p:nvSpPr>
          <p:cNvPr id="18" name="Straight Connector 17">
            <a:extLst>
              <a:ext uri="{FF2B5EF4-FFF2-40B4-BE49-F238E27FC236}">
                <a16:creationId xmlns:a16="http://schemas.microsoft.com/office/drawing/2014/main" id="{B582C5D2-2B6D-4616-87D4-1D6F4F6F9C83}"/>
              </a:ext>
            </a:extLst>
          </p:cNvPr>
          <p:cNvSpPr>
            <a:spLocks noGrp="1"/>
          </p:cNvSpPr>
          <p:nvPr/>
        </p:nvSpPr>
        <p:spPr>
          <a:xfrm>
            <a:off x="0" y="0"/>
            <a:ext cx="12192000" cy="0"/>
          </a:xfrm>
          <a:prstGeom prst="line">
            <a:avLst/>
          </a:prstGeom>
          <a:noFill/>
          <a:ln w="9525">
            <a:solidFill>
              <a:srgbClr val="121212"/>
            </a:solidFill>
            <a:prstDash val="solid"/>
          </a:ln>
        </p:spPr>
        <p:txBody>
          <a:bodyPr/>
          <a:lstStyle/>
          <a:p>
            <a:endParaRPr lang="en-DE"/>
          </a:p>
        </p:txBody>
      </p:sp>
      <p:sp>
        <p:nvSpPr>
          <p:cNvPr id="19" name="Straight Connector 18">
            <a:extLst>
              <a:ext uri="{FF2B5EF4-FFF2-40B4-BE49-F238E27FC236}">
                <a16:creationId xmlns:a16="http://schemas.microsoft.com/office/drawing/2014/main" id="{619E7645-C973-44B6-9C52-B4C125EE915D}"/>
              </a:ext>
            </a:extLst>
          </p:cNvPr>
          <p:cNvSpPr>
            <a:spLocks noGrp="1"/>
          </p:cNvSpPr>
          <p:nvPr/>
        </p:nvSpPr>
        <p:spPr>
          <a:xfrm>
            <a:off x="0" y="762000"/>
            <a:ext cx="12192000" cy="0"/>
          </a:xfrm>
          <a:prstGeom prst="line">
            <a:avLst/>
          </a:prstGeom>
          <a:noFill/>
          <a:ln w="9525">
            <a:solidFill>
              <a:srgbClr val="121212"/>
            </a:solidFill>
            <a:prstDash val="solid"/>
          </a:ln>
        </p:spPr>
        <p:txBody>
          <a:bodyPr/>
          <a:lstStyle/>
          <a:p>
            <a:endParaRPr lang="en-DE"/>
          </a:p>
        </p:txBody>
      </p:sp>
      <p:sp>
        <p:nvSpPr>
          <p:cNvPr id="20" name="Straight Connector 19">
            <a:extLst>
              <a:ext uri="{FF2B5EF4-FFF2-40B4-BE49-F238E27FC236}">
                <a16:creationId xmlns:a16="http://schemas.microsoft.com/office/drawing/2014/main" id="{0D94A1F1-F8A8-409A-A59F-39AF0B6680FA}"/>
              </a:ext>
            </a:extLst>
          </p:cNvPr>
          <p:cNvSpPr>
            <a:spLocks noGrp="1"/>
          </p:cNvSpPr>
          <p:nvPr/>
        </p:nvSpPr>
        <p:spPr>
          <a:xfrm>
            <a:off x="0" y="1524000"/>
            <a:ext cx="12192000" cy="0"/>
          </a:xfrm>
          <a:prstGeom prst="line">
            <a:avLst/>
          </a:prstGeom>
          <a:noFill/>
          <a:ln w="9525">
            <a:solidFill>
              <a:srgbClr val="121212"/>
            </a:solidFill>
            <a:prstDash val="solid"/>
          </a:ln>
        </p:spPr>
        <p:txBody>
          <a:bodyPr/>
          <a:lstStyle/>
          <a:p>
            <a:endParaRPr lang="en-DE"/>
          </a:p>
        </p:txBody>
      </p:sp>
      <p:sp>
        <p:nvSpPr>
          <p:cNvPr id="21" name="Straight Connector 20">
            <a:extLst>
              <a:ext uri="{FF2B5EF4-FFF2-40B4-BE49-F238E27FC236}">
                <a16:creationId xmlns:a16="http://schemas.microsoft.com/office/drawing/2014/main" id="{94D34F09-DB10-4F29-9B48-F18F5606DBB3}"/>
              </a:ext>
            </a:extLst>
          </p:cNvPr>
          <p:cNvSpPr>
            <a:spLocks noGrp="1"/>
          </p:cNvSpPr>
          <p:nvPr/>
        </p:nvSpPr>
        <p:spPr>
          <a:xfrm>
            <a:off x="0" y="2286000"/>
            <a:ext cx="12192000" cy="0"/>
          </a:xfrm>
          <a:prstGeom prst="line">
            <a:avLst/>
          </a:prstGeom>
          <a:noFill/>
          <a:ln w="9525">
            <a:solidFill>
              <a:srgbClr val="121212"/>
            </a:solidFill>
            <a:prstDash val="solid"/>
          </a:ln>
        </p:spPr>
        <p:txBody>
          <a:bodyPr/>
          <a:lstStyle/>
          <a:p>
            <a:endParaRPr lang="en-DE"/>
          </a:p>
        </p:txBody>
      </p:sp>
      <p:sp>
        <p:nvSpPr>
          <p:cNvPr id="22" name="Straight Connector 21">
            <a:extLst>
              <a:ext uri="{FF2B5EF4-FFF2-40B4-BE49-F238E27FC236}">
                <a16:creationId xmlns:a16="http://schemas.microsoft.com/office/drawing/2014/main" id="{49EC7227-568C-4045-9711-D4B320BEC8D6}"/>
              </a:ext>
            </a:extLst>
          </p:cNvPr>
          <p:cNvSpPr>
            <a:spLocks noGrp="1"/>
          </p:cNvSpPr>
          <p:nvPr/>
        </p:nvSpPr>
        <p:spPr>
          <a:xfrm>
            <a:off x="0" y="3048000"/>
            <a:ext cx="12192000" cy="0"/>
          </a:xfrm>
          <a:prstGeom prst="line">
            <a:avLst/>
          </a:prstGeom>
          <a:noFill/>
          <a:ln w="9525">
            <a:solidFill>
              <a:srgbClr val="121212"/>
            </a:solidFill>
            <a:prstDash val="solid"/>
          </a:ln>
        </p:spPr>
        <p:txBody>
          <a:bodyPr/>
          <a:lstStyle/>
          <a:p>
            <a:endParaRPr lang="en-DE"/>
          </a:p>
        </p:txBody>
      </p:sp>
      <p:sp>
        <p:nvSpPr>
          <p:cNvPr id="23" name="Straight Connector 22">
            <a:extLst>
              <a:ext uri="{FF2B5EF4-FFF2-40B4-BE49-F238E27FC236}">
                <a16:creationId xmlns:a16="http://schemas.microsoft.com/office/drawing/2014/main" id="{8D9B0BA8-4E07-4FD4-BE3D-AD8D159516AB}"/>
              </a:ext>
            </a:extLst>
          </p:cNvPr>
          <p:cNvSpPr>
            <a:spLocks noGrp="1"/>
          </p:cNvSpPr>
          <p:nvPr/>
        </p:nvSpPr>
        <p:spPr>
          <a:xfrm>
            <a:off x="0" y="3810000"/>
            <a:ext cx="12192000" cy="0"/>
          </a:xfrm>
          <a:prstGeom prst="line">
            <a:avLst/>
          </a:prstGeom>
          <a:noFill/>
          <a:ln w="9525">
            <a:solidFill>
              <a:srgbClr val="121212"/>
            </a:solidFill>
            <a:prstDash val="solid"/>
          </a:ln>
        </p:spPr>
        <p:txBody>
          <a:bodyPr/>
          <a:lstStyle/>
          <a:p>
            <a:endParaRPr lang="en-DE"/>
          </a:p>
        </p:txBody>
      </p:sp>
      <p:sp>
        <p:nvSpPr>
          <p:cNvPr id="24" name="Straight Connector 23">
            <a:extLst>
              <a:ext uri="{FF2B5EF4-FFF2-40B4-BE49-F238E27FC236}">
                <a16:creationId xmlns:a16="http://schemas.microsoft.com/office/drawing/2014/main" id="{1444F448-7EFB-44D7-977B-7D0772BC262A}"/>
              </a:ext>
            </a:extLst>
          </p:cNvPr>
          <p:cNvSpPr>
            <a:spLocks noGrp="1"/>
          </p:cNvSpPr>
          <p:nvPr/>
        </p:nvSpPr>
        <p:spPr>
          <a:xfrm>
            <a:off x="0" y="4572000"/>
            <a:ext cx="12192000" cy="0"/>
          </a:xfrm>
          <a:prstGeom prst="line">
            <a:avLst/>
          </a:prstGeom>
          <a:noFill/>
          <a:ln w="9525">
            <a:solidFill>
              <a:srgbClr val="121212"/>
            </a:solidFill>
            <a:prstDash val="solid"/>
          </a:ln>
        </p:spPr>
        <p:txBody>
          <a:bodyPr/>
          <a:lstStyle/>
          <a:p>
            <a:endParaRPr lang="en-DE"/>
          </a:p>
        </p:txBody>
      </p:sp>
      <p:sp>
        <p:nvSpPr>
          <p:cNvPr id="25" name="Straight Connector 24">
            <a:extLst>
              <a:ext uri="{FF2B5EF4-FFF2-40B4-BE49-F238E27FC236}">
                <a16:creationId xmlns:a16="http://schemas.microsoft.com/office/drawing/2014/main" id="{EBECA235-8ECD-4C0E-93A9-C894EE4284DB}"/>
              </a:ext>
            </a:extLst>
          </p:cNvPr>
          <p:cNvSpPr>
            <a:spLocks noGrp="1"/>
          </p:cNvSpPr>
          <p:nvPr/>
        </p:nvSpPr>
        <p:spPr>
          <a:xfrm>
            <a:off x="0" y="5334000"/>
            <a:ext cx="12192000" cy="0"/>
          </a:xfrm>
          <a:prstGeom prst="line">
            <a:avLst/>
          </a:prstGeom>
          <a:noFill/>
          <a:ln w="9525">
            <a:solidFill>
              <a:srgbClr val="121212"/>
            </a:solidFill>
            <a:prstDash val="solid"/>
          </a:ln>
        </p:spPr>
        <p:txBody>
          <a:bodyPr/>
          <a:lstStyle/>
          <a:p>
            <a:endParaRPr lang="en-DE"/>
          </a:p>
        </p:txBody>
      </p:sp>
      <p:sp>
        <p:nvSpPr>
          <p:cNvPr id="26" name="Straight Connector 25">
            <a:extLst>
              <a:ext uri="{FF2B5EF4-FFF2-40B4-BE49-F238E27FC236}">
                <a16:creationId xmlns:a16="http://schemas.microsoft.com/office/drawing/2014/main" id="{4FA6AE0B-C7ED-407C-A432-BB2632751531}"/>
              </a:ext>
            </a:extLst>
          </p:cNvPr>
          <p:cNvSpPr>
            <a:spLocks noGrp="1"/>
          </p:cNvSpPr>
          <p:nvPr/>
        </p:nvSpPr>
        <p:spPr>
          <a:xfrm>
            <a:off x="0" y="6096000"/>
            <a:ext cx="12192000" cy="0"/>
          </a:xfrm>
          <a:prstGeom prst="line">
            <a:avLst/>
          </a:prstGeom>
          <a:noFill/>
          <a:ln w="9525">
            <a:solidFill>
              <a:srgbClr val="121212"/>
            </a:solidFill>
            <a:prstDash val="solid"/>
          </a:ln>
        </p:spPr>
        <p:txBody>
          <a:bodyPr/>
          <a:lstStyle/>
          <a:p>
            <a:endParaRPr lang="en-DE"/>
          </a:p>
        </p:txBody>
      </p:sp>
      <p:sp>
        <p:nvSpPr>
          <p:cNvPr id="27" name="Straight Connector 26">
            <a:extLst>
              <a:ext uri="{FF2B5EF4-FFF2-40B4-BE49-F238E27FC236}">
                <a16:creationId xmlns:a16="http://schemas.microsoft.com/office/drawing/2014/main" id="{613C4BA7-5FB1-413A-B367-4D58E06A1A20}"/>
              </a:ext>
            </a:extLst>
          </p:cNvPr>
          <p:cNvSpPr>
            <a:spLocks noGrp="1"/>
          </p:cNvSpPr>
          <p:nvPr/>
        </p:nvSpPr>
        <p:spPr>
          <a:xfrm>
            <a:off x="0" y="6858000"/>
            <a:ext cx="12192000" cy="0"/>
          </a:xfrm>
          <a:prstGeom prst="line">
            <a:avLst/>
          </a:prstGeom>
          <a:noFill/>
          <a:ln w="9525">
            <a:solidFill>
              <a:srgbClr val="121212"/>
            </a:solidFill>
            <a:prstDash val="solid"/>
          </a:ln>
        </p:spPr>
        <p:txBody>
          <a:bodyPr/>
          <a:lstStyle/>
          <a:p>
            <a:endParaRPr lang="en-DE"/>
          </a:p>
        </p:txBody>
      </p:sp>
      <p:sp>
        <p:nvSpPr>
          <p:cNvPr id="28" name="Rectangle 27">
            <a:extLst>
              <a:ext uri="{FF2B5EF4-FFF2-40B4-BE49-F238E27FC236}">
                <a16:creationId xmlns:a16="http://schemas.microsoft.com/office/drawing/2014/main" id="{AF83A13E-A0BB-4C9B-9F43-FC7EF8CEA023}"/>
              </a:ext>
            </a:extLst>
          </p:cNvPr>
          <p:cNvSpPr>
            <a:spLocks noGrp="1"/>
          </p:cNvSpPr>
          <p:nvPr/>
        </p:nvSpPr>
        <p:spPr>
          <a:xfrm>
            <a:off x="552450" y="419100"/>
            <a:ext cx="4762500" cy="247650"/>
          </a:xfrm>
          <a:prstGeom prst="rect">
            <a:avLst/>
          </a:prstGeom>
          <a:noFill/>
          <a:ln w="0">
            <a:noFill/>
            <a:prstDash val="solid"/>
          </a:ln>
        </p:spPr>
        <p:txBody>
          <a:bodyPr/>
          <a:lstStyle/>
          <a:p>
            <a:pPr algn="l">
              <a:defRPr sz="975" b="1">
                <a:solidFill>
                  <a:srgbClr val="9B9B96"/>
                </a:solidFill>
              </a:defRPr>
            </a:pPr>
            <a:r>
              <a:rPr sz="975" b="1">
                <a:solidFill>
                  <a:srgbClr val="9B9B96"/>
                </a:solidFill>
              </a:rPr>
              <a:t>VIKTOR / MODEL ROUTING</a:t>
            </a:r>
          </a:p>
        </p:txBody>
      </p:sp>
      <p:sp>
        <p:nvSpPr>
          <p:cNvPr id="29" name="Rectangle 28">
            <a:extLst>
              <a:ext uri="{FF2B5EF4-FFF2-40B4-BE49-F238E27FC236}">
                <a16:creationId xmlns:a16="http://schemas.microsoft.com/office/drawing/2014/main" id="{D9C04E91-C513-4859-80CC-318BDC4BA3BA}"/>
              </a:ext>
            </a:extLst>
          </p:cNvPr>
          <p:cNvSpPr>
            <a:spLocks noGrp="1"/>
          </p:cNvSpPr>
          <p:nvPr/>
        </p:nvSpPr>
        <p:spPr>
          <a:xfrm>
            <a:off x="552450" y="1466850"/>
            <a:ext cx="7620000" cy="1619250"/>
          </a:xfrm>
          <a:prstGeom prst="rect">
            <a:avLst/>
          </a:prstGeom>
          <a:noFill/>
          <a:ln w="0">
            <a:noFill/>
            <a:prstDash val="solid"/>
          </a:ln>
        </p:spPr>
        <p:txBody>
          <a:bodyPr/>
          <a:lstStyle/>
          <a:p>
            <a:pPr algn="l">
              <a:defRPr sz="4650" b="1">
                <a:solidFill>
                  <a:srgbClr val="F4F4F2"/>
                </a:solidFill>
              </a:defRPr>
            </a:pPr>
            <a:r>
              <a:rPr sz="4650" b="1">
                <a:solidFill>
                  <a:srgbClr val="F4F4F2"/>
                </a:solidFill>
              </a:rPr>
              <a:t>Evidence-based</a:t>
            </a:r>
          </a:p>
          <a:p>
            <a:pPr algn="l">
              <a:defRPr sz="4650" b="1">
                <a:solidFill>
                  <a:srgbClr val="F4F4F2"/>
                </a:solidFill>
              </a:defRPr>
            </a:pPr>
            <a:r>
              <a:rPr sz="4650" b="1">
                <a:solidFill>
                  <a:srgbClr val="F4F4F2"/>
                </a:solidFill>
              </a:rPr>
              <a:t>model routing.</a:t>
            </a:r>
          </a:p>
        </p:txBody>
      </p:sp>
      <p:sp>
        <p:nvSpPr>
          <p:cNvPr id="30" name="Rectangle 29">
            <a:extLst>
              <a:ext uri="{FF2B5EF4-FFF2-40B4-BE49-F238E27FC236}">
                <a16:creationId xmlns:a16="http://schemas.microsoft.com/office/drawing/2014/main" id="{6A86C300-2FEE-49A4-A5AC-681A30DA4256}"/>
              </a:ext>
            </a:extLst>
          </p:cNvPr>
          <p:cNvSpPr>
            <a:spLocks noGrp="1"/>
          </p:cNvSpPr>
          <p:nvPr/>
        </p:nvSpPr>
        <p:spPr>
          <a:xfrm>
            <a:off x="590550" y="3295650"/>
            <a:ext cx="6858000" cy="723900"/>
          </a:xfrm>
          <a:prstGeom prst="rect">
            <a:avLst/>
          </a:prstGeom>
          <a:noFill/>
          <a:ln w="0">
            <a:noFill/>
            <a:prstDash val="solid"/>
          </a:ln>
        </p:spPr>
        <p:txBody>
          <a:bodyPr/>
          <a:lstStyle/>
          <a:p>
            <a:pPr algn="l">
              <a:defRPr sz="1800" b="0">
                <a:solidFill>
                  <a:srgbClr val="D6D6D2"/>
                </a:solidFill>
              </a:defRPr>
            </a:pPr>
            <a:r>
              <a:rPr sz="1800" b="0">
                <a:solidFill>
                  <a:srgbClr val="D6D6D2"/>
                </a:solidFill>
              </a:rPr>
              <a:t>Two-stage workload, risk, and quality estimation,</a:t>
            </a:r>
          </a:p>
          <a:p>
            <a:pPr algn="l">
              <a:defRPr sz="1800" b="0">
                <a:solidFill>
                  <a:srgbClr val="D6D6D2"/>
                </a:solidFill>
              </a:defRPr>
            </a:pPr>
            <a:r>
              <a:rPr sz="1800" b="0">
                <a:solidFill>
                  <a:srgbClr val="D6D6D2"/>
                </a:solidFill>
              </a:rPr>
              <a:t>validated on a second data chunk.</a:t>
            </a:r>
          </a:p>
        </p:txBody>
      </p:sp>
      <p:sp>
        <p:nvSpPr>
          <p:cNvPr id="31" name="Straight Connector 30">
            <a:extLst>
              <a:ext uri="{FF2B5EF4-FFF2-40B4-BE49-F238E27FC236}">
                <a16:creationId xmlns:a16="http://schemas.microsoft.com/office/drawing/2014/main" id="{95F373A1-F2F0-465E-9E24-F3B5999D9AB2}"/>
              </a:ext>
            </a:extLst>
          </p:cNvPr>
          <p:cNvSpPr>
            <a:spLocks noGrp="1"/>
          </p:cNvSpPr>
          <p:nvPr/>
        </p:nvSpPr>
        <p:spPr>
          <a:xfrm>
            <a:off x="590550" y="4476750"/>
            <a:ext cx="5905500" cy="0"/>
          </a:xfrm>
          <a:prstGeom prst="line">
            <a:avLst/>
          </a:prstGeom>
          <a:noFill/>
          <a:ln w="19050">
            <a:solidFill>
              <a:srgbClr val="F4F4F2"/>
            </a:solidFill>
            <a:prstDash val="solid"/>
          </a:ln>
        </p:spPr>
        <p:txBody>
          <a:bodyPr/>
          <a:lstStyle/>
          <a:p>
            <a:endParaRPr lang="en-DE"/>
          </a:p>
        </p:txBody>
      </p:sp>
      <p:sp>
        <p:nvSpPr>
          <p:cNvPr id="32" name="Rectangle 31">
            <a:extLst>
              <a:ext uri="{FF2B5EF4-FFF2-40B4-BE49-F238E27FC236}">
                <a16:creationId xmlns:a16="http://schemas.microsoft.com/office/drawing/2014/main" id="{60DAF7ED-A041-4E41-961D-0117CC52B431}"/>
              </a:ext>
            </a:extLst>
          </p:cNvPr>
          <p:cNvSpPr>
            <a:spLocks noGrp="1"/>
          </p:cNvSpPr>
          <p:nvPr/>
        </p:nvSpPr>
        <p:spPr>
          <a:xfrm>
            <a:off x="590550" y="4762500"/>
            <a:ext cx="5143500" cy="609600"/>
          </a:xfrm>
          <a:prstGeom prst="rect">
            <a:avLst/>
          </a:prstGeom>
          <a:noFill/>
          <a:ln w="0">
            <a:noFill/>
            <a:prstDash val="solid"/>
          </a:ln>
        </p:spPr>
        <p:txBody>
          <a:bodyPr/>
          <a:lstStyle/>
          <a:p>
            <a:pPr algn="l">
              <a:defRPr sz="3600" b="1">
                <a:solidFill>
                  <a:srgbClr val="F4F4F2"/>
                </a:solidFill>
              </a:defRPr>
            </a:pPr>
            <a:r>
              <a:rPr sz="3600" b="1">
                <a:solidFill>
                  <a:srgbClr val="F4F4F2"/>
                </a:solidFill>
              </a:rPr>
              <a:t>43.4%</a:t>
            </a:r>
          </a:p>
        </p:txBody>
      </p:sp>
      <p:sp>
        <p:nvSpPr>
          <p:cNvPr id="33" name="Rectangle 32">
            <a:extLst>
              <a:ext uri="{FF2B5EF4-FFF2-40B4-BE49-F238E27FC236}">
                <a16:creationId xmlns:a16="http://schemas.microsoft.com/office/drawing/2014/main" id="{4FC5A365-7670-4596-8B16-626D8765A680}"/>
              </a:ext>
            </a:extLst>
          </p:cNvPr>
          <p:cNvSpPr>
            <a:spLocks noGrp="1"/>
          </p:cNvSpPr>
          <p:nvPr/>
        </p:nvSpPr>
        <p:spPr>
          <a:xfrm>
            <a:off x="590550" y="5314950"/>
            <a:ext cx="5143500" cy="438150"/>
          </a:xfrm>
          <a:prstGeom prst="rect">
            <a:avLst/>
          </a:prstGeom>
          <a:noFill/>
          <a:ln w="0">
            <a:noFill/>
            <a:prstDash val="solid"/>
          </a:ln>
        </p:spPr>
        <p:txBody>
          <a:bodyPr/>
          <a:lstStyle/>
          <a:p>
            <a:pPr algn="l">
              <a:defRPr sz="1200" b="0">
                <a:solidFill>
                  <a:srgbClr val="9B9B96"/>
                </a:solidFill>
              </a:defRPr>
            </a:pPr>
            <a:r>
              <a:rPr sz="1200" b="0">
                <a:solidFill>
                  <a:srgbClr val="9B9B96"/>
                </a:solidFill>
              </a:rPr>
              <a:t>lower assumed opening-input cost on chunk 02</a:t>
            </a:r>
          </a:p>
        </p:txBody>
      </p:sp>
      <p:sp>
        <p:nvSpPr>
          <p:cNvPr id="34" name="Rectangle 33">
            <a:extLst>
              <a:ext uri="{FF2B5EF4-FFF2-40B4-BE49-F238E27FC236}">
                <a16:creationId xmlns:a16="http://schemas.microsoft.com/office/drawing/2014/main" id="{0907D4A8-90D2-4770-B13A-A2AF5325F4FF}"/>
              </a:ext>
            </a:extLst>
          </p:cNvPr>
          <p:cNvSpPr>
            <a:spLocks noGrp="1"/>
          </p:cNvSpPr>
          <p:nvPr/>
        </p:nvSpPr>
        <p:spPr>
          <a:xfrm>
            <a:off x="8143875" y="5029200"/>
            <a:ext cx="3238500" cy="342900"/>
          </a:xfrm>
          <a:prstGeom prst="rect">
            <a:avLst/>
          </a:prstGeom>
          <a:noFill/>
          <a:ln w="0">
            <a:noFill/>
            <a:prstDash val="solid"/>
          </a:ln>
        </p:spPr>
        <p:txBody>
          <a:bodyPr/>
          <a:lstStyle/>
          <a:p>
            <a:pPr algn="r">
              <a:defRPr sz="1350" b="1">
                <a:solidFill>
                  <a:srgbClr val="F4F4F2"/>
                </a:solidFill>
              </a:defRPr>
            </a:pPr>
            <a:r>
              <a:rPr sz="1350" b="1">
                <a:solidFill>
                  <a:srgbClr val="F4F4F2"/>
                </a:solidFill>
              </a:rPr>
              <a:t>NO DETECTED QUALITY LOSS</a:t>
            </a:r>
          </a:p>
        </p:txBody>
      </p:sp>
      <p:sp>
        <p:nvSpPr>
          <p:cNvPr id="35" name="Rectangle 34">
            <a:extLst>
              <a:ext uri="{FF2B5EF4-FFF2-40B4-BE49-F238E27FC236}">
                <a16:creationId xmlns:a16="http://schemas.microsoft.com/office/drawing/2014/main" id="{6EA4F731-7D5B-4F1A-886D-ED6B360DB34D}"/>
              </a:ext>
            </a:extLst>
          </p:cNvPr>
          <p:cNvSpPr>
            <a:spLocks noGrp="1"/>
          </p:cNvSpPr>
          <p:nvPr/>
        </p:nvSpPr>
        <p:spPr>
          <a:xfrm>
            <a:off x="8143875" y="5448300"/>
            <a:ext cx="3238500" cy="304800"/>
          </a:xfrm>
          <a:prstGeom prst="rect">
            <a:avLst/>
          </a:prstGeom>
          <a:noFill/>
          <a:ln w="0">
            <a:noFill/>
            <a:prstDash val="solid"/>
          </a:ln>
        </p:spPr>
        <p:txBody>
          <a:bodyPr/>
          <a:lstStyle/>
          <a:p>
            <a:pPr algn="r">
              <a:defRPr sz="1200" b="0">
                <a:solidFill>
                  <a:srgbClr val="9B9B96"/>
                </a:solidFill>
              </a:defRPr>
            </a:pPr>
            <a:r>
              <a:rPr sz="1200" b="0">
                <a:solidFill>
                  <a:srgbClr val="9B9B96"/>
                </a:solidFill>
              </a:rPr>
              <a:t>95% CI: −0.005 to +0.025</a:t>
            </a:r>
          </a:p>
        </p:txBody>
      </p:sp>
      <p:sp>
        <p:nvSpPr>
          <p:cNvPr id="36" name="Rectangle 35">
            <a:extLst>
              <a:ext uri="{FF2B5EF4-FFF2-40B4-BE49-F238E27FC236}">
                <a16:creationId xmlns:a16="http://schemas.microsoft.com/office/drawing/2014/main" id="{FA400B48-D596-4F26-8A60-837BFD23744B}"/>
              </a:ext>
            </a:extLst>
          </p:cNvPr>
          <p:cNvSpPr>
            <a:spLocks noGrp="1"/>
          </p:cNvSpPr>
          <p:nvPr/>
        </p:nvSpPr>
        <p:spPr>
          <a:xfrm>
            <a:off x="590550" y="6381750"/>
            <a:ext cx="4762500" cy="190500"/>
          </a:xfrm>
          <a:prstGeom prst="rect">
            <a:avLst/>
          </a:prstGeom>
          <a:noFill/>
          <a:ln w="0">
            <a:noFill/>
            <a:prstDash val="solid"/>
          </a:ln>
        </p:spPr>
        <p:txBody>
          <a:bodyPr/>
          <a:lstStyle/>
          <a:p>
            <a:pPr algn="l">
              <a:defRPr sz="825" b="1">
                <a:solidFill>
                  <a:srgbClr val="555552"/>
                </a:solidFill>
              </a:defRPr>
            </a:pPr>
            <a:r>
              <a:rPr sz="825" b="1">
                <a:solidFill>
                  <a:srgbClr val="555552"/>
                </a:solidFill>
              </a:rPr>
              <a:t>TUM.AI · MUNICH · 23 AUG 2026</a:t>
            </a:r>
          </a:p>
        </p:txBody>
      </p:sp>
    </p:spTree>
    <p:extLst>
      <p:ext uri="{BB962C8B-B14F-4D97-AF65-F5344CB8AC3E}">
        <p14:creationId xmlns:p14="http://schemas.microsoft.com/office/powerpoint/2010/main" val="1444525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8" name="page-2">
            <a:extLst>
              <a:ext uri="{FF2B5EF4-FFF2-40B4-BE49-F238E27FC236}">
                <a16:creationId xmlns:a16="http://schemas.microsoft.com/office/drawing/2014/main" id="{33600BD8-4817-43F4-9B8C-DA5C5C4F3526}"/>
              </a:ext>
            </a:extLst>
          </p:cNvPr>
          <p:cNvSpPr>
            <a:spLocks noGrp="1"/>
          </p:cNvSpPr>
          <p:nvPr/>
        </p:nvSpPr>
        <p:spPr>
          <a:xfrm>
            <a:off x="514350" y="285750"/>
            <a:ext cx="400050" cy="209550"/>
          </a:xfrm>
          <a:prstGeom prst="rect">
            <a:avLst/>
          </a:prstGeom>
          <a:noFill/>
          <a:ln w="0">
            <a:noFill/>
            <a:prstDash val="solid"/>
          </a:ln>
        </p:spPr>
        <p:txBody>
          <a:bodyPr/>
          <a:lstStyle/>
          <a:p>
            <a:pPr algn="l">
              <a:defRPr sz="900" b="1">
                <a:solidFill>
                  <a:srgbClr val="9B9B96"/>
                </a:solidFill>
              </a:defRPr>
            </a:pPr>
            <a:r>
              <a:rPr sz="900" b="1">
                <a:solidFill>
                  <a:srgbClr val="9B9B96"/>
                </a:solidFill>
              </a:rPr>
              <a:t>02</a:t>
            </a:r>
          </a:p>
        </p:txBody>
      </p:sp>
      <p:sp>
        <p:nvSpPr>
          <p:cNvPr id="2" name="Straight Connector 1">
            <a:extLst>
              <a:ext uri="{FF2B5EF4-FFF2-40B4-BE49-F238E27FC236}">
                <a16:creationId xmlns:a16="http://schemas.microsoft.com/office/drawing/2014/main" id="{FC3DF3E7-B151-40AD-951B-CB8F5A2E85AC}"/>
              </a:ext>
            </a:extLst>
          </p:cNvPr>
          <p:cNvSpPr>
            <a:spLocks noGrp="1"/>
          </p:cNvSpPr>
          <p:nvPr/>
        </p:nvSpPr>
        <p:spPr>
          <a:xfrm>
            <a:off x="1009650" y="381000"/>
            <a:ext cx="476250" cy="0"/>
          </a:xfrm>
          <a:prstGeom prst="line">
            <a:avLst/>
          </a:prstGeom>
          <a:noFill/>
          <a:ln w="19050">
            <a:solidFill>
              <a:srgbClr val="9B9B96"/>
            </a:solidFill>
            <a:prstDash val="solid"/>
          </a:ln>
        </p:spPr>
        <p:txBody>
          <a:bodyPr/>
          <a:lstStyle/>
          <a:p>
            <a:endParaRPr lang="en-DE"/>
          </a:p>
        </p:txBody>
      </p:sp>
      <p:sp>
        <p:nvSpPr>
          <p:cNvPr id="3" name="section-2">
            <a:extLst>
              <a:ext uri="{FF2B5EF4-FFF2-40B4-BE49-F238E27FC236}">
                <a16:creationId xmlns:a16="http://schemas.microsoft.com/office/drawing/2014/main" id="{D59CBC20-8AA4-442F-BFAA-CA528874B1F8}"/>
              </a:ext>
            </a:extLst>
          </p:cNvPr>
          <p:cNvSpPr>
            <a:spLocks noGrp="1"/>
          </p:cNvSpPr>
          <p:nvPr/>
        </p:nvSpPr>
        <p:spPr>
          <a:xfrm>
            <a:off x="1676400" y="285750"/>
            <a:ext cx="4000500" cy="228600"/>
          </a:xfrm>
          <a:prstGeom prst="rect">
            <a:avLst/>
          </a:prstGeom>
          <a:noFill/>
          <a:ln w="0">
            <a:noFill/>
            <a:prstDash val="solid"/>
          </a:ln>
        </p:spPr>
        <p:txBody>
          <a:bodyPr/>
          <a:lstStyle/>
          <a:p>
            <a:pPr algn="l">
              <a:defRPr sz="900" b="1">
                <a:solidFill>
                  <a:srgbClr val="9B9B96"/>
                </a:solidFill>
              </a:defRPr>
            </a:pPr>
            <a:r>
              <a:rPr sz="900" b="1">
                <a:solidFill>
                  <a:srgbClr val="9B9B96"/>
                </a:solidFill>
              </a:rPr>
              <a:t>DATASET CONSTRAINTS</a:t>
            </a:r>
          </a:p>
        </p:txBody>
      </p:sp>
      <p:sp>
        <p:nvSpPr>
          <p:cNvPr id="4" name="Straight Connector 3">
            <a:extLst>
              <a:ext uri="{FF2B5EF4-FFF2-40B4-BE49-F238E27FC236}">
                <a16:creationId xmlns:a16="http://schemas.microsoft.com/office/drawing/2014/main" id="{25903D85-F18B-45F7-B299-749FA9513279}"/>
              </a:ext>
            </a:extLst>
          </p:cNvPr>
          <p:cNvSpPr>
            <a:spLocks noGrp="1"/>
          </p:cNvSpPr>
          <p:nvPr/>
        </p:nvSpPr>
        <p:spPr>
          <a:xfrm>
            <a:off x="514350" y="6496050"/>
            <a:ext cx="11163300" cy="0"/>
          </a:xfrm>
          <a:prstGeom prst="line">
            <a:avLst/>
          </a:prstGeom>
          <a:noFill/>
          <a:ln w="9525">
            <a:solidFill>
              <a:srgbClr val="2B2B29"/>
            </a:solidFill>
            <a:prstDash val="solid"/>
          </a:ln>
        </p:spPr>
        <p:txBody>
          <a:bodyPr/>
          <a:lstStyle/>
          <a:p>
            <a:endParaRPr lang="en-DE"/>
          </a:p>
        </p:txBody>
      </p:sp>
      <p:sp>
        <p:nvSpPr>
          <p:cNvPr id="5" name="Rectangle 4">
            <a:extLst>
              <a:ext uri="{FF2B5EF4-FFF2-40B4-BE49-F238E27FC236}">
                <a16:creationId xmlns:a16="http://schemas.microsoft.com/office/drawing/2014/main" id="{B3A7E06C-24D1-4FF1-8E06-E841506CCF6A}"/>
              </a:ext>
            </a:extLst>
          </p:cNvPr>
          <p:cNvSpPr>
            <a:spLocks noGrp="1"/>
          </p:cNvSpPr>
          <p:nvPr/>
        </p:nvSpPr>
        <p:spPr>
          <a:xfrm>
            <a:off x="514350" y="6572250"/>
            <a:ext cx="3619500" cy="171450"/>
          </a:xfrm>
          <a:prstGeom prst="rect">
            <a:avLst/>
          </a:prstGeom>
          <a:noFill/>
          <a:ln w="0">
            <a:noFill/>
            <a:prstDash val="solid"/>
          </a:ln>
        </p:spPr>
        <p:txBody>
          <a:bodyPr/>
          <a:lstStyle/>
          <a:p>
            <a:pPr algn="l">
              <a:defRPr sz="750" b="1">
                <a:solidFill>
                  <a:srgbClr val="9B9B96"/>
                </a:solidFill>
              </a:defRPr>
            </a:pPr>
            <a:r>
              <a:rPr sz="750" b="1">
                <a:solidFill>
                  <a:srgbClr val="9B9B96"/>
                </a:solidFill>
              </a:rPr>
              <a:t>VIKTOR ROUTER / TUM.AI 2026</a:t>
            </a:r>
          </a:p>
        </p:txBody>
      </p:sp>
      <p:sp>
        <p:nvSpPr>
          <p:cNvPr id="6" name="Rectangle 5">
            <a:extLst>
              <a:ext uri="{FF2B5EF4-FFF2-40B4-BE49-F238E27FC236}">
                <a16:creationId xmlns:a16="http://schemas.microsoft.com/office/drawing/2014/main" id="{7E9F9D0B-E6A3-430D-841A-04A120846649}"/>
              </a:ext>
            </a:extLst>
          </p:cNvPr>
          <p:cNvSpPr>
            <a:spLocks noGrp="1"/>
          </p:cNvSpPr>
          <p:nvPr/>
        </p:nvSpPr>
        <p:spPr>
          <a:xfrm>
            <a:off x="10191750" y="6572250"/>
            <a:ext cx="1485900" cy="171450"/>
          </a:xfrm>
          <a:prstGeom prst="rect">
            <a:avLst/>
          </a:prstGeom>
          <a:noFill/>
          <a:ln w="0">
            <a:noFill/>
            <a:prstDash val="solid"/>
          </a:ln>
        </p:spPr>
        <p:txBody>
          <a:bodyPr/>
          <a:lstStyle/>
          <a:p>
            <a:pPr algn="r">
              <a:defRPr sz="750" b="1">
                <a:solidFill>
                  <a:srgbClr val="9B9B96"/>
                </a:solidFill>
              </a:defRPr>
            </a:pPr>
            <a:r>
              <a:rPr sz="750" b="1">
                <a:solidFill>
                  <a:srgbClr val="9B9B96"/>
                </a:solidFill>
              </a:rPr>
              <a:t>2 / 14</a:t>
            </a:r>
          </a:p>
        </p:txBody>
      </p:sp>
      <p:sp>
        <p:nvSpPr>
          <p:cNvPr id="7" name="slide-title">
            <a:extLst>
              <a:ext uri="{FF2B5EF4-FFF2-40B4-BE49-F238E27FC236}">
                <a16:creationId xmlns:a16="http://schemas.microsoft.com/office/drawing/2014/main" id="{DB1000E0-C43E-4C8E-AAED-49D8612064FC}"/>
              </a:ext>
            </a:extLst>
          </p:cNvPr>
          <p:cNvSpPr>
            <a:spLocks noGrp="1"/>
          </p:cNvSpPr>
          <p:nvPr/>
        </p:nvSpPr>
        <p:spPr>
          <a:xfrm>
            <a:off x="514350" y="704850"/>
            <a:ext cx="11163300" cy="685800"/>
          </a:xfrm>
          <a:prstGeom prst="rect">
            <a:avLst/>
          </a:prstGeom>
          <a:noFill/>
          <a:ln w="0">
            <a:noFill/>
            <a:prstDash val="solid"/>
          </a:ln>
        </p:spPr>
        <p:txBody>
          <a:bodyPr/>
          <a:lstStyle/>
          <a:p>
            <a:pPr algn="l">
              <a:defRPr sz="3000" b="1">
                <a:solidFill>
                  <a:srgbClr val="F4F4F2"/>
                </a:solidFill>
              </a:defRPr>
            </a:pPr>
            <a:r>
              <a:rPr sz="3000" b="1">
                <a:solidFill>
                  <a:srgbClr val="F4F4F2"/>
                </a:solidFill>
              </a:rPr>
              <a:t>The logs contain one observed route per trajectory.</a:t>
            </a:r>
          </a:p>
        </p:txBody>
      </p:sp>
      <p:sp>
        <p:nvSpPr>
          <p:cNvPr id="8" name="slide-subtitle">
            <a:extLst>
              <a:ext uri="{FF2B5EF4-FFF2-40B4-BE49-F238E27FC236}">
                <a16:creationId xmlns:a16="http://schemas.microsoft.com/office/drawing/2014/main" id="{5A5B9EAE-CFCC-4392-9E93-1F1353DD2B42}"/>
              </a:ext>
            </a:extLst>
          </p:cNvPr>
          <p:cNvSpPr>
            <a:spLocks noGrp="1"/>
          </p:cNvSpPr>
          <p:nvPr/>
        </p:nvSpPr>
        <p:spPr>
          <a:xfrm>
            <a:off x="533400" y="1371600"/>
            <a:ext cx="10668000" cy="342900"/>
          </a:xfrm>
          <a:prstGeom prst="rect">
            <a:avLst/>
          </a:prstGeom>
          <a:noFill/>
          <a:ln w="0">
            <a:noFill/>
            <a:prstDash val="solid"/>
          </a:ln>
        </p:spPr>
        <p:txBody>
          <a:bodyPr/>
          <a:lstStyle/>
          <a:p>
            <a:pPr algn="l">
              <a:defRPr sz="1350" b="0">
                <a:solidFill>
                  <a:srgbClr val="9B9B96"/>
                </a:solidFill>
              </a:defRPr>
            </a:pPr>
            <a:r>
              <a:rPr sz="1350" b="0">
                <a:solidFill>
                  <a:srgbClr val="9B9B96"/>
                </a:solidFill>
              </a:rPr>
              <a:t>Counterfactual outcomes are missing, so evaluation is the central challenge.</a:t>
            </a:r>
          </a:p>
        </p:txBody>
      </p:sp>
      <p:sp>
        <p:nvSpPr>
          <p:cNvPr id="9" name="Rectangle 8">
            <a:extLst>
              <a:ext uri="{FF2B5EF4-FFF2-40B4-BE49-F238E27FC236}">
                <a16:creationId xmlns:a16="http://schemas.microsoft.com/office/drawing/2014/main" id="{C0613675-1DD8-47BF-8266-ACBE8C30CDFD}"/>
              </a:ext>
            </a:extLst>
          </p:cNvPr>
          <p:cNvSpPr>
            <a:spLocks noGrp="1"/>
          </p:cNvSpPr>
          <p:nvPr/>
        </p:nvSpPr>
        <p:spPr>
          <a:xfrm>
            <a:off x="552450" y="2057400"/>
            <a:ext cx="2857500" cy="666750"/>
          </a:xfrm>
          <a:prstGeom prst="rect">
            <a:avLst/>
          </a:prstGeom>
          <a:noFill/>
          <a:ln w="0">
            <a:noFill/>
            <a:prstDash val="solid"/>
          </a:ln>
        </p:spPr>
        <p:txBody>
          <a:bodyPr/>
          <a:lstStyle/>
          <a:p>
            <a:pPr algn="l">
              <a:defRPr sz="4200" b="1">
                <a:solidFill>
                  <a:srgbClr val="F4F4F2"/>
                </a:solidFill>
              </a:defRPr>
            </a:pPr>
            <a:r>
              <a:rPr sz="4200" b="1">
                <a:solidFill>
                  <a:srgbClr val="F4F4F2"/>
                </a:solidFill>
              </a:rPr>
              <a:t>2,000</a:t>
            </a:r>
          </a:p>
        </p:txBody>
      </p:sp>
      <p:sp>
        <p:nvSpPr>
          <p:cNvPr id="10" name="Rectangle 9">
            <a:extLst>
              <a:ext uri="{FF2B5EF4-FFF2-40B4-BE49-F238E27FC236}">
                <a16:creationId xmlns:a16="http://schemas.microsoft.com/office/drawing/2014/main" id="{19E391D3-112D-46EC-B06A-D3FB771FA41E}"/>
              </a:ext>
            </a:extLst>
          </p:cNvPr>
          <p:cNvSpPr>
            <a:spLocks noGrp="1"/>
          </p:cNvSpPr>
          <p:nvPr/>
        </p:nvSpPr>
        <p:spPr>
          <a:xfrm>
            <a:off x="590550" y="2724150"/>
            <a:ext cx="2857500" cy="285750"/>
          </a:xfrm>
          <a:prstGeom prst="rect">
            <a:avLst/>
          </a:prstGeom>
          <a:noFill/>
          <a:ln w="0">
            <a:noFill/>
            <a:prstDash val="solid"/>
          </a:ln>
        </p:spPr>
        <p:txBody>
          <a:bodyPr/>
          <a:lstStyle/>
          <a:p>
            <a:pPr algn="l">
              <a:defRPr sz="1350" b="0">
                <a:solidFill>
                  <a:srgbClr val="9B9B96"/>
                </a:solidFill>
              </a:defRPr>
            </a:pPr>
            <a:r>
              <a:rPr sz="1350" b="0">
                <a:solidFill>
                  <a:srgbClr val="9B9B96"/>
                </a:solidFill>
              </a:rPr>
              <a:t>requests across two chunks</a:t>
            </a:r>
          </a:p>
        </p:txBody>
      </p:sp>
      <p:sp>
        <p:nvSpPr>
          <p:cNvPr id="11" name="Straight Connector 10">
            <a:extLst>
              <a:ext uri="{FF2B5EF4-FFF2-40B4-BE49-F238E27FC236}">
                <a16:creationId xmlns:a16="http://schemas.microsoft.com/office/drawing/2014/main" id="{D537FF2D-BB66-4723-8B56-DF0AD3265592}"/>
              </a:ext>
            </a:extLst>
          </p:cNvPr>
          <p:cNvSpPr>
            <a:spLocks noGrp="1"/>
          </p:cNvSpPr>
          <p:nvPr/>
        </p:nvSpPr>
        <p:spPr>
          <a:xfrm>
            <a:off x="3619500" y="2057400"/>
            <a:ext cx="0" cy="3257550"/>
          </a:xfrm>
          <a:prstGeom prst="line">
            <a:avLst/>
          </a:prstGeom>
          <a:noFill/>
          <a:ln w="9525">
            <a:solidFill>
              <a:srgbClr val="2B2B29"/>
            </a:solidFill>
            <a:prstDash val="solid"/>
          </a:ln>
        </p:spPr>
        <p:txBody>
          <a:bodyPr/>
          <a:lstStyle/>
          <a:p>
            <a:endParaRPr lang="en-DE"/>
          </a:p>
        </p:txBody>
      </p:sp>
      <p:sp>
        <p:nvSpPr>
          <p:cNvPr id="12" name="Rectangle 11">
            <a:extLst>
              <a:ext uri="{FF2B5EF4-FFF2-40B4-BE49-F238E27FC236}">
                <a16:creationId xmlns:a16="http://schemas.microsoft.com/office/drawing/2014/main" id="{607B3DAD-B5F9-4D5F-80B1-28A0888FE845}"/>
              </a:ext>
            </a:extLst>
          </p:cNvPr>
          <p:cNvSpPr>
            <a:spLocks noGrp="1"/>
          </p:cNvSpPr>
          <p:nvPr/>
        </p:nvSpPr>
        <p:spPr>
          <a:xfrm>
            <a:off x="4095750" y="2057400"/>
            <a:ext cx="533400" cy="285750"/>
          </a:xfrm>
          <a:prstGeom prst="rect">
            <a:avLst/>
          </a:prstGeom>
          <a:noFill/>
          <a:ln w="0">
            <a:noFill/>
            <a:prstDash val="solid"/>
          </a:ln>
        </p:spPr>
        <p:txBody>
          <a:bodyPr/>
          <a:lstStyle/>
          <a:p>
            <a:pPr algn="l">
              <a:defRPr sz="1200" b="1">
                <a:solidFill>
                  <a:srgbClr val="9B9B96"/>
                </a:solidFill>
              </a:defRPr>
            </a:pPr>
            <a:r>
              <a:rPr sz="1200" b="1">
                <a:solidFill>
                  <a:srgbClr val="9B9B96"/>
                </a:solidFill>
              </a:rPr>
              <a:t>01</a:t>
            </a:r>
          </a:p>
        </p:txBody>
      </p:sp>
      <p:sp>
        <p:nvSpPr>
          <p:cNvPr id="13" name="Rectangle 12">
            <a:extLst>
              <a:ext uri="{FF2B5EF4-FFF2-40B4-BE49-F238E27FC236}">
                <a16:creationId xmlns:a16="http://schemas.microsoft.com/office/drawing/2014/main" id="{07FCAB85-9D60-47E4-B189-3EA68219B948}"/>
              </a:ext>
            </a:extLst>
          </p:cNvPr>
          <p:cNvSpPr>
            <a:spLocks noGrp="1"/>
          </p:cNvSpPr>
          <p:nvPr/>
        </p:nvSpPr>
        <p:spPr>
          <a:xfrm>
            <a:off x="4762500" y="2057400"/>
            <a:ext cx="4095750" cy="285750"/>
          </a:xfrm>
          <a:prstGeom prst="rect">
            <a:avLst/>
          </a:prstGeom>
          <a:noFill/>
          <a:ln w="0">
            <a:noFill/>
            <a:prstDash val="solid"/>
          </a:ln>
        </p:spPr>
        <p:txBody>
          <a:bodyPr/>
          <a:lstStyle/>
          <a:p>
            <a:pPr algn="l">
              <a:defRPr sz="1425" b="1">
                <a:solidFill>
                  <a:srgbClr val="F4F4F2"/>
                </a:solidFill>
              </a:defRPr>
            </a:pPr>
            <a:r>
              <a:rPr sz="1425" b="1">
                <a:solidFill>
                  <a:srgbClr val="F4F4F2"/>
                </a:solidFill>
              </a:rPr>
              <a:t>ONE FACTUAL MODEL</a:t>
            </a:r>
          </a:p>
        </p:txBody>
      </p:sp>
      <p:sp>
        <p:nvSpPr>
          <p:cNvPr id="14" name="Rectangle 13">
            <a:extLst>
              <a:ext uri="{FF2B5EF4-FFF2-40B4-BE49-F238E27FC236}">
                <a16:creationId xmlns:a16="http://schemas.microsoft.com/office/drawing/2014/main" id="{B29BD010-ACB4-4DA5-A071-39889F2B3F5A}"/>
              </a:ext>
            </a:extLst>
          </p:cNvPr>
          <p:cNvSpPr>
            <a:spLocks noGrp="1"/>
          </p:cNvSpPr>
          <p:nvPr/>
        </p:nvSpPr>
        <p:spPr>
          <a:xfrm>
            <a:off x="4762500" y="2381250"/>
            <a:ext cx="6191250" cy="457200"/>
          </a:xfrm>
          <a:prstGeom prst="rect">
            <a:avLst/>
          </a:prstGeom>
          <a:noFill/>
          <a:ln w="0">
            <a:noFill/>
            <a:prstDash val="solid"/>
          </a:ln>
        </p:spPr>
        <p:txBody>
          <a:bodyPr/>
          <a:lstStyle/>
          <a:p>
            <a:pPr algn="l">
              <a:defRPr sz="1275" b="0">
                <a:solidFill>
                  <a:srgbClr val="D6D6D2"/>
                </a:solidFill>
              </a:defRPr>
            </a:pPr>
            <a:r>
              <a:rPr sz="1275" b="0">
                <a:solidFill>
                  <a:srgbClr val="D6D6D2"/>
                </a:solidFill>
              </a:rPr>
              <a:t>The logged model records the treatment; correctness must be estimated.</a:t>
            </a:r>
          </a:p>
        </p:txBody>
      </p:sp>
      <p:sp>
        <p:nvSpPr>
          <p:cNvPr id="15" name="Straight Connector 14">
            <a:extLst>
              <a:ext uri="{FF2B5EF4-FFF2-40B4-BE49-F238E27FC236}">
                <a16:creationId xmlns:a16="http://schemas.microsoft.com/office/drawing/2014/main" id="{8DFB750D-69DC-4783-A939-E5E178381B11}"/>
              </a:ext>
            </a:extLst>
          </p:cNvPr>
          <p:cNvSpPr>
            <a:spLocks noGrp="1"/>
          </p:cNvSpPr>
          <p:nvPr/>
        </p:nvSpPr>
        <p:spPr>
          <a:xfrm>
            <a:off x="4095750" y="2838450"/>
            <a:ext cx="6858000" cy="0"/>
          </a:xfrm>
          <a:prstGeom prst="line">
            <a:avLst/>
          </a:prstGeom>
          <a:noFill/>
          <a:ln w="9525">
            <a:solidFill>
              <a:srgbClr val="2B2B29"/>
            </a:solidFill>
            <a:prstDash val="solid"/>
          </a:ln>
        </p:spPr>
        <p:txBody>
          <a:bodyPr/>
          <a:lstStyle/>
          <a:p>
            <a:endParaRPr lang="en-DE"/>
          </a:p>
        </p:txBody>
      </p:sp>
      <p:sp>
        <p:nvSpPr>
          <p:cNvPr id="16" name="Rectangle 15">
            <a:extLst>
              <a:ext uri="{FF2B5EF4-FFF2-40B4-BE49-F238E27FC236}">
                <a16:creationId xmlns:a16="http://schemas.microsoft.com/office/drawing/2014/main" id="{99EFF4C5-2CFA-4BC6-8F06-DDBD69E1A99A}"/>
              </a:ext>
            </a:extLst>
          </p:cNvPr>
          <p:cNvSpPr>
            <a:spLocks noGrp="1"/>
          </p:cNvSpPr>
          <p:nvPr/>
        </p:nvSpPr>
        <p:spPr>
          <a:xfrm>
            <a:off x="4095750" y="3009900"/>
            <a:ext cx="533400" cy="285750"/>
          </a:xfrm>
          <a:prstGeom prst="rect">
            <a:avLst/>
          </a:prstGeom>
          <a:noFill/>
          <a:ln w="0">
            <a:noFill/>
            <a:prstDash val="solid"/>
          </a:ln>
        </p:spPr>
        <p:txBody>
          <a:bodyPr/>
          <a:lstStyle/>
          <a:p>
            <a:pPr algn="l">
              <a:defRPr sz="1200" b="1">
                <a:solidFill>
                  <a:srgbClr val="9B9B96"/>
                </a:solidFill>
              </a:defRPr>
            </a:pPr>
            <a:r>
              <a:rPr sz="1200" b="1">
                <a:solidFill>
                  <a:srgbClr val="9B9B96"/>
                </a:solidFill>
              </a:rPr>
              <a:t>02</a:t>
            </a:r>
          </a:p>
        </p:txBody>
      </p:sp>
      <p:sp>
        <p:nvSpPr>
          <p:cNvPr id="17" name="Rectangle 16">
            <a:extLst>
              <a:ext uri="{FF2B5EF4-FFF2-40B4-BE49-F238E27FC236}">
                <a16:creationId xmlns:a16="http://schemas.microsoft.com/office/drawing/2014/main" id="{19559B3B-F0EF-423D-B924-796C661966C0}"/>
              </a:ext>
            </a:extLst>
          </p:cNvPr>
          <p:cNvSpPr>
            <a:spLocks noGrp="1"/>
          </p:cNvSpPr>
          <p:nvPr/>
        </p:nvSpPr>
        <p:spPr>
          <a:xfrm>
            <a:off x="4762500" y="3009900"/>
            <a:ext cx="4095750" cy="285750"/>
          </a:xfrm>
          <a:prstGeom prst="rect">
            <a:avLst/>
          </a:prstGeom>
          <a:noFill/>
          <a:ln w="0">
            <a:noFill/>
            <a:prstDash val="solid"/>
          </a:ln>
        </p:spPr>
        <p:txBody>
          <a:bodyPr/>
          <a:lstStyle/>
          <a:p>
            <a:pPr algn="l">
              <a:defRPr sz="1425" b="1">
                <a:solidFill>
                  <a:srgbClr val="F4F4F2"/>
                </a:solidFill>
              </a:defRPr>
            </a:pPr>
            <a:r>
              <a:rPr sz="1425" b="1">
                <a:solidFill>
                  <a:srgbClr val="F4F4F2"/>
                </a:solidFill>
              </a:rPr>
              <a:t>MISSING FINAL OUTPUT</a:t>
            </a:r>
          </a:p>
        </p:txBody>
      </p:sp>
      <p:sp>
        <p:nvSpPr>
          <p:cNvPr id="18" name="Rectangle 17">
            <a:extLst>
              <a:ext uri="{FF2B5EF4-FFF2-40B4-BE49-F238E27FC236}">
                <a16:creationId xmlns:a16="http://schemas.microsoft.com/office/drawing/2014/main" id="{2C16B98C-2352-4323-BE1F-CBAD6760AED9}"/>
              </a:ext>
            </a:extLst>
          </p:cNvPr>
          <p:cNvSpPr>
            <a:spLocks noGrp="1"/>
          </p:cNvSpPr>
          <p:nvPr/>
        </p:nvSpPr>
        <p:spPr>
          <a:xfrm>
            <a:off x="4762500" y="3333750"/>
            <a:ext cx="6191250" cy="457200"/>
          </a:xfrm>
          <a:prstGeom prst="rect">
            <a:avLst/>
          </a:prstGeom>
          <a:noFill/>
          <a:ln w="0">
            <a:noFill/>
            <a:prstDash val="solid"/>
          </a:ln>
        </p:spPr>
        <p:txBody>
          <a:bodyPr/>
          <a:lstStyle/>
          <a:p>
            <a:pPr algn="l">
              <a:defRPr sz="1275" b="0">
                <a:solidFill>
                  <a:srgbClr val="D6D6D2"/>
                </a:solidFill>
              </a:defRPr>
            </a:pPr>
            <a:r>
              <a:rPr sz="1275" b="0">
                <a:solidFill>
                  <a:srgbClr val="D6D6D2"/>
                </a:solidFill>
              </a:rPr>
              <a:t>Only intermediate outputs are recoverable from growing history.</a:t>
            </a:r>
          </a:p>
        </p:txBody>
      </p:sp>
      <p:sp>
        <p:nvSpPr>
          <p:cNvPr id="19" name="Straight Connector 18">
            <a:extLst>
              <a:ext uri="{FF2B5EF4-FFF2-40B4-BE49-F238E27FC236}">
                <a16:creationId xmlns:a16="http://schemas.microsoft.com/office/drawing/2014/main" id="{0D58F5DC-02C9-4D14-9EFC-A8B4248EBE2F}"/>
              </a:ext>
            </a:extLst>
          </p:cNvPr>
          <p:cNvSpPr>
            <a:spLocks noGrp="1"/>
          </p:cNvSpPr>
          <p:nvPr/>
        </p:nvSpPr>
        <p:spPr>
          <a:xfrm>
            <a:off x="4095750" y="3790950"/>
            <a:ext cx="6858000" cy="0"/>
          </a:xfrm>
          <a:prstGeom prst="line">
            <a:avLst/>
          </a:prstGeom>
          <a:noFill/>
          <a:ln w="9525">
            <a:solidFill>
              <a:srgbClr val="2B2B29"/>
            </a:solidFill>
            <a:prstDash val="solid"/>
          </a:ln>
        </p:spPr>
        <p:txBody>
          <a:bodyPr/>
          <a:lstStyle/>
          <a:p>
            <a:endParaRPr lang="en-DE"/>
          </a:p>
        </p:txBody>
      </p:sp>
      <p:sp>
        <p:nvSpPr>
          <p:cNvPr id="20" name="Rectangle 19">
            <a:extLst>
              <a:ext uri="{FF2B5EF4-FFF2-40B4-BE49-F238E27FC236}">
                <a16:creationId xmlns:a16="http://schemas.microsoft.com/office/drawing/2014/main" id="{9EC9CE0B-0D64-474E-82B4-894FF7CC1CD6}"/>
              </a:ext>
            </a:extLst>
          </p:cNvPr>
          <p:cNvSpPr>
            <a:spLocks noGrp="1"/>
          </p:cNvSpPr>
          <p:nvPr/>
        </p:nvSpPr>
        <p:spPr>
          <a:xfrm>
            <a:off x="4095750" y="3962400"/>
            <a:ext cx="533400" cy="285750"/>
          </a:xfrm>
          <a:prstGeom prst="rect">
            <a:avLst/>
          </a:prstGeom>
          <a:noFill/>
          <a:ln w="0">
            <a:noFill/>
            <a:prstDash val="solid"/>
          </a:ln>
        </p:spPr>
        <p:txBody>
          <a:bodyPr/>
          <a:lstStyle/>
          <a:p>
            <a:pPr algn="l">
              <a:defRPr sz="1200" b="1">
                <a:solidFill>
                  <a:srgbClr val="9B9B96"/>
                </a:solidFill>
              </a:defRPr>
            </a:pPr>
            <a:r>
              <a:rPr sz="1200" b="1">
                <a:solidFill>
                  <a:srgbClr val="9B9B96"/>
                </a:solidFill>
              </a:rPr>
              <a:t>03</a:t>
            </a:r>
          </a:p>
        </p:txBody>
      </p:sp>
      <p:sp>
        <p:nvSpPr>
          <p:cNvPr id="21" name="Rectangle 20">
            <a:extLst>
              <a:ext uri="{FF2B5EF4-FFF2-40B4-BE49-F238E27FC236}">
                <a16:creationId xmlns:a16="http://schemas.microsoft.com/office/drawing/2014/main" id="{C55222EB-50CE-4D20-943B-74D8E1DB012D}"/>
              </a:ext>
            </a:extLst>
          </p:cNvPr>
          <p:cNvSpPr>
            <a:spLocks noGrp="1"/>
          </p:cNvSpPr>
          <p:nvPr/>
        </p:nvSpPr>
        <p:spPr>
          <a:xfrm>
            <a:off x="4762500" y="3962400"/>
            <a:ext cx="4095750" cy="285750"/>
          </a:xfrm>
          <a:prstGeom prst="rect">
            <a:avLst/>
          </a:prstGeom>
          <a:noFill/>
          <a:ln w="0">
            <a:noFill/>
            <a:prstDash val="solid"/>
          </a:ln>
        </p:spPr>
        <p:txBody>
          <a:bodyPr/>
          <a:lstStyle/>
          <a:p>
            <a:pPr algn="l">
              <a:defRPr sz="1425" b="1">
                <a:solidFill>
                  <a:srgbClr val="F4F4F2"/>
                </a:solidFill>
              </a:defRPr>
            </a:pPr>
            <a:r>
              <a:rPr sz="1425" b="1">
                <a:solidFill>
                  <a:srgbClr val="F4F4F2"/>
                </a:solidFill>
              </a:rPr>
              <a:t>NO USAGE OR TIMING</a:t>
            </a:r>
          </a:p>
        </p:txBody>
      </p:sp>
      <p:sp>
        <p:nvSpPr>
          <p:cNvPr id="22" name="Rectangle 21">
            <a:extLst>
              <a:ext uri="{FF2B5EF4-FFF2-40B4-BE49-F238E27FC236}">
                <a16:creationId xmlns:a16="http://schemas.microsoft.com/office/drawing/2014/main" id="{DAD7E460-3F72-4E37-88D5-DA558250EA1C}"/>
              </a:ext>
            </a:extLst>
          </p:cNvPr>
          <p:cNvSpPr>
            <a:spLocks noGrp="1"/>
          </p:cNvSpPr>
          <p:nvPr/>
        </p:nvSpPr>
        <p:spPr>
          <a:xfrm>
            <a:off x="4762500" y="4286250"/>
            <a:ext cx="6191250" cy="457200"/>
          </a:xfrm>
          <a:prstGeom prst="rect">
            <a:avLst/>
          </a:prstGeom>
          <a:noFill/>
          <a:ln w="0">
            <a:noFill/>
            <a:prstDash val="solid"/>
          </a:ln>
        </p:spPr>
        <p:txBody>
          <a:bodyPr/>
          <a:lstStyle/>
          <a:p>
            <a:pPr algn="l">
              <a:defRPr sz="1275" b="0">
                <a:solidFill>
                  <a:srgbClr val="D6D6D2"/>
                </a:solidFill>
              </a:defRPr>
            </a:pPr>
            <a:r>
              <a:rPr sz="1275" b="0">
                <a:solidFill>
                  <a:srgbClr val="D6D6D2"/>
                </a:solidFill>
              </a:rPr>
              <a:t>Token counts are chars/4 estimates; dollar prices are assumptions.</a:t>
            </a:r>
          </a:p>
        </p:txBody>
      </p:sp>
      <p:sp>
        <p:nvSpPr>
          <p:cNvPr id="23" name="Straight Connector 22">
            <a:extLst>
              <a:ext uri="{FF2B5EF4-FFF2-40B4-BE49-F238E27FC236}">
                <a16:creationId xmlns:a16="http://schemas.microsoft.com/office/drawing/2014/main" id="{7B173EB6-1A7B-4F01-B774-8E71C8B4DA53}"/>
              </a:ext>
            </a:extLst>
          </p:cNvPr>
          <p:cNvSpPr>
            <a:spLocks noGrp="1"/>
          </p:cNvSpPr>
          <p:nvPr/>
        </p:nvSpPr>
        <p:spPr>
          <a:xfrm>
            <a:off x="4095750" y="4743450"/>
            <a:ext cx="6858000" cy="0"/>
          </a:xfrm>
          <a:prstGeom prst="line">
            <a:avLst/>
          </a:prstGeom>
          <a:noFill/>
          <a:ln w="9525">
            <a:solidFill>
              <a:srgbClr val="2B2B29"/>
            </a:solidFill>
            <a:prstDash val="solid"/>
          </a:ln>
        </p:spPr>
        <p:txBody>
          <a:bodyPr/>
          <a:lstStyle/>
          <a:p>
            <a:endParaRPr lang="en-DE"/>
          </a:p>
        </p:txBody>
      </p:sp>
      <p:sp>
        <p:nvSpPr>
          <p:cNvPr id="24" name="Rectangle 23">
            <a:extLst>
              <a:ext uri="{FF2B5EF4-FFF2-40B4-BE49-F238E27FC236}">
                <a16:creationId xmlns:a16="http://schemas.microsoft.com/office/drawing/2014/main" id="{7E2B2CDC-BD69-4C30-9676-0E8FAC614565}"/>
              </a:ext>
            </a:extLst>
          </p:cNvPr>
          <p:cNvSpPr>
            <a:spLocks noGrp="1"/>
          </p:cNvSpPr>
          <p:nvPr/>
        </p:nvSpPr>
        <p:spPr>
          <a:xfrm>
            <a:off x="4095750" y="4914900"/>
            <a:ext cx="533400" cy="285750"/>
          </a:xfrm>
          <a:prstGeom prst="rect">
            <a:avLst/>
          </a:prstGeom>
          <a:noFill/>
          <a:ln w="0">
            <a:noFill/>
            <a:prstDash val="solid"/>
          </a:ln>
        </p:spPr>
        <p:txBody>
          <a:bodyPr/>
          <a:lstStyle/>
          <a:p>
            <a:pPr algn="l">
              <a:defRPr sz="1200" b="1">
                <a:solidFill>
                  <a:srgbClr val="9B9B96"/>
                </a:solidFill>
              </a:defRPr>
            </a:pPr>
            <a:r>
              <a:rPr sz="1200" b="1">
                <a:solidFill>
                  <a:srgbClr val="9B9B96"/>
                </a:solidFill>
              </a:rPr>
              <a:t>04</a:t>
            </a:r>
          </a:p>
        </p:txBody>
      </p:sp>
      <p:sp>
        <p:nvSpPr>
          <p:cNvPr id="25" name="Rectangle 24">
            <a:extLst>
              <a:ext uri="{FF2B5EF4-FFF2-40B4-BE49-F238E27FC236}">
                <a16:creationId xmlns:a16="http://schemas.microsoft.com/office/drawing/2014/main" id="{2B3E9623-16A3-4455-9E5D-FA03A53F276F}"/>
              </a:ext>
            </a:extLst>
          </p:cNvPr>
          <p:cNvSpPr>
            <a:spLocks noGrp="1"/>
          </p:cNvSpPr>
          <p:nvPr/>
        </p:nvSpPr>
        <p:spPr>
          <a:xfrm>
            <a:off x="4762500" y="4914900"/>
            <a:ext cx="4095750" cy="285750"/>
          </a:xfrm>
          <a:prstGeom prst="rect">
            <a:avLst/>
          </a:prstGeom>
          <a:noFill/>
          <a:ln w="0">
            <a:noFill/>
            <a:prstDash val="solid"/>
          </a:ln>
        </p:spPr>
        <p:txBody>
          <a:bodyPr/>
          <a:lstStyle/>
          <a:p>
            <a:pPr algn="l">
              <a:defRPr sz="1425" b="1">
                <a:solidFill>
                  <a:srgbClr val="F4F4F2"/>
                </a:solidFill>
              </a:defRPr>
            </a:pPr>
            <a:r>
              <a:rPr sz="1425" b="1">
                <a:solidFill>
                  <a:srgbClr val="F4F4F2"/>
                </a:solidFill>
              </a:rPr>
              <a:t>CACHE-COUPLED CALLS</a:t>
            </a:r>
          </a:p>
        </p:txBody>
      </p:sp>
      <p:sp>
        <p:nvSpPr>
          <p:cNvPr id="26" name="Rectangle 25">
            <a:extLst>
              <a:ext uri="{FF2B5EF4-FFF2-40B4-BE49-F238E27FC236}">
                <a16:creationId xmlns:a16="http://schemas.microsoft.com/office/drawing/2014/main" id="{534FB712-F7B0-4157-9F47-03F959030AAB}"/>
              </a:ext>
            </a:extLst>
          </p:cNvPr>
          <p:cNvSpPr>
            <a:spLocks noGrp="1"/>
          </p:cNvSpPr>
          <p:nvPr/>
        </p:nvSpPr>
        <p:spPr>
          <a:xfrm>
            <a:off x="4762500" y="5238750"/>
            <a:ext cx="6191250" cy="457200"/>
          </a:xfrm>
          <a:prstGeom prst="rect">
            <a:avLst/>
          </a:prstGeom>
          <a:noFill/>
          <a:ln w="0">
            <a:noFill/>
            <a:prstDash val="solid"/>
          </a:ln>
        </p:spPr>
        <p:txBody>
          <a:bodyPr/>
          <a:lstStyle/>
          <a:p>
            <a:pPr algn="l">
              <a:defRPr sz="1275" b="0">
                <a:solidFill>
                  <a:srgbClr val="D6D6D2"/>
                </a:solidFill>
              </a:defRPr>
            </a:pPr>
            <a:r>
              <a:rPr sz="1275" b="0">
                <a:solidFill>
                  <a:srgbClr val="D6D6D2"/>
                </a:solidFill>
              </a:rPr>
              <a:t>A mid-trajectory switch resets prefix caching, so routing is trajectory-level.</a:t>
            </a:r>
          </a:p>
        </p:txBody>
      </p:sp>
      <p:sp>
        <p:nvSpPr>
          <p:cNvPr id="27" name="Straight Connector 26">
            <a:extLst>
              <a:ext uri="{FF2B5EF4-FFF2-40B4-BE49-F238E27FC236}">
                <a16:creationId xmlns:a16="http://schemas.microsoft.com/office/drawing/2014/main" id="{7505E2A6-A262-4B87-835E-CDFA54C8A89F}"/>
              </a:ext>
            </a:extLst>
          </p:cNvPr>
          <p:cNvSpPr>
            <a:spLocks noGrp="1"/>
          </p:cNvSpPr>
          <p:nvPr/>
        </p:nvSpPr>
        <p:spPr>
          <a:xfrm>
            <a:off x="4095750" y="5695950"/>
            <a:ext cx="6858000" cy="0"/>
          </a:xfrm>
          <a:prstGeom prst="line">
            <a:avLst/>
          </a:prstGeom>
          <a:noFill/>
          <a:ln w="9525">
            <a:solidFill>
              <a:srgbClr val="2B2B29"/>
            </a:solidFill>
            <a:prstDash val="solid"/>
          </a:ln>
        </p:spPr>
        <p:txBody>
          <a:bodyPr/>
          <a:lstStyle/>
          <a:p>
            <a:endParaRPr lang="en-DE"/>
          </a:p>
        </p:txBody>
      </p:sp>
    </p:spTree>
    <p:extLst>
      <p:ext uri="{BB962C8B-B14F-4D97-AF65-F5344CB8AC3E}">
        <p14:creationId xmlns:p14="http://schemas.microsoft.com/office/powerpoint/2010/main" val="742715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4F2"/>
        </a:solidFill>
        <a:effectLst/>
      </p:bgPr>
    </p:bg>
    <p:spTree>
      <p:nvGrpSpPr>
        <p:cNvPr id="1" name=""/>
        <p:cNvGrpSpPr/>
        <p:nvPr/>
      </p:nvGrpSpPr>
      <p:grpSpPr>
        <a:xfrm>
          <a:off x="0" y="0"/>
          <a:ext cx="0" cy="0"/>
          <a:chOff x="0" y="0"/>
          <a:chExt cx="0" cy="0"/>
        </a:xfrm>
      </p:grpSpPr>
      <p:sp>
        <p:nvSpPr>
          <p:cNvPr id="26" name="page-3">
            <a:extLst>
              <a:ext uri="{FF2B5EF4-FFF2-40B4-BE49-F238E27FC236}">
                <a16:creationId xmlns:a16="http://schemas.microsoft.com/office/drawing/2014/main" id="{B5703306-6F1D-4A36-88BF-ABBF8874FA71}"/>
              </a:ext>
            </a:extLst>
          </p:cNvPr>
          <p:cNvSpPr>
            <a:spLocks noGrp="1"/>
          </p:cNvSpPr>
          <p:nvPr/>
        </p:nvSpPr>
        <p:spPr>
          <a:xfrm>
            <a:off x="514350" y="285750"/>
            <a:ext cx="400050" cy="209550"/>
          </a:xfrm>
          <a:prstGeom prst="rect">
            <a:avLst/>
          </a:prstGeom>
          <a:noFill/>
          <a:ln w="0">
            <a:noFill/>
            <a:prstDash val="solid"/>
          </a:ln>
        </p:spPr>
        <p:txBody>
          <a:bodyPr/>
          <a:lstStyle/>
          <a:p>
            <a:pPr algn="l">
              <a:defRPr sz="900" b="1">
                <a:solidFill>
                  <a:srgbClr val="555552"/>
                </a:solidFill>
              </a:defRPr>
            </a:pPr>
            <a:r>
              <a:rPr sz="900" b="1">
                <a:solidFill>
                  <a:srgbClr val="555552"/>
                </a:solidFill>
              </a:rPr>
              <a:t>03</a:t>
            </a:r>
          </a:p>
        </p:txBody>
      </p:sp>
      <p:sp>
        <p:nvSpPr>
          <p:cNvPr id="2" name="Straight Connector 1">
            <a:extLst>
              <a:ext uri="{FF2B5EF4-FFF2-40B4-BE49-F238E27FC236}">
                <a16:creationId xmlns:a16="http://schemas.microsoft.com/office/drawing/2014/main" id="{2778F653-2F10-4E39-9796-AB2E4053DB22}"/>
              </a:ext>
            </a:extLst>
          </p:cNvPr>
          <p:cNvSpPr>
            <a:spLocks noGrp="1"/>
          </p:cNvSpPr>
          <p:nvPr/>
        </p:nvSpPr>
        <p:spPr>
          <a:xfrm>
            <a:off x="1009650" y="381000"/>
            <a:ext cx="476250" cy="0"/>
          </a:xfrm>
          <a:prstGeom prst="line">
            <a:avLst/>
          </a:prstGeom>
          <a:noFill/>
          <a:ln w="19050">
            <a:solidFill>
              <a:srgbClr val="555552"/>
            </a:solidFill>
            <a:prstDash val="solid"/>
          </a:ln>
        </p:spPr>
        <p:txBody>
          <a:bodyPr/>
          <a:lstStyle/>
          <a:p>
            <a:endParaRPr lang="en-DE"/>
          </a:p>
        </p:txBody>
      </p:sp>
      <p:sp>
        <p:nvSpPr>
          <p:cNvPr id="3" name="section-3">
            <a:extLst>
              <a:ext uri="{FF2B5EF4-FFF2-40B4-BE49-F238E27FC236}">
                <a16:creationId xmlns:a16="http://schemas.microsoft.com/office/drawing/2014/main" id="{C430C587-C1CE-4CF6-B971-008BBA91D803}"/>
              </a:ext>
            </a:extLst>
          </p:cNvPr>
          <p:cNvSpPr>
            <a:spLocks noGrp="1"/>
          </p:cNvSpPr>
          <p:nvPr/>
        </p:nvSpPr>
        <p:spPr>
          <a:xfrm>
            <a:off x="1676400" y="285750"/>
            <a:ext cx="4000500" cy="228600"/>
          </a:xfrm>
          <a:prstGeom prst="rect">
            <a:avLst/>
          </a:prstGeom>
          <a:noFill/>
          <a:ln w="0">
            <a:noFill/>
            <a:prstDash val="solid"/>
          </a:ln>
        </p:spPr>
        <p:txBody>
          <a:bodyPr/>
          <a:lstStyle/>
          <a:p>
            <a:pPr algn="l">
              <a:defRPr sz="900" b="1">
                <a:solidFill>
                  <a:srgbClr val="555552"/>
                </a:solidFill>
              </a:defRPr>
            </a:pPr>
            <a:r>
              <a:rPr sz="900" b="1">
                <a:solidFill>
                  <a:srgbClr val="555552"/>
                </a:solidFill>
              </a:rPr>
              <a:t>CHALLENGE</a:t>
            </a:r>
          </a:p>
        </p:txBody>
      </p:sp>
      <p:sp>
        <p:nvSpPr>
          <p:cNvPr id="4" name="Straight Connector 3">
            <a:extLst>
              <a:ext uri="{FF2B5EF4-FFF2-40B4-BE49-F238E27FC236}">
                <a16:creationId xmlns:a16="http://schemas.microsoft.com/office/drawing/2014/main" id="{CB641360-AF02-4075-B5E4-FAAB38AAFEE9}"/>
              </a:ext>
            </a:extLst>
          </p:cNvPr>
          <p:cNvSpPr>
            <a:spLocks noGrp="1"/>
          </p:cNvSpPr>
          <p:nvPr/>
        </p:nvSpPr>
        <p:spPr>
          <a:xfrm>
            <a:off x="514350" y="6496050"/>
            <a:ext cx="11163300" cy="0"/>
          </a:xfrm>
          <a:prstGeom prst="line">
            <a:avLst/>
          </a:prstGeom>
          <a:noFill/>
          <a:ln w="9525">
            <a:solidFill>
              <a:srgbClr val="BEBEB8"/>
            </a:solidFill>
            <a:prstDash val="solid"/>
          </a:ln>
        </p:spPr>
        <p:txBody>
          <a:bodyPr/>
          <a:lstStyle/>
          <a:p>
            <a:endParaRPr lang="en-DE"/>
          </a:p>
        </p:txBody>
      </p:sp>
      <p:sp>
        <p:nvSpPr>
          <p:cNvPr id="5" name="Rectangle 4">
            <a:extLst>
              <a:ext uri="{FF2B5EF4-FFF2-40B4-BE49-F238E27FC236}">
                <a16:creationId xmlns:a16="http://schemas.microsoft.com/office/drawing/2014/main" id="{45A8F4C7-4116-48F3-8D20-4CF4F76BBE82}"/>
              </a:ext>
            </a:extLst>
          </p:cNvPr>
          <p:cNvSpPr>
            <a:spLocks noGrp="1"/>
          </p:cNvSpPr>
          <p:nvPr/>
        </p:nvSpPr>
        <p:spPr>
          <a:xfrm>
            <a:off x="514350" y="6572250"/>
            <a:ext cx="3619500" cy="171450"/>
          </a:xfrm>
          <a:prstGeom prst="rect">
            <a:avLst/>
          </a:prstGeom>
          <a:noFill/>
          <a:ln w="0">
            <a:noFill/>
            <a:prstDash val="solid"/>
          </a:ln>
        </p:spPr>
        <p:txBody>
          <a:bodyPr/>
          <a:lstStyle/>
          <a:p>
            <a:pPr algn="l">
              <a:defRPr sz="750" b="1">
                <a:solidFill>
                  <a:srgbClr val="555552"/>
                </a:solidFill>
              </a:defRPr>
            </a:pPr>
            <a:r>
              <a:rPr sz="750" b="1">
                <a:solidFill>
                  <a:srgbClr val="555552"/>
                </a:solidFill>
              </a:rPr>
              <a:t>VIKTOR ROUTER / TUM.AI 2026</a:t>
            </a:r>
          </a:p>
        </p:txBody>
      </p:sp>
      <p:sp>
        <p:nvSpPr>
          <p:cNvPr id="6" name="Rectangle 5">
            <a:extLst>
              <a:ext uri="{FF2B5EF4-FFF2-40B4-BE49-F238E27FC236}">
                <a16:creationId xmlns:a16="http://schemas.microsoft.com/office/drawing/2014/main" id="{80028CF9-045C-4FC0-8CD0-18F64BAD842F}"/>
              </a:ext>
            </a:extLst>
          </p:cNvPr>
          <p:cNvSpPr>
            <a:spLocks noGrp="1"/>
          </p:cNvSpPr>
          <p:nvPr/>
        </p:nvSpPr>
        <p:spPr>
          <a:xfrm>
            <a:off x="10191750" y="6572250"/>
            <a:ext cx="1485900" cy="171450"/>
          </a:xfrm>
          <a:prstGeom prst="rect">
            <a:avLst/>
          </a:prstGeom>
          <a:noFill/>
          <a:ln w="0">
            <a:noFill/>
            <a:prstDash val="solid"/>
          </a:ln>
        </p:spPr>
        <p:txBody>
          <a:bodyPr/>
          <a:lstStyle/>
          <a:p>
            <a:pPr algn="r">
              <a:defRPr sz="750" b="1">
                <a:solidFill>
                  <a:srgbClr val="555552"/>
                </a:solidFill>
              </a:defRPr>
            </a:pPr>
            <a:r>
              <a:rPr sz="750" b="1">
                <a:solidFill>
                  <a:srgbClr val="555552"/>
                </a:solidFill>
              </a:rPr>
              <a:t>3 / 14</a:t>
            </a:r>
          </a:p>
        </p:txBody>
      </p:sp>
      <p:sp>
        <p:nvSpPr>
          <p:cNvPr id="7" name="slide-title">
            <a:extLst>
              <a:ext uri="{FF2B5EF4-FFF2-40B4-BE49-F238E27FC236}">
                <a16:creationId xmlns:a16="http://schemas.microsoft.com/office/drawing/2014/main" id="{4A7355C1-5F31-4BF9-BA2B-72B0518AC9AD}"/>
              </a:ext>
            </a:extLst>
          </p:cNvPr>
          <p:cNvSpPr>
            <a:spLocks noGrp="1"/>
          </p:cNvSpPr>
          <p:nvPr/>
        </p:nvSpPr>
        <p:spPr>
          <a:xfrm>
            <a:off x="514350" y="704850"/>
            <a:ext cx="11163300" cy="685800"/>
          </a:xfrm>
          <a:prstGeom prst="rect">
            <a:avLst/>
          </a:prstGeom>
          <a:noFill/>
          <a:ln w="0">
            <a:noFill/>
            <a:prstDash val="solid"/>
          </a:ln>
        </p:spPr>
        <p:txBody>
          <a:bodyPr/>
          <a:lstStyle/>
          <a:p>
            <a:pPr algn="l">
              <a:defRPr sz="3000" b="1">
                <a:solidFill>
                  <a:srgbClr val="0B0B0B"/>
                </a:solidFill>
              </a:defRPr>
            </a:pPr>
            <a:r>
              <a:rPr sz="3000" b="1">
                <a:solidFill>
                  <a:srgbClr val="0B0B0B"/>
                </a:solidFill>
              </a:rPr>
              <a:t>Task complexity became the shared routing signal.</a:t>
            </a:r>
          </a:p>
        </p:txBody>
      </p:sp>
      <p:sp>
        <p:nvSpPr>
          <p:cNvPr id="8" name="slide-subtitle">
            <a:extLst>
              <a:ext uri="{FF2B5EF4-FFF2-40B4-BE49-F238E27FC236}">
                <a16:creationId xmlns:a16="http://schemas.microsoft.com/office/drawing/2014/main" id="{2EB45570-8867-4751-B5CB-9AF084CC90F3}"/>
              </a:ext>
            </a:extLst>
          </p:cNvPr>
          <p:cNvSpPr>
            <a:spLocks noGrp="1"/>
          </p:cNvSpPr>
          <p:nvPr/>
        </p:nvSpPr>
        <p:spPr>
          <a:xfrm>
            <a:off x="533400" y="1371600"/>
            <a:ext cx="10668000" cy="342900"/>
          </a:xfrm>
          <a:prstGeom prst="rect">
            <a:avLst/>
          </a:prstGeom>
          <a:noFill/>
          <a:ln w="0">
            <a:noFill/>
            <a:prstDash val="solid"/>
          </a:ln>
        </p:spPr>
        <p:txBody>
          <a:bodyPr/>
          <a:lstStyle/>
          <a:p>
            <a:pPr algn="l">
              <a:defRPr sz="1350" b="0">
                <a:solidFill>
                  <a:srgbClr val="555552"/>
                </a:solidFill>
              </a:defRPr>
            </a:pPr>
            <a:r>
              <a:rPr sz="1350" b="0">
                <a:solidFill>
                  <a:srgbClr val="555552"/>
                </a:solidFill>
              </a:rPr>
              <a:t>The route should reflect the work ahead, the quality evidence, and the cost of each supported candidate.</a:t>
            </a:r>
          </a:p>
        </p:txBody>
      </p:sp>
      <p:sp>
        <p:nvSpPr>
          <p:cNvPr id="9" name="Rounded Rectangle 8">
            <a:extLst>
              <a:ext uri="{FF2B5EF4-FFF2-40B4-BE49-F238E27FC236}">
                <a16:creationId xmlns:a16="http://schemas.microsoft.com/office/drawing/2014/main" id="{B6F1FA10-5F6B-4666-90C0-E928BC03F3D9}"/>
              </a:ext>
            </a:extLst>
          </p:cNvPr>
          <p:cNvSpPr>
            <a:spLocks noGrp="1"/>
          </p:cNvSpPr>
          <p:nvPr/>
        </p:nvSpPr>
        <p:spPr>
          <a:xfrm>
            <a:off x="514350" y="1924050"/>
            <a:ext cx="3143250" cy="3371850"/>
          </a:xfrm>
          <a:prstGeom prst="roundRect">
            <a:avLst>
              <a:gd name="adj" fmla="val 1818"/>
            </a:avLst>
          </a:prstGeom>
          <a:solidFill>
            <a:srgbClr val="0B0B0B"/>
          </a:solidFill>
          <a:ln w="9525">
            <a:solidFill>
              <a:srgbClr val="0B0B0B"/>
            </a:solidFill>
            <a:prstDash val="solid"/>
          </a:ln>
        </p:spPr>
        <p:txBody>
          <a:bodyPr/>
          <a:lstStyle/>
          <a:p>
            <a:endParaRPr lang="en-DE"/>
          </a:p>
        </p:txBody>
      </p:sp>
      <p:sp>
        <p:nvSpPr>
          <p:cNvPr id="10" name="Rectangle 9">
            <a:extLst>
              <a:ext uri="{FF2B5EF4-FFF2-40B4-BE49-F238E27FC236}">
                <a16:creationId xmlns:a16="http://schemas.microsoft.com/office/drawing/2014/main" id="{5C6C6249-79FC-4314-9ABB-FBC42B12EC70}"/>
              </a:ext>
            </a:extLst>
          </p:cNvPr>
          <p:cNvSpPr>
            <a:spLocks noGrp="1"/>
          </p:cNvSpPr>
          <p:nvPr/>
        </p:nvSpPr>
        <p:spPr>
          <a:xfrm>
            <a:off x="762000" y="2171700"/>
            <a:ext cx="1714500" cy="228600"/>
          </a:xfrm>
          <a:prstGeom prst="rect">
            <a:avLst/>
          </a:prstGeom>
          <a:noFill/>
          <a:ln w="0">
            <a:noFill/>
            <a:prstDash val="solid"/>
          </a:ln>
        </p:spPr>
        <p:txBody>
          <a:bodyPr/>
          <a:lstStyle/>
          <a:p>
            <a:pPr algn="l">
              <a:defRPr sz="975" b="1">
                <a:solidFill>
                  <a:srgbClr val="9B9B96"/>
                </a:solidFill>
              </a:defRPr>
            </a:pPr>
            <a:r>
              <a:rPr sz="975" b="1">
                <a:solidFill>
                  <a:srgbClr val="9B9B96"/>
                </a:solidFill>
              </a:rPr>
              <a:t>GOAL</a:t>
            </a:r>
          </a:p>
        </p:txBody>
      </p:sp>
      <p:sp>
        <p:nvSpPr>
          <p:cNvPr id="11" name="Rectangle 10">
            <a:extLst>
              <a:ext uri="{FF2B5EF4-FFF2-40B4-BE49-F238E27FC236}">
                <a16:creationId xmlns:a16="http://schemas.microsoft.com/office/drawing/2014/main" id="{51C1251D-5FC5-496A-B8D3-DC8EBD032A33}"/>
              </a:ext>
            </a:extLst>
          </p:cNvPr>
          <p:cNvSpPr>
            <a:spLocks noGrp="1"/>
          </p:cNvSpPr>
          <p:nvPr/>
        </p:nvSpPr>
        <p:spPr>
          <a:xfrm>
            <a:off x="762000" y="2628900"/>
            <a:ext cx="2571750" cy="1219200"/>
          </a:xfrm>
          <a:prstGeom prst="rect">
            <a:avLst/>
          </a:prstGeom>
          <a:noFill/>
          <a:ln w="0">
            <a:noFill/>
            <a:prstDash val="solid"/>
          </a:ln>
        </p:spPr>
        <p:txBody>
          <a:bodyPr/>
          <a:lstStyle/>
          <a:p>
            <a:pPr algn="l">
              <a:defRPr sz="1650" b="1">
                <a:solidFill>
                  <a:srgbClr val="F4F4F2"/>
                </a:solidFill>
              </a:defRPr>
            </a:pPr>
            <a:r>
              <a:rPr sz="1650" b="1">
                <a:solidFill>
                  <a:srgbClr val="F4F4F2"/>
                </a:solidFill>
              </a:rPr>
              <a:t>Choose the lowest-cost</a:t>
            </a:r>
          </a:p>
          <a:p>
            <a:pPr algn="l">
              <a:defRPr sz="1650" b="1">
                <a:solidFill>
                  <a:srgbClr val="F4F4F2"/>
                </a:solidFill>
              </a:defRPr>
            </a:pPr>
            <a:r>
              <a:rPr sz="1650" b="1">
                <a:solidFill>
                  <a:srgbClr val="F4F4F2"/>
                </a:solidFill>
              </a:rPr>
              <a:t>supported model while</a:t>
            </a:r>
          </a:p>
          <a:p>
            <a:pPr algn="l">
              <a:defRPr sz="1650" b="1">
                <a:solidFill>
                  <a:srgbClr val="F4F4F2"/>
                </a:solidFill>
              </a:defRPr>
            </a:pPr>
            <a:r>
              <a:rPr sz="1650" b="1">
                <a:solidFill>
                  <a:srgbClr val="F4F4F2"/>
                </a:solidFill>
              </a:rPr>
              <a:t>preserving observable</a:t>
            </a:r>
          </a:p>
          <a:p>
            <a:pPr algn="l">
              <a:defRPr sz="1650" b="1">
                <a:solidFill>
                  <a:srgbClr val="F4F4F2"/>
                </a:solidFill>
              </a:defRPr>
            </a:pPr>
            <a:r>
              <a:rPr sz="1650" b="1">
                <a:solidFill>
                  <a:srgbClr val="F4F4F2"/>
                </a:solidFill>
              </a:rPr>
              <a:t>outcome quality.</a:t>
            </a:r>
          </a:p>
        </p:txBody>
      </p:sp>
      <p:sp>
        <p:nvSpPr>
          <p:cNvPr id="12" name="Straight Connector 11">
            <a:extLst>
              <a:ext uri="{FF2B5EF4-FFF2-40B4-BE49-F238E27FC236}">
                <a16:creationId xmlns:a16="http://schemas.microsoft.com/office/drawing/2014/main" id="{A83AC59D-E5CB-4C6F-83FC-C3201FB515B3}"/>
              </a:ext>
            </a:extLst>
          </p:cNvPr>
          <p:cNvSpPr>
            <a:spLocks noGrp="1"/>
          </p:cNvSpPr>
          <p:nvPr/>
        </p:nvSpPr>
        <p:spPr>
          <a:xfrm>
            <a:off x="762000" y="4171950"/>
            <a:ext cx="2609850" cy="0"/>
          </a:xfrm>
          <a:prstGeom prst="line">
            <a:avLst/>
          </a:prstGeom>
          <a:noFill/>
          <a:ln w="9525">
            <a:solidFill>
              <a:srgbClr val="555552"/>
            </a:solidFill>
            <a:prstDash val="solid"/>
          </a:ln>
        </p:spPr>
        <p:txBody>
          <a:bodyPr/>
          <a:lstStyle/>
          <a:p>
            <a:endParaRPr lang="en-DE"/>
          </a:p>
        </p:txBody>
      </p:sp>
      <p:sp>
        <p:nvSpPr>
          <p:cNvPr id="13" name="Rectangle 12">
            <a:extLst>
              <a:ext uri="{FF2B5EF4-FFF2-40B4-BE49-F238E27FC236}">
                <a16:creationId xmlns:a16="http://schemas.microsoft.com/office/drawing/2014/main" id="{90ADEF50-BCA9-470C-B616-7E79D237CA38}"/>
              </a:ext>
            </a:extLst>
          </p:cNvPr>
          <p:cNvSpPr>
            <a:spLocks noGrp="1"/>
          </p:cNvSpPr>
          <p:nvPr/>
        </p:nvSpPr>
        <p:spPr>
          <a:xfrm>
            <a:off x="762000" y="4381500"/>
            <a:ext cx="2609850" cy="552450"/>
          </a:xfrm>
          <a:prstGeom prst="rect">
            <a:avLst/>
          </a:prstGeom>
          <a:noFill/>
          <a:ln w="0">
            <a:noFill/>
            <a:prstDash val="solid"/>
          </a:ln>
        </p:spPr>
        <p:txBody>
          <a:bodyPr/>
          <a:lstStyle/>
          <a:p>
            <a:pPr algn="l">
              <a:defRPr sz="1050" b="1">
                <a:solidFill>
                  <a:srgbClr val="D6D6D2"/>
                </a:solidFill>
              </a:defRPr>
            </a:pPr>
            <a:r>
              <a:rPr sz="1050" b="1">
                <a:solidFill>
                  <a:srgbClr val="D6D6D2"/>
                </a:solidFill>
              </a:rPr>
              <a:t>Logged model = factual action</a:t>
            </a:r>
          </a:p>
          <a:p>
            <a:pPr algn="l">
              <a:defRPr sz="1050" b="1">
                <a:solidFill>
                  <a:srgbClr val="D6D6D2"/>
                </a:solidFill>
              </a:defRPr>
            </a:pPr>
            <a:r>
              <a:rPr sz="1050" b="1">
                <a:solidFill>
                  <a:srgbClr val="D6D6D2"/>
                </a:solidFill>
              </a:rPr>
              <a:t>Telemetry outcome = quality target</a:t>
            </a:r>
          </a:p>
        </p:txBody>
      </p:sp>
      <p:sp>
        <p:nvSpPr>
          <p:cNvPr id="14" name="Rectangle 13">
            <a:extLst>
              <a:ext uri="{FF2B5EF4-FFF2-40B4-BE49-F238E27FC236}">
                <a16:creationId xmlns:a16="http://schemas.microsoft.com/office/drawing/2014/main" id="{0B227481-903B-48B7-8D17-2F4175933E8F}"/>
              </a:ext>
            </a:extLst>
          </p:cNvPr>
          <p:cNvSpPr>
            <a:spLocks noGrp="1"/>
          </p:cNvSpPr>
          <p:nvPr/>
        </p:nvSpPr>
        <p:spPr>
          <a:xfrm>
            <a:off x="4057650" y="2000250"/>
            <a:ext cx="3143250" cy="228600"/>
          </a:xfrm>
          <a:prstGeom prst="rect">
            <a:avLst/>
          </a:prstGeom>
          <a:noFill/>
          <a:ln w="0">
            <a:noFill/>
            <a:prstDash val="solid"/>
          </a:ln>
        </p:spPr>
        <p:txBody>
          <a:bodyPr/>
          <a:lstStyle/>
          <a:p>
            <a:pPr algn="l">
              <a:defRPr sz="975" b="1">
                <a:solidFill>
                  <a:srgbClr val="555552"/>
                </a:solidFill>
              </a:defRPr>
            </a:pPr>
            <a:r>
              <a:rPr sz="975" b="1">
                <a:solidFill>
                  <a:srgbClr val="555552"/>
                </a:solidFill>
              </a:rPr>
              <a:t>WHY COMPLEXITY FIRST</a:t>
            </a:r>
          </a:p>
        </p:txBody>
      </p:sp>
      <p:sp>
        <p:nvSpPr>
          <p:cNvPr id="15" name="Rectangle 14">
            <a:extLst>
              <a:ext uri="{FF2B5EF4-FFF2-40B4-BE49-F238E27FC236}">
                <a16:creationId xmlns:a16="http://schemas.microsoft.com/office/drawing/2014/main" id="{5066E38A-8073-4A9F-B6F6-6B9513961EDE}"/>
              </a:ext>
            </a:extLst>
          </p:cNvPr>
          <p:cNvSpPr>
            <a:spLocks noGrp="1"/>
          </p:cNvSpPr>
          <p:nvPr/>
        </p:nvSpPr>
        <p:spPr>
          <a:xfrm>
            <a:off x="4057650" y="2362200"/>
            <a:ext cx="7105650" cy="552450"/>
          </a:xfrm>
          <a:prstGeom prst="rect">
            <a:avLst/>
          </a:prstGeom>
          <a:noFill/>
          <a:ln w="0">
            <a:noFill/>
            <a:prstDash val="solid"/>
          </a:ln>
        </p:spPr>
        <p:txBody>
          <a:bodyPr/>
          <a:lstStyle/>
          <a:p>
            <a:pPr algn="l">
              <a:defRPr sz="1725" b="1">
                <a:solidFill>
                  <a:srgbClr val="0B0B0B"/>
                </a:solidFill>
              </a:defRPr>
            </a:pPr>
            <a:r>
              <a:rPr sz="1725" b="1">
                <a:solidFill>
                  <a:srgbClr val="0B0B0B"/>
                </a:solidFill>
              </a:rPr>
              <a:t>A direct model-ID classifier mainly reproduces the incumbent assignment pattern.</a:t>
            </a:r>
          </a:p>
        </p:txBody>
      </p:sp>
      <p:sp>
        <p:nvSpPr>
          <p:cNvPr id="16" name="Rectangle 15">
            <a:extLst>
              <a:ext uri="{FF2B5EF4-FFF2-40B4-BE49-F238E27FC236}">
                <a16:creationId xmlns:a16="http://schemas.microsoft.com/office/drawing/2014/main" id="{23D7B03C-CE25-402F-9E2A-F44EC4446607}"/>
              </a:ext>
            </a:extLst>
          </p:cNvPr>
          <p:cNvSpPr>
            <a:spLocks noGrp="1"/>
          </p:cNvSpPr>
          <p:nvPr/>
        </p:nvSpPr>
        <p:spPr>
          <a:xfrm>
            <a:off x="4057650" y="3009900"/>
            <a:ext cx="7105650" cy="704850"/>
          </a:xfrm>
          <a:prstGeom prst="rect">
            <a:avLst/>
          </a:prstGeom>
          <a:noFill/>
          <a:ln w="0">
            <a:noFill/>
            <a:prstDash val="solid"/>
          </a:ln>
        </p:spPr>
        <p:txBody>
          <a:bodyPr/>
          <a:lstStyle/>
          <a:p>
            <a:pPr algn="l">
              <a:defRPr sz="1350" b="0">
                <a:solidFill>
                  <a:srgbClr val="555552"/>
                </a:solidFill>
              </a:defRPr>
            </a:pPr>
            <a:r>
              <a:rPr sz="1350" b="0">
                <a:solidFill>
                  <a:srgbClr val="555552"/>
                </a:solidFill>
              </a:rPr>
              <a:t>The complexity score describes the trajectory before a candidate is selected. That same score can then be combined with task category, model capability, support, and assumed cost.</a:t>
            </a:r>
          </a:p>
        </p:txBody>
      </p:sp>
      <p:sp>
        <p:nvSpPr>
          <p:cNvPr id="17" name="Rounded Rectangle 16">
            <a:extLst>
              <a:ext uri="{FF2B5EF4-FFF2-40B4-BE49-F238E27FC236}">
                <a16:creationId xmlns:a16="http://schemas.microsoft.com/office/drawing/2014/main" id="{665D0847-78A2-4A89-8BEA-7DE6F0E78516}"/>
              </a:ext>
            </a:extLst>
          </p:cNvPr>
          <p:cNvSpPr>
            <a:spLocks noGrp="1"/>
          </p:cNvSpPr>
          <p:nvPr/>
        </p:nvSpPr>
        <p:spPr>
          <a:xfrm>
            <a:off x="4057650" y="4000500"/>
            <a:ext cx="3295650" cy="1581150"/>
          </a:xfrm>
          <a:prstGeom prst="roundRect">
            <a:avLst>
              <a:gd name="adj" fmla="val 3012"/>
            </a:avLst>
          </a:prstGeom>
          <a:solidFill>
            <a:srgbClr val="FFFFFF"/>
          </a:solidFill>
          <a:ln w="9525">
            <a:solidFill>
              <a:srgbClr val="A4A49E"/>
            </a:solidFill>
            <a:prstDash val="solid"/>
          </a:ln>
        </p:spPr>
        <p:txBody>
          <a:bodyPr/>
          <a:lstStyle/>
          <a:p>
            <a:endParaRPr lang="en-DE"/>
          </a:p>
        </p:txBody>
      </p:sp>
      <p:sp>
        <p:nvSpPr>
          <p:cNvPr id="18" name="Rectangle 17">
            <a:extLst>
              <a:ext uri="{FF2B5EF4-FFF2-40B4-BE49-F238E27FC236}">
                <a16:creationId xmlns:a16="http://schemas.microsoft.com/office/drawing/2014/main" id="{08380E4B-A387-4185-A52B-961E5D3262C7}"/>
              </a:ext>
            </a:extLst>
          </p:cNvPr>
          <p:cNvSpPr>
            <a:spLocks noGrp="1"/>
          </p:cNvSpPr>
          <p:nvPr/>
        </p:nvSpPr>
        <p:spPr>
          <a:xfrm>
            <a:off x="4267200" y="4210050"/>
            <a:ext cx="2876550" cy="209550"/>
          </a:xfrm>
          <a:prstGeom prst="rect">
            <a:avLst/>
          </a:prstGeom>
          <a:noFill/>
          <a:ln w="0">
            <a:noFill/>
            <a:prstDash val="solid"/>
          </a:ln>
        </p:spPr>
        <p:txBody>
          <a:bodyPr/>
          <a:lstStyle/>
          <a:p>
            <a:pPr algn="l">
              <a:defRPr sz="900" b="1">
                <a:solidFill>
                  <a:srgbClr val="555552"/>
                </a:solidFill>
              </a:defRPr>
            </a:pPr>
            <a:r>
              <a:rPr sz="900" b="1">
                <a:solidFill>
                  <a:srgbClr val="555552"/>
                </a:solidFill>
              </a:rPr>
              <a:t>ITERATION 1 / DETERMINISTIC</a:t>
            </a:r>
          </a:p>
        </p:txBody>
      </p:sp>
      <p:sp>
        <p:nvSpPr>
          <p:cNvPr id="19" name="Rectangle 18">
            <a:extLst>
              <a:ext uri="{FF2B5EF4-FFF2-40B4-BE49-F238E27FC236}">
                <a16:creationId xmlns:a16="http://schemas.microsoft.com/office/drawing/2014/main" id="{C5EB8057-30B2-4900-BBF9-901773378849}"/>
              </a:ext>
            </a:extLst>
          </p:cNvPr>
          <p:cNvSpPr>
            <a:spLocks noGrp="1"/>
          </p:cNvSpPr>
          <p:nvPr/>
        </p:nvSpPr>
        <p:spPr>
          <a:xfrm>
            <a:off x="4267200" y="4552950"/>
            <a:ext cx="2876550" cy="514350"/>
          </a:xfrm>
          <a:prstGeom prst="rect">
            <a:avLst/>
          </a:prstGeom>
          <a:noFill/>
          <a:ln w="0">
            <a:noFill/>
            <a:prstDash val="solid"/>
          </a:ln>
        </p:spPr>
        <p:txBody>
          <a:bodyPr/>
          <a:lstStyle/>
          <a:p>
            <a:pPr algn="l">
              <a:defRPr sz="1425" b="1">
                <a:solidFill>
                  <a:srgbClr val="0B0B0B"/>
                </a:solidFill>
              </a:defRPr>
            </a:pPr>
            <a:r>
              <a:rPr sz="1425" b="1">
                <a:solidFill>
                  <a:srgbClr val="0B0B0B"/>
                </a:solidFill>
              </a:rPr>
              <a:t>Complexity bucket + task category + benchmark priors</a:t>
            </a:r>
          </a:p>
        </p:txBody>
      </p:sp>
      <p:sp>
        <p:nvSpPr>
          <p:cNvPr id="20" name="Rectangle 19">
            <a:extLst>
              <a:ext uri="{FF2B5EF4-FFF2-40B4-BE49-F238E27FC236}">
                <a16:creationId xmlns:a16="http://schemas.microsoft.com/office/drawing/2014/main" id="{03CFFB83-80FB-4E52-9E73-F0695E562ADA}"/>
              </a:ext>
            </a:extLst>
          </p:cNvPr>
          <p:cNvSpPr>
            <a:spLocks noGrp="1"/>
          </p:cNvSpPr>
          <p:nvPr/>
        </p:nvSpPr>
        <p:spPr>
          <a:xfrm>
            <a:off x="4267200" y="5200650"/>
            <a:ext cx="2876550" cy="209550"/>
          </a:xfrm>
          <a:prstGeom prst="rect">
            <a:avLst/>
          </a:prstGeom>
          <a:noFill/>
          <a:ln w="0">
            <a:noFill/>
            <a:prstDash val="solid"/>
          </a:ln>
        </p:spPr>
        <p:txBody>
          <a:bodyPr/>
          <a:lstStyle/>
          <a:p>
            <a:pPr algn="l">
              <a:defRPr sz="1125" b="0">
                <a:solidFill>
                  <a:srgbClr val="555552"/>
                </a:solidFill>
              </a:defRPr>
            </a:pPr>
            <a:r>
              <a:rPr sz="1125" b="0">
                <a:solidFill>
                  <a:srgbClr val="555552"/>
                </a:solidFill>
              </a:rPr>
              <a:t>Fixed model mapping</a:t>
            </a:r>
          </a:p>
        </p:txBody>
      </p:sp>
      <p:sp>
        <p:nvSpPr>
          <p:cNvPr id="21" name="Rounded Rectangle 20">
            <a:extLst>
              <a:ext uri="{FF2B5EF4-FFF2-40B4-BE49-F238E27FC236}">
                <a16:creationId xmlns:a16="http://schemas.microsoft.com/office/drawing/2014/main" id="{9BC84916-816C-4606-977A-DE537E553A3E}"/>
              </a:ext>
            </a:extLst>
          </p:cNvPr>
          <p:cNvSpPr>
            <a:spLocks noGrp="1"/>
          </p:cNvSpPr>
          <p:nvPr/>
        </p:nvSpPr>
        <p:spPr>
          <a:xfrm>
            <a:off x="7600950" y="4000500"/>
            <a:ext cx="3562350" cy="1581150"/>
          </a:xfrm>
          <a:prstGeom prst="roundRect">
            <a:avLst>
              <a:gd name="adj" fmla="val 3012"/>
            </a:avLst>
          </a:prstGeom>
          <a:solidFill>
            <a:srgbClr val="E9E9E5"/>
          </a:solidFill>
          <a:ln w="9525">
            <a:solidFill>
              <a:srgbClr val="0B0B0B"/>
            </a:solidFill>
            <a:prstDash val="solid"/>
          </a:ln>
        </p:spPr>
        <p:txBody>
          <a:bodyPr/>
          <a:lstStyle/>
          <a:p>
            <a:endParaRPr lang="en-DE"/>
          </a:p>
        </p:txBody>
      </p:sp>
      <p:sp>
        <p:nvSpPr>
          <p:cNvPr id="22" name="Rectangle 21">
            <a:extLst>
              <a:ext uri="{FF2B5EF4-FFF2-40B4-BE49-F238E27FC236}">
                <a16:creationId xmlns:a16="http://schemas.microsoft.com/office/drawing/2014/main" id="{B48E4FAE-FF29-485C-AA39-A77999A1B485}"/>
              </a:ext>
            </a:extLst>
          </p:cNvPr>
          <p:cNvSpPr>
            <a:spLocks noGrp="1"/>
          </p:cNvSpPr>
          <p:nvPr/>
        </p:nvSpPr>
        <p:spPr>
          <a:xfrm>
            <a:off x="7810500" y="4210050"/>
            <a:ext cx="3105150" cy="209550"/>
          </a:xfrm>
          <a:prstGeom prst="rect">
            <a:avLst/>
          </a:prstGeom>
          <a:noFill/>
          <a:ln w="0">
            <a:noFill/>
            <a:prstDash val="solid"/>
          </a:ln>
        </p:spPr>
        <p:txBody>
          <a:bodyPr/>
          <a:lstStyle/>
          <a:p>
            <a:pPr algn="l">
              <a:defRPr sz="900" b="1">
                <a:solidFill>
                  <a:srgbClr val="555552"/>
                </a:solidFill>
              </a:defRPr>
            </a:pPr>
            <a:r>
              <a:rPr sz="900" b="1">
                <a:solidFill>
                  <a:srgbClr val="555552"/>
                </a:solidFill>
              </a:rPr>
              <a:t>ITERATION 2 / LEARNED</a:t>
            </a:r>
          </a:p>
        </p:txBody>
      </p:sp>
      <p:sp>
        <p:nvSpPr>
          <p:cNvPr id="23" name="Rectangle 22">
            <a:extLst>
              <a:ext uri="{FF2B5EF4-FFF2-40B4-BE49-F238E27FC236}">
                <a16:creationId xmlns:a16="http://schemas.microsoft.com/office/drawing/2014/main" id="{00A4001F-CBC4-4141-9A4F-50C3C45D7B34}"/>
              </a:ext>
            </a:extLst>
          </p:cNvPr>
          <p:cNvSpPr>
            <a:spLocks noGrp="1"/>
          </p:cNvSpPr>
          <p:nvPr/>
        </p:nvSpPr>
        <p:spPr>
          <a:xfrm>
            <a:off x="7810500" y="4552950"/>
            <a:ext cx="3105150" cy="514350"/>
          </a:xfrm>
          <a:prstGeom prst="rect">
            <a:avLst/>
          </a:prstGeom>
          <a:noFill/>
          <a:ln w="0">
            <a:noFill/>
            <a:prstDash val="solid"/>
          </a:ln>
        </p:spPr>
        <p:txBody>
          <a:bodyPr/>
          <a:lstStyle/>
          <a:p>
            <a:pPr algn="l">
              <a:defRPr sz="1425" b="1">
                <a:solidFill>
                  <a:srgbClr val="0B0B0B"/>
                </a:solidFill>
              </a:defRPr>
            </a:pPr>
            <a:r>
              <a:rPr sz="1425" b="1">
                <a:solidFill>
                  <a:srgbClr val="0B0B0B"/>
                </a:solidFill>
              </a:rPr>
              <a:t>Complexity + task features + candidate model</a:t>
            </a:r>
          </a:p>
        </p:txBody>
      </p:sp>
      <p:sp>
        <p:nvSpPr>
          <p:cNvPr id="24" name="Rectangle 23">
            <a:extLst>
              <a:ext uri="{FF2B5EF4-FFF2-40B4-BE49-F238E27FC236}">
                <a16:creationId xmlns:a16="http://schemas.microsoft.com/office/drawing/2014/main" id="{1EC85510-2C57-4846-A7F6-40FB118BA808}"/>
              </a:ext>
            </a:extLst>
          </p:cNvPr>
          <p:cNvSpPr>
            <a:spLocks noGrp="1"/>
          </p:cNvSpPr>
          <p:nvPr/>
        </p:nvSpPr>
        <p:spPr>
          <a:xfrm>
            <a:off x="7810500" y="5200650"/>
            <a:ext cx="3105150" cy="247650"/>
          </a:xfrm>
          <a:prstGeom prst="rect">
            <a:avLst/>
          </a:prstGeom>
          <a:noFill/>
          <a:ln w="0">
            <a:noFill/>
            <a:prstDash val="solid"/>
          </a:ln>
        </p:spPr>
        <p:txBody>
          <a:bodyPr/>
          <a:lstStyle/>
          <a:p>
            <a:pPr algn="l">
              <a:defRPr sz="1125" b="0">
                <a:solidFill>
                  <a:srgbClr val="555552"/>
                </a:solidFill>
              </a:defRPr>
            </a:pPr>
            <a:r>
              <a:rPr sz="1125" b="0">
                <a:solidFill>
                  <a:srgbClr val="555552"/>
                </a:solidFill>
              </a:rPr>
              <a:t>Predict quality → apply support + ε → minimize cost</a:t>
            </a:r>
          </a:p>
        </p:txBody>
      </p:sp>
      <p:sp>
        <p:nvSpPr>
          <p:cNvPr id="25" name="Rectangle 24">
            <a:extLst>
              <a:ext uri="{FF2B5EF4-FFF2-40B4-BE49-F238E27FC236}">
                <a16:creationId xmlns:a16="http://schemas.microsoft.com/office/drawing/2014/main" id="{946EE9F5-0E6F-4C03-83FE-1F626219044A}"/>
              </a:ext>
            </a:extLst>
          </p:cNvPr>
          <p:cNvSpPr>
            <a:spLocks noGrp="1"/>
          </p:cNvSpPr>
          <p:nvPr/>
        </p:nvSpPr>
        <p:spPr>
          <a:xfrm>
            <a:off x="4057650" y="5848350"/>
            <a:ext cx="7105650" cy="266700"/>
          </a:xfrm>
          <a:prstGeom prst="rect">
            <a:avLst/>
          </a:prstGeom>
          <a:noFill/>
          <a:ln w="0">
            <a:noFill/>
            <a:prstDash val="solid"/>
          </a:ln>
        </p:spPr>
        <p:txBody>
          <a:bodyPr/>
          <a:lstStyle/>
          <a:p>
            <a:pPr algn="ctr">
              <a:defRPr sz="975" b="1">
                <a:solidFill>
                  <a:srgbClr val="0B0B0B"/>
                </a:solidFill>
              </a:defRPr>
            </a:pPr>
            <a:r>
              <a:rPr sz="975" b="1">
                <a:solidFill>
                  <a:srgbClr val="0B0B0B"/>
                </a:solidFill>
              </a:rPr>
              <a:t>OPENING FEATURES  →  WORKLOAD 0–100 + RISK  →  MODEL–TASK QUALITY  →  GUARDED ROUTE</a:t>
            </a:r>
          </a:p>
        </p:txBody>
      </p:sp>
    </p:spTree>
    <p:extLst>
      <p:ext uri="{BB962C8B-B14F-4D97-AF65-F5344CB8AC3E}">
        <p14:creationId xmlns:p14="http://schemas.microsoft.com/office/powerpoint/2010/main" val="1993868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4F2"/>
        </a:solidFill>
        <a:effectLst/>
      </p:bgPr>
    </p:bg>
    <p:spTree>
      <p:nvGrpSpPr>
        <p:cNvPr id="1" name=""/>
        <p:cNvGrpSpPr/>
        <p:nvPr/>
      </p:nvGrpSpPr>
      <p:grpSpPr>
        <a:xfrm>
          <a:off x="0" y="0"/>
          <a:ext cx="0" cy="0"/>
          <a:chOff x="0" y="0"/>
          <a:chExt cx="0" cy="0"/>
        </a:xfrm>
      </p:grpSpPr>
      <p:sp>
        <p:nvSpPr>
          <p:cNvPr id="39" name="page-4">
            <a:extLst>
              <a:ext uri="{FF2B5EF4-FFF2-40B4-BE49-F238E27FC236}">
                <a16:creationId xmlns:a16="http://schemas.microsoft.com/office/drawing/2014/main" id="{4B8F1862-9913-458C-8D10-72F6B76305AE}"/>
              </a:ext>
            </a:extLst>
          </p:cNvPr>
          <p:cNvSpPr>
            <a:spLocks noGrp="1"/>
          </p:cNvSpPr>
          <p:nvPr/>
        </p:nvSpPr>
        <p:spPr>
          <a:xfrm>
            <a:off x="514350" y="285750"/>
            <a:ext cx="400050" cy="209550"/>
          </a:xfrm>
          <a:prstGeom prst="rect">
            <a:avLst/>
          </a:prstGeom>
          <a:noFill/>
          <a:ln w="0">
            <a:noFill/>
            <a:prstDash val="solid"/>
          </a:ln>
        </p:spPr>
        <p:txBody>
          <a:bodyPr/>
          <a:lstStyle/>
          <a:p>
            <a:pPr algn="l">
              <a:defRPr sz="900" b="1">
                <a:solidFill>
                  <a:srgbClr val="555552"/>
                </a:solidFill>
              </a:defRPr>
            </a:pPr>
            <a:r>
              <a:rPr sz="900" b="1">
                <a:solidFill>
                  <a:srgbClr val="555552"/>
                </a:solidFill>
              </a:rPr>
              <a:t>04</a:t>
            </a:r>
          </a:p>
        </p:txBody>
      </p:sp>
      <p:sp>
        <p:nvSpPr>
          <p:cNvPr id="2" name="Straight Connector 1">
            <a:extLst>
              <a:ext uri="{FF2B5EF4-FFF2-40B4-BE49-F238E27FC236}">
                <a16:creationId xmlns:a16="http://schemas.microsoft.com/office/drawing/2014/main" id="{3677430E-A2F4-44B7-BC31-BCC98A6E9613}"/>
              </a:ext>
            </a:extLst>
          </p:cNvPr>
          <p:cNvSpPr>
            <a:spLocks noGrp="1"/>
          </p:cNvSpPr>
          <p:nvPr/>
        </p:nvSpPr>
        <p:spPr>
          <a:xfrm>
            <a:off x="1009650" y="381000"/>
            <a:ext cx="476250" cy="0"/>
          </a:xfrm>
          <a:prstGeom prst="line">
            <a:avLst/>
          </a:prstGeom>
          <a:noFill/>
          <a:ln w="19050">
            <a:solidFill>
              <a:srgbClr val="555552"/>
            </a:solidFill>
            <a:prstDash val="solid"/>
          </a:ln>
        </p:spPr>
        <p:txBody>
          <a:bodyPr/>
          <a:lstStyle/>
          <a:p>
            <a:endParaRPr lang="en-DE"/>
          </a:p>
        </p:txBody>
      </p:sp>
      <p:sp>
        <p:nvSpPr>
          <p:cNvPr id="3" name="section-4">
            <a:extLst>
              <a:ext uri="{FF2B5EF4-FFF2-40B4-BE49-F238E27FC236}">
                <a16:creationId xmlns:a16="http://schemas.microsoft.com/office/drawing/2014/main" id="{4A405CFB-489F-40F5-BA5B-8C75E2DB656F}"/>
              </a:ext>
            </a:extLst>
          </p:cNvPr>
          <p:cNvSpPr>
            <a:spLocks noGrp="1"/>
          </p:cNvSpPr>
          <p:nvPr/>
        </p:nvSpPr>
        <p:spPr>
          <a:xfrm>
            <a:off x="1676400" y="285750"/>
            <a:ext cx="4000500" cy="228600"/>
          </a:xfrm>
          <a:prstGeom prst="rect">
            <a:avLst/>
          </a:prstGeom>
          <a:noFill/>
          <a:ln w="0">
            <a:noFill/>
            <a:prstDash val="solid"/>
          </a:ln>
        </p:spPr>
        <p:txBody>
          <a:bodyPr/>
          <a:lstStyle/>
          <a:p>
            <a:pPr algn="l">
              <a:defRPr sz="900" b="1">
                <a:solidFill>
                  <a:srgbClr val="555552"/>
                </a:solidFill>
              </a:defRPr>
            </a:pPr>
            <a:r>
              <a:rPr sz="900" b="1">
                <a:solidFill>
                  <a:srgbClr val="555552"/>
                </a:solidFill>
              </a:rPr>
              <a:t>HIGH-LEVEL ROUTER</a:t>
            </a:r>
          </a:p>
        </p:txBody>
      </p:sp>
      <p:sp>
        <p:nvSpPr>
          <p:cNvPr id="4" name="Straight Connector 3">
            <a:extLst>
              <a:ext uri="{FF2B5EF4-FFF2-40B4-BE49-F238E27FC236}">
                <a16:creationId xmlns:a16="http://schemas.microsoft.com/office/drawing/2014/main" id="{4F1B0FC2-0974-40DE-AD40-8CB15DD9B526}"/>
              </a:ext>
            </a:extLst>
          </p:cNvPr>
          <p:cNvSpPr>
            <a:spLocks noGrp="1"/>
          </p:cNvSpPr>
          <p:nvPr/>
        </p:nvSpPr>
        <p:spPr>
          <a:xfrm>
            <a:off x="514350" y="6496050"/>
            <a:ext cx="11163300" cy="0"/>
          </a:xfrm>
          <a:prstGeom prst="line">
            <a:avLst/>
          </a:prstGeom>
          <a:noFill/>
          <a:ln w="9525">
            <a:solidFill>
              <a:srgbClr val="BEBEB8"/>
            </a:solidFill>
            <a:prstDash val="solid"/>
          </a:ln>
        </p:spPr>
        <p:txBody>
          <a:bodyPr/>
          <a:lstStyle/>
          <a:p>
            <a:endParaRPr lang="en-DE"/>
          </a:p>
        </p:txBody>
      </p:sp>
      <p:sp>
        <p:nvSpPr>
          <p:cNvPr id="5" name="Rectangle 4">
            <a:extLst>
              <a:ext uri="{FF2B5EF4-FFF2-40B4-BE49-F238E27FC236}">
                <a16:creationId xmlns:a16="http://schemas.microsoft.com/office/drawing/2014/main" id="{A84E80FB-297D-4823-BCDB-C176F97603FE}"/>
              </a:ext>
            </a:extLst>
          </p:cNvPr>
          <p:cNvSpPr>
            <a:spLocks noGrp="1"/>
          </p:cNvSpPr>
          <p:nvPr/>
        </p:nvSpPr>
        <p:spPr>
          <a:xfrm>
            <a:off x="514350" y="6572250"/>
            <a:ext cx="3619500" cy="171450"/>
          </a:xfrm>
          <a:prstGeom prst="rect">
            <a:avLst/>
          </a:prstGeom>
          <a:noFill/>
          <a:ln w="0">
            <a:noFill/>
            <a:prstDash val="solid"/>
          </a:ln>
        </p:spPr>
        <p:txBody>
          <a:bodyPr/>
          <a:lstStyle/>
          <a:p>
            <a:pPr algn="l">
              <a:defRPr sz="750" b="1">
                <a:solidFill>
                  <a:srgbClr val="555552"/>
                </a:solidFill>
              </a:defRPr>
            </a:pPr>
            <a:r>
              <a:rPr sz="750" b="1">
                <a:solidFill>
                  <a:srgbClr val="555552"/>
                </a:solidFill>
              </a:rPr>
              <a:t>VIKTOR ROUTER / TUM.AI 2026</a:t>
            </a:r>
          </a:p>
        </p:txBody>
      </p:sp>
      <p:sp>
        <p:nvSpPr>
          <p:cNvPr id="6" name="Rectangle 5">
            <a:extLst>
              <a:ext uri="{FF2B5EF4-FFF2-40B4-BE49-F238E27FC236}">
                <a16:creationId xmlns:a16="http://schemas.microsoft.com/office/drawing/2014/main" id="{EF75E620-1867-4D4C-A2C4-AC7882C6A0DC}"/>
              </a:ext>
            </a:extLst>
          </p:cNvPr>
          <p:cNvSpPr>
            <a:spLocks noGrp="1"/>
          </p:cNvSpPr>
          <p:nvPr/>
        </p:nvSpPr>
        <p:spPr>
          <a:xfrm>
            <a:off x="10191750" y="6572250"/>
            <a:ext cx="1485900" cy="171450"/>
          </a:xfrm>
          <a:prstGeom prst="rect">
            <a:avLst/>
          </a:prstGeom>
          <a:noFill/>
          <a:ln w="0">
            <a:noFill/>
            <a:prstDash val="solid"/>
          </a:ln>
        </p:spPr>
        <p:txBody>
          <a:bodyPr/>
          <a:lstStyle/>
          <a:p>
            <a:pPr algn="r">
              <a:defRPr sz="750" b="1">
                <a:solidFill>
                  <a:srgbClr val="555552"/>
                </a:solidFill>
              </a:defRPr>
            </a:pPr>
            <a:r>
              <a:rPr sz="750" b="1">
                <a:solidFill>
                  <a:srgbClr val="555552"/>
                </a:solidFill>
              </a:rPr>
              <a:t>4 / 14</a:t>
            </a:r>
          </a:p>
        </p:txBody>
      </p:sp>
      <p:sp>
        <p:nvSpPr>
          <p:cNvPr id="7" name="slide-title">
            <a:extLst>
              <a:ext uri="{FF2B5EF4-FFF2-40B4-BE49-F238E27FC236}">
                <a16:creationId xmlns:a16="http://schemas.microsoft.com/office/drawing/2014/main" id="{8210874E-76E0-4CBA-8C9E-D886D08E45B6}"/>
              </a:ext>
            </a:extLst>
          </p:cNvPr>
          <p:cNvSpPr>
            <a:spLocks noGrp="1"/>
          </p:cNvSpPr>
          <p:nvPr/>
        </p:nvSpPr>
        <p:spPr>
          <a:xfrm>
            <a:off x="514350" y="704850"/>
            <a:ext cx="11163300" cy="685800"/>
          </a:xfrm>
          <a:prstGeom prst="rect">
            <a:avLst/>
          </a:prstGeom>
          <a:noFill/>
          <a:ln w="0">
            <a:noFill/>
            <a:prstDash val="solid"/>
          </a:ln>
        </p:spPr>
        <p:txBody>
          <a:bodyPr/>
          <a:lstStyle/>
          <a:p>
            <a:pPr algn="l">
              <a:defRPr sz="3000" b="1">
                <a:solidFill>
                  <a:srgbClr val="0B0B0B"/>
                </a:solidFill>
              </a:defRPr>
            </a:pPr>
            <a:r>
              <a:rPr sz="3000" b="1">
                <a:solidFill>
                  <a:srgbClr val="0B0B0B"/>
                </a:solidFill>
              </a:rPr>
              <a:t>The router makes four explicit decisions.</a:t>
            </a:r>
          </a:p>
        </p:txBody>
      </p:sp>
      <p:sp>
        <p:nvSpPr>
          <p:cNvPr id="8" name="slide-subtitle">
            <a:extLst>
              <a:ext uri="{FF2B5EF4-FFF2-40B4-BE49-F238E27FC236}">
                <a16:creationId xmlns:a16="http://schemas.microsoft.com/office/drawing/2014/main" id="{DA436D1E-57F0-4FE7-971F-0F90B8F4BEAC}"/>
              </a:ext>
            </a:extLst>
          </p:cNvPr>
          <p:cNvSpPr>
            <a:spLocks noGrp="1"/>
          </p:cNvSpPr>
          <p:nvPr/>
        </p:nvSpPr>
        <p:spPr>
          <a:xfrm>
            <a:off x="533400" y="1371600"/>
            <a:ext cx="10668000" cy="342900"/>
          </a:xfrm>
          <a:prstGeom prst="rect">
            <a:avLst/>
          </a:prstGeom>
          <a:noFill/>
          <a:ln w="0">
            <a:noFill/>
            <a:prstDash val="solid"/>
          </a:ln>
        </p:spPr>
        <p:txBody>
          <a:bodyPr/>
          <a:lstStyle/>
          <a:p>
            <a:pPr algn="l">
              <a:defRPr sz="1350" b="0">
                <a:solidFill>
                  <a:srgbClr val="555552"/>
                </a:solidFill>
              </a:defRPr>
            </a:pPr>
            <a:r>
              <a:rPr sz="1350" b="0">
                <a:solidFill>
                  <a:srgbClr val="555552"/>
                </a:solidFill>
              </a:rPr>
              <a:t>Every stage has a named input, an inspectable output, and a deterministic fallback.</a:t>
            </a:r>
          </a:p>
        </p:txBody>
      </p:sp>
      <p:sp>
        <p:nvSpPr>
          <p:cNvPr id="10" name="Rectangle 9">
            <a:extLst>
              <a:ext uri="{FF2B5EF4-FFF2-40B4-BE49-F238E27FC236}">
                <a16:creationId xmlns:a16="http://schemas.microsoft.com/office/drawing/2014/main" id="{CCAFD39F-5D3C-48FC-AFA8-C635ACB9AD1B}"/>
              </a:ext>
            </a:extLst>
          </p:cNvPr>
          <p:cNvSpPr>
            <a:spLocks noGrp="1"/>
          </p:cNvSpPr>
          <p:nvPr/>
        </p:nvSpPr>
        <p:spPr>
          <a:xfrm>
            <a:off x="2762250" y="3133725"/>
            <a:ext cx="457200" cy="323850"/>
          </a:xfrm>
          <a:prstGeom prst="rect">
            <a:avLst/>
          </a:prstGeom>
          <a:noFill/>
          <a:ln w="0">
            <a:noFill/>
            <a:prstDash val="solid"/>
          </a:ln>
        </p:spPr>
        <p:txBody>
          <a:bodyPr/>
          <a:lstStyle/>
          <a:p>
            <a:pPr algn="ctr">
              <a:defRPr sz="1950" b="1">
                <a:solidFill>
                  <a:srgbClr val="0B0B0B"/>
                </a:solidFill>
              </a:defRPr>
            </a:pPr>
            <a:r>
              <a:rPr sz="1950" b="1">
                <a:solidFill>
                  <a:srgbClr val="0B0B0B"/>
                </a:solidFill>
              </a:rPr>
              <a:t>→</a:t>
            </a:r>
          </a:p>
        </p:txBody>
      </p:sp>
      <p:sp>
        <p:nvSpPr>
          <p:cNvPr id="12" name="Rectangle 11">
            <a:extLst>
              <a:ext uri="{FF2B5EF4-FFF2-40B4-BE49-F238E27FC236}">
                <a16:creationId xmlns:a16="http://schemas.microsoft.com/office/drawing/2014/main" id="{521C4F6B-304B-4AB4-9D34-BBC9C9BFD78E}"/>
              </a:ext>
            </a:extLst>
          </p:cNvPr>
          <p:cNvSpPr>
            <a:spLocks noGrp="1"/>
          </p:cNvSpPr>
          <p:nvPr/>
        </p:nvSpPr>
        <p:spPr>
          <a:xfrm>
            <a:off x="5353050" y="3133725"/>
            <a:ext cx="457200" cy="323850"/>
          </a:xfrm>
          <a:prstGeom prst="rect">
            <a:avLst/>
          </a:prstGeom>
          <a:noFill/>
          <a:ln w="0">
            <a:noFill/>
            <a:prstDash val="solid"/>
          </a:ln>
        </p:spPr>
        <p:txBody>
          <a:bodyPr/>
          <a:lstStyle/>
          <a:p>
            <a:pPr algn="ctr">
              <a:defRPr sz="1950" b="1">
                <a:solidFill>
                  <a:srgbClr val="0B0B0B"/>
                </a:solidFill>
              </a:defRPr>
            </a:pPr>
            <a:r>
              <a:rPr sz="1950" b="1" dirty="0">
                <a:solidFill>
                  <a:srgbClr val="0B0B0B"/>
                </a:solidFill>
              </a:rPr>
              <a:t>→</a:t>
            </a:r>
          </a:p>
        </p:txBody>
      </p:sp>
      <p:sp>
        <p:nvSpPr>
          <p:cNvPr id="14" name="Rectangle 13">
            <a:extLst>
              <a:ext uri="{FF2B5EF4-FFF2-40B4-BE49-F238E27FC236}">
                <a16:creationId xmlns:a16="http://schemas.microsoft.com/office/drawing/2014/main" id="{5BE163E7-602A-4E16-B09C-D87D2794754D}"/>
              </a:ext>
            </a:extLst>
          </p:cNvPr>
          <p:cNvSpPr>
            <a:spLocks noGrp="1"/>
          </p:cNvSpPr>
          <p:nvPr/>
        </p:nvSpPr>
        <p:spPr>
          <a:xfrm>
            <a:off x="7943850" y="3133725"/>
            <a:ext cx="457200" cy="323850"/>
          </a:xfrm>
          <a:prstGeom prst="rect">
            <a:avLst/>
          </a:prstGeom>
          <a:noFill/>
          <a:ln w="0">
            <a:noFill/>
            <a:prstDash val="solid"/>
          </a:ln>
        </p:spPr>
        <p:txBody>
          <a:bodyPr/>
          <a:lstStyle/>
          <a:p>
            <a:pPr algn="ctr">
              <a:defRPr sz="1950" b="1">
                <a:solidFill>
                  <a:srgbClr val="0B0B0B"/>
                </a:solidFill>
              </a:defRPr>
            </a:pPr>
            <a:r>
              <a:rPr sz="1950" b="1">
                <a:solidFill>
                  <a:srgbClr val="0B0B0B"/>
                </a:solidFill>
              </a:rPr>
              <a:t>→</a:t>
            </a:r>
          </a:p>
        </p:txBody>
      </p:sp>
      <p:sp>
        <p:nvSpPr>
          <p:cNvPr id="15" name="Rounded Rectangle 14">
            <a:extLst>
              <a:ext uri="{FF2B5EF4-FFF2-40B4-BE49-F238E27FC236}">
                <a16:creationId xmlns:a16="http://schemas.microsoft.com/office/drawing/2014/main" id="{B668077D-FB7D-4C02-BAA2-EB000AD2BA6B}"/>
              </a:ext>
            </a:extLst>
          </p:cNvPr>
          <p:cNvSpPr>
            <a:spLocks noGrp="1"/>
          </p:cNvSpPr>
          <p:nvPr/>
        </p:nvSpPr>
        <p:spPr>
          <a:xfrm>
            <a:off x="552450" y="2190750"/>
            <a:ext cx="2247900" cy="2381250"/>
          </a:xfrm>
          <a:prstGeom prst="roundRect">
            <a:avLst>
              <a:gd name="adj" fmla="val 2542"/>
            </a:avLst>
          </a:prstGeom>
          <a:solidFill>
            <a:srgbClr val="FFFFFF"/>
          </a:solidFill>
          <a:ln w="9525">
            <a:solidFill>
              <a:srgbClr val="9D9D98"/>
            </a:solidFill>
            <a:prstDash val="solid"/>
          </a:ln>
        </p:spPr>
        <p:txBody>
          <a:bodyPr/>
          <a:lstStyle/>
          <a:p>
            <a:endParaRPr lang="en-DE"/>
          </a:p>
        </p:txBody>
      </p:sp>
      <p:sp>
        <p:nvSpPr>
          <p:cNvPr id="16" name="Rectangle 15">
            <a:extLst>
              <a:ext uri="{FF2B5EF4-FFF2-40B4-BE49-F238E27FC236}">
                <a16:creationId xmlns:a16="http://schemas.microsoft.com/office/drawing/2014/main" id="{7A6F8C78-74B6-4A57-A0C5-8718FCA82CD8}"/>
              </a:ext>
            </a:extLst>
          </p:cNvPr>
          <p:cNvSpPr>
            <a:spLocks noGrp="1"/>
          </p:cNvSpPr>
          <p:nvPr/>
        </p:nvSpPr>
        <p:spPr>
          <a:xfrm>
            <a:off x="723900" y="2362200"/>
            <a:ext cx="1885950" cy="209550"/>
          </a:xfrm>
          <a:prstGeom prst="rect">
            <a:avLst/>
          </a:prstGeom>
          <a:noFill/>
          <a:ln w="0">
            <a:noFill/>
            <a:prstDash val="solid"/>
          </a:ln>
        </p:spPr>
        <p:txBody>
          <a:bodyPr/>
          <a:lstStyle/>
          <a:p>
            <a:pPr algn="l">
              <a:defRPr sz="900" b="1">
                <a:solidFill>
                  <a:srgbClr val="555552"/>
                </a:solidFill>
              </a:defRPr>
            </a:pPr>
            <a:r>
              <a:rPr sz="900" b="1">
                <a:solidFill>
                  <a:srgbClr val="555552"/>
                </a:solidFill>
              </a:rPr>
              <a:t>01 / OPENING</a:t>
            </a:r>
          </a:p>
        </p:txBody>
      </p:sp>
      <p:sp>
        <p:nvSpPr>
          <p:cNvPr id="17" name="Rectangle 16">
            <a:extLst>
              <a:ext uri="{FF2B5EF4-FFF2-40B4-BE49-F238E27FC236}">
                <a16:creationId xmlns:a16="http://schemas.microsoft.com/office/drawing/2014/main" id="{0C43F621-754B-4B09-8C87-4D0225B03F38}"/>
              </a:ext>
            </a:extLst>
          </p:cNvPr>
          <p:cNvSpPr>
            <a:spLocks noGrp="1"/>
          </p:cNvSpPr>
          <p:nvPr/>
        </p:nvSpPr>
        <p:spPr>
          <a:xfrm>
            <a:off x="723900" y="2781300"/>
            <a:ext cx="1885950" cy="590550"/>
          </a:xfrm>
          <a:prstGeom prst="rect">
            <a:avLst/>
          </a:prstGeom>
          <a:noFill/>
          <a:ln w="0">
            <a:noFill/>
            <a:prstDash val="solid"/>
          </a:ln>
        </p:spPr>
        <p:txBody>
          <a:bodyPr/>
          <a:lstStyle/>
          <a:p>
            <a:pPr algn="l">
              <a:defRPr sz="1800" b="1">
                <a:solidFill>
                  <a:srgbClr val="0B0B0B"/>
                </a:solidFill>
              </a:defRPr>
            </a:pPr>
            <a:r>
              <a:rPr sz="1800" b="1">
                <a:solidFill>
                  <a:srgbClr val="0B0B0B"/>
                </a:solidFill>
              </a:rPr>
              <a:t>Extract structure</a:t>
            </a:r>
          </a:p>
        </p:txBody>
      </p:sp>
      <p:sp>
        <p:nvSpPr>
          <p:cNvPr id="18" name="Straight Connector 17">
            <a:extLst>
              <a:ext uri="{FF2B5EF4-FFF2-40B4-BE49-F238E27FC236}">
                <a16:creationId xmlns:a16="http://schemas.microsoft.com/office/drawing/2014/main" id="{6872A385-C62B-469D-A1F2-07F60D301C10}"/>
              </a:ext>
            </a:extLst>
          </p:cNvPr>
          <p:cNvSpPr>
            <a:spLocks noGrp="1"/>
          </p:cNvSpPr>
          <p:nvPr/>
        </p:nvSpPr>
        <p:spPr>
          <a:xfrm>
            <a:off x="723900" y="3543300"/>
            <a:ext cx="1885950" cy="0"/>
          </a:xfrm>
          <a:prstGeom prst="line">
            <a:avLst/>
          </a:prstGeom>
          <a:noFill/>
          <a:ln w="9525">
            <a:solidFill>
              <a:srgbClr val="B8B8B2"/>
            </a:solidFill>
            <a:prstDash val="solid"/>
          </a:ln>
        </p:spPr>
        <p:txBody>
          <a:bodyPr/>
          <a:lstStyle/>
          <a:p>
            <a:endParaRPr lang="en-DE"/>
          </a:p>
        </p:txBody>
      </p:sp>
      <p:sp>
        <p:nvSpPr>
          <p:cNvPr id="19" name="Rectangle 18">
            <a:extLst>
              <a:ext uri="{FF2B5EF4-FFF2-40B4-BE49-F238E27FC236}">
                <a16:creationId xmlns:a16="http://schemas.microsoft.com/office/drawing/2014/main" id="{71F04260-3B75-4A36-B6AA-7C3D2F79FE68}"/>
              </a:ext>
            </a:extLst>
          </p:cNvPr>
          <p:cNvSpPr>
            <a:spLocks noGrp="1"/>
          </p:cNvSpPr>
          <p:nvPr/>
        </p:nvSpPr>
        <p:spPr>
          <a:xfrm>
            <a:off x="723900" y="3733800"/>
            <a:ext cx="1885950" cy="685800"/>
          </a:xfrm>
          <a:prstGeom prst="rect">
            <a:avLst/>
          </a:prstGeom>
          <a:noFill/>
          <a:ln w="0">
            <a:noFill/>
            <a:prstDash val="solid"/>
          </a:ln>
        </p:spPr>
        <p:txBody>
          <a:bodyPr/>
          <a:lstStyle/>
          <a:p>
            <a:pPr algn="l">
              <a:defRPr sz="1200" b="0">
                <a:solidFill>
                  <a:srgbClr val="555552"/>
                </a:solidFill>
              </a:defRPr>
            </a:pPr>
            <a:r>
              <a:rPr sz="1200" b="0">
                <a:solidFill>
                  <a:srgbClr val="555552"/>
                </a:solidFill>
              </a:rPr>
              <a:t>Prompt size · task flags · tools · sanitized TF-IDF</a:t>
            </a:r>
          </a:p>
        </p:txBody>
      </p:sp>
      <p:sp>
        <p:nvSpPr>
          <p:cNvPr id="20" name="Rounded Rectangle 19">
            <a:extLst>
              <a:ext uri="{FF2B5EF4-FFF2-40B4-BE49-F238E27FC236}">
                <a16:creationId xmlns:a16="http://schemas.microsoft.com/office/drawing/2014/main" id="{A17C4BB2-97DE-4B11-8481-FEACA470A2B7}"/>
              </a:ext>
            </a:extLst>
          </p:cNvPr>
          <p:cNvSpPr>
            <a:spLocks noGrp="1"/>
          </p:cNvSpPr>
          <p:nvPr/>
        </p:nvSpPr>
        <p:spPr>
          <a:xfrm>
            <a:off x="3143250" y="2190750"/>
            <a:ext cx="2247900" cy="2381250"/>
          </a:xfrm>
          <a:prstGeom prst="roundRect">
            <a:avLst>
              <a:gd name="adj" fmla="val 2542"/>
            </a:avLst>
          </a:prstGeom>
          <a:solidFill>
            <a:srgbClr val="FFFFFF"/>
          </a:solidFill>
          <a:ln w="9525">
            <a:solidFill>
              <a:srgbClr val="9D9D98"/>
            </a:solidFill>
            <a:prstDash val="solid"/>
          </a:ln>
        </p:spPr>
        <p:txBody>
          <a:bodyPr/>
          <a:lstStyle/>
          <a:p>
            <a:endParaRPr lang="en-DE"/>
          </a:p>
        </p:txBody>
      </p:sp>
      <p:sp>
        <p:nvSpPr>
          <p:cNvPr id="21" name="Rectangle 20">
            <a:extLst>
              <a:ext uri="{FF2B5EF4-FFF2-40B4-BE49-F238E27FC236}">
                <a16:creationId xmlns:a16="http://schemas.microsoft.com/office/drawing/2014/main" id="{6D89E42C-9CA8-480E-A99A-D298F375587C}"/>
              </a:ext>
            </a:extLst>
          </p:cNvPr>
          <p:cNvSpPr>
            <a:spLocks noGrp="1"/>
          </p:cNvSpPr>
          <p:nvPr/>
        </p:nvSpPr>
        <p:spPr>
          <a:xfrm>
            <a:off x="3314700" y="2362200"/>
            <a:ext cx="1885950" cy="209550"/>
          </a:xfrm>
          <a:prstGeom prst="rect">
            <a:avLst/>
          </a:prstGeom>
          <a:noFill/>
          <a:ln w="0">
            <a:noFill/>
            <a:prstDash val="solid"/>
          </a:ln>
        </p:spPr>
        <p:txBody>
          <a:bodyPr/>
          <a:lstStyle/>
          <a:p>
            <a:pPr algn="l">
              <a:defRPr sz="900" b="1">
                <a:solidFill>
                  <a:srgbClr val="555552"/>
                </a:solidFill>
              </a:defRPr>
            </a:pPr>
            <a:r>
              <a:rPr sz="900" b="1">
                <a:solidFill>
                  <a:srgbClr val="555552"/>
                </a:solidFill>
              </a:rPr>
              <a:t>02 / WORKLOAD + RISK</a:t>
            </a:r>
          </a:p>
        </p:txBody>
      </p:sp>
      <p:sp>
        <p:nvSpPr>
          <p:cNvPr id="22" name="Rectangle 21">
            <a:extLst>
              <a:ext uri="{FF2B5EF4-FFF2-40B4-BE49-F238E27FC236}">
                <a16:creationId xmlns:a16="http://schemas.microsoft.com/office/drawing/2014/main" id="{AED8EB58-2DA9-4B94-9509-30B02437C4E3}"/>
              </a:ext>
            </a:extLst>
          </p:cNvPr>
          <p:cNvSpPr>
            <a:spLocks noGrp="1"/>
          </p:cNvSpPr>
          <p:nvPr/>
        </p:nvSpPr>
        <p:spPr>
          <a:xfrm>
            <a:off x="3314700" y="2781300"/>
            <a:ext cx="1885950" cy="590550"/>
          </a:xfrm>
          <a:prstGeom prst="rect">
            <a:avLst/>
          </a:prstGeom>
          <a:noFill/>
          <a:ln w="0">
            <a:noFill/>
            <a:prstDash val="solid"/>
          </a:ln>
        </p:spPr>
        <p:txBody>
          <a:bodyPr/>
          <a:lstStyle/>
          <a:p>
            <a:pPr algn="l">
              <a:defRPr sz="1800" b="1">
                <a:solidFill>
                  <a:srgbClr val="0B0B0B"/>
                </a:solidFill>
              </a:defRPr>
            </a:pPr>
            <a:r>
              <a:rPr sz="1800" b="1">
                <a:solidFill>
                  <a:srgbClr val="0B0B0B"/>
                </a:solidFill>
              </a:rPr>
              <a:t>Predict execution</a:t>
            </a:r>
          </a:p>
        </p:txBody>
      </p:sp>
      <p:sp>
        <p:nvSpPr>
          <p:cNvPr id="23" name="Straight Connector 22">
            <a:extLst>
              <a:ext uri="{FF2B5EF4-FFF2-40B4-BE49-F238E27FC236}">
                <a16:creationId xmlns:a16="http://schemas.microsoft.com/office/drawing/2014/main" id="{5994169C-CC15-4896-854F-07C084536139}"/>
              </a:ext>
            </a:extLst>
          </p:cNvPr>
          <p:cNvSpPr>
            <a:spLocks noGrp="1"/>
          </p:cNvSpPr>
          <p:nvPr/>
        </p:nvSpPr>
        <p:spPr>
          <a:xfrm>
            <a:off x="3314700" y="3543300"/>
            <a:ext cx="1885950" cy="0"/>
          </a:xfrm>
          <a:prstGeom prst="line">
            <a:avLst/>
          </a:prstGeom>
          <a:noFill/>
          <a:ln w="9525">
            <a:solidFill>
              <a:srgbClr val="B8B8B2"/>
            </a:solidFill>
            <a:prstDash val="solid"/>
          </a:ln>
        </p:spPr>
        <p:txBody>
          <a:bodyPr/>
          <a:lstStyle/>
          <a:p>
            <a:endParaRPr lang="en-DE"/>
          </a:p>
        </p:txBody>
      </p:sp>
      <p:sp>
        <p:nvSpPr>
          <p:cNvPr id="24" name="Rectangle 23">
            <a:extLst>
              <a:ext uri="{FF2B5EF4-FFF2-40B4-BE49-F238E27FC236}">
                <a16:creationId xmlns:a16="http://schemas.microsoft.com/office/drawing/2014/main" id="{6FC885FD-B0BA-48F5-9475-5D0BA97C2235}"/>
              </a:ext>
            </a:extLst>
          </p:cNvPr>
          <p:cNvSpPr>
            <a:spLocks noGrp="1"/>
          </p:cNvSpPr>
          <p:nvPr/>
        </p:nvSpPr>
        <p:spPr>
          <a:xfrm>
            <a:off x="3314700" y="3733800"/>
            <a:ext cx="1885950" cy="685800"/>
          </a:xfrm>
          <a:prstGeom prst="rect">
            <a:avLst/>
          </a:prstGeom>
          <a:noFill/>
          <a:ln w="0">
            <a:noFill/>
            <a:prstDash val="solid"/>
          </a:ln>
        </p:spPr>
        <p:txBody>
          <a:bodyPr/>
          <a:lstStyle/>
          <a:p>
            <a:pPr algn="l">
              <a:defRPr sz="1200" b="0">
                <a:solidFill>
                  <a:srgbClr val="555552"/>
                </a:solidFill>
              </a:defRPr>
            </a:pPr>
            <a:r>
              <a:rPr sz="1200" b="0">
                <a:solidFill>
                  <a:srgbClr val="555552"/>
                </a:solidFill>
              </a:rPr>
              <a:t>Ridge heads output workload 0–100 and failure risk 0–1</a:t>
            </a:r>
          </a:p>
        </p:txBody>
      </p:sp>
      <p:sp>
        <p:nvSpPr>
          <p:cNvPr id="25" name="Rounded Rectangle 24">
            <a:extLst>
              <a:ext uri="{FF2B5EF4-FFF2-40B4-BE49-F238E27FC236}">
                <a16:creationId xmlns:a16="http://schemas.microsoft.com/office/drawing/2014/main" id="{9ABB37D9-671A-4773-B0C8-B5A534298E33}"/>
              </a:ext>
            </a:extLst>
          </p:cNvPr>
          <p:cNvSpPr>
            <a:spLocks noGrp="1"/>
          </p:cNvSpPr>
          <p:nvPr/>
        </p:nvSpPr>
        <p:spPr>
          <a:xfrm>
            <a:off x="5734050" y="2190750"/>
            <a:ext cx="2247900" cy="2381250"/>
          </a:xfrm>
          <a:prstGeom prst="roundRect">
            <a:avLst>
              <a:gd name="adj" fmla="val 2542"/>
            </a:avLst>
          </a:prstGeom>
          <a:solidFill>
            <a:srgbClr val="FFFFFF"/>
          </a:solidFill>
          <a:ln w="9525">
            <a:solidFill>
              <a:srgbClr val="9D9D98"/>
            </a:solidFill>
            <a:prstDash val="solid"/>
          </a:ln>
        </p:spPr>
        <p:txBody>
          <a:bodyPr/>
          <a:lstStyle/>
          <a:p>
            <a:endParaRPr lang="en-DE"/>
          </a:p>
        </p:txBody>
      </p:sp>
      <p:sp>
        <p:nvSpPr>
          <p:cNvPr id="26" name="Rectangle 25">
            <a:extLst>
              <a:ext uri="{FF2B5EF4-FFF2-40B4-BE49-F238E27FC236}">
                <a16:creationId xmlns:a16="http://schemas.microsoft.com/office/drawing/2014/main" id="{3F7ECFAD-227B-478D-9557-ABF61B449FC4}"/>
              </a:ext>
            </a:extLst>
          </p:cNvPr>
          <p:cNvSpPr>
            <a:spLocks noGrp="1"/>
          </p:cNvSpPr>
          <p:nvPr/>
        </p:nvSpPr>
        <p:spPr>
          <a:xfrm>
            <a:off x="5905500" y="2362200"/>
            <a:ext cx="1885950" cy="209550"/>
          </a:xfrm>
          <a:prstGeom prst="rect">
            <a:avLst/>
          </a:prstGeom>
          <a:noFill/>
          <a:ln w="0">
            <a:noFill/>
            <a:prstDash val="solid"/>
          </a:ln>
        </p:spPr>
        <p:txBody>
          <a:bodyPr/>
          <a:lstStyle/>
          <a:p>
            <a:pPr algn="l">
              <a:defRPr sz="900" b="1">
                <a:solidFill>
                  <a:srgbClr val="555552"/>
                </a:solidFill>
              </a:defRPr>
            </a:pPr>
            <a:r>
              <a:rPr sz="900" b="1">
                <a:solidFill>
                  <a:srgbClr val="555552"/>
                </a:solidFill>
              </a:rPr>
              <a:t>03 / QUALITY BY MODEL</a:t>
            </a:r>
          </a:p>
        </p:txBody>
      </p:sp>
      <p:sp>
        <p:nvSpPr>
          <p:cNvPr id="27" name="Rectangle 26">
            <a:extLst>
              <a:ext uri="{FF2B5EF4-FFF2-40B4-BE49-F238E27FC236}">
                <a16:creationId xmlns:a16="http://schemas.microsoft.com/office/drawing/2014/main" id="{B927D2F6-D29C-4F3F-A565-E82B24AD05FC}"/>
              </a:ext>
            </a:extLst>
          </p:cNvPr>
          <p:cNvSpPr>
            <a:spLocks noGrp="1"/>
          </p:cNvSpPr>
          <p:nvPr/>
        </p:nvSpPr>
        <p:spPr>
          <a:xfrm>
            <a:off x="5905500" y="2781300"/>
            <a:ext cx="1885950" cy="590550"/>
          </a:xfrm>
          <a:prstGeom prst="rect">
            <a:avLst/>
          </a:prstGeom>
          <a:noFill/>
          <a:ln w="0">
            <a:noFill/>
            <a:prstDash val="solid"/>
          </a:ln>
        </p:spPr>
        <p:txBody>
          <a:bodyPr/>
          <a:lstStyle/>
          <a:p>
            <a:pPr algn="l">
              <a:defRPr sz="1800" b="1">
                <a:solidFill>
                  <a:srgbClr val="0B0B0B"/>
                </a:solidFill>
              </a:defRPr>
            </a:pPr>
            <a:r>
              <a:rPr sz="1800" b="1">
                <a:solidFill>
                  <a:srgbClr val="0B0B0B"/>
                </a:solidFill>
              </a:rPr>
              <a:t>Score candidates</a:t>
            </a:r>
          </a:p>
        </p:txBody>
      </p:sp>
      <p:sp>
        <p:nvSpPr>
          <p:cNvPr id="28" name="Straight Connector 27">
            <a:extLst>
              <a:ext uri="{FF2B5EF4-FFF2-40B4-BE49-F238E27FC236}">
                <a16:creationId xmlns:a16="http://schemas.microsoft.com/office/drawing/2014/main" id="{91BBFFE6-36C1-4167-8746-E78C4034D895}"/>
              </a:ext>
            </a:extLst>
          </p:cNvPr>
          <p:cNvSpPr>
            <a:spLocks noGrp="1"/>
          </p:cNvSpPr>
          <p:nvPr/>
        </p:nvSpPr>
        <p:spPr>
          <a:xfrm>
            <a:off x="5905500" y="3543300"/>
            <a:ext cx="1885950" cy="0"/>
          </a:xfrm>
          <a:prstGeom prst="line">
            <a:avLst/>
          </a:prstGeom>
          <a:noFill/>
          <a:ln w="9525">
            <a:solidFill>
              <a:srgbClr val="B8B8B2"/>
            </a:solidFill>
            <a:prstDash val="solid"/>
          </a:ln>
        </p:spPr>
        <p:txBody>
          <a:bodyPr/>
          <a:lstStyle/>
          <a:p>
            <a:endParaRPr lang="en-DE"/>
          </a:p>
        </p:txBody>
      </p:sp>
      <p:sp>
        <p:nvSpPr>
          <p:cNvPr id="29" name="Rectangle 28">
            <a:extLst>
              <a:ext uri="{FF2B5EF4-FFF2-40B4-BE49-F238E27FC236}">
                <a16:creationId xmlns:a16="http://schemas.microsoft.com/office/drawing/2014/main" id="{EBF111D5-F64C-4B33-AFCB-90770F0F53DC}"/>
              </a:ext>
            </a:extLst>
          </p:cNvPr>
          <p:cNvSpPr>
            <a:spLocks noGrp="1"/>
          </p:cNvSpPr>
          <p:nvPr/>
        </p:nvSpPr>
        <p:spPr>
          <a:xfrm>
            <a:off x="5905500" y="3733800"/>
            <a:ext cx="1885950" cy="685800"/>
          </a:xfrm>
          <a:prstGeom prst="rect">
            <a:avLst/>
          </a:prstGeom>
          <a:noFill/>
          <a:ln w="0">
            <a:noFill/>
            <a:prstDash val="solid"/>
          </a:ln>
        </p:spPr>
        <p:txBody>
          <a:bodyPr/>
          <a:lstStyle/>
          <a:p>
            <a:pPr algn="l">
              <a:defRPr sz="1200" b="0">
                <a:solidFill>
                  <a:srgbClr val="555552"/>
                </a:solidFill>
              </a:defRPr>
            </a:pPr>
            <a:r>
              <a:rPr sz="1200" b="0">
                <a:solidFill>
                  <a:srgbClr val="555552"/>
                </a:solidFill>
              </a:rPr>
              <a:t>Task difficulty + non-negative benchmark capability effect</a:t>
            </a:r>
          </a:p>
        </p:txBody>
      </p:sp>
      <p:sp>
        <p:nvSpPr>
          <p:cNvPr id="30" name="Rounded Rectangle 29">
            <a:extLst>
              <a:ext uri="{FF2B5EF4-FFF2-40B4-BE49-F238E27FC236}">
                <a16:creationId xmlns:a16="http://schemas.microsoft.com/office/drawing/2014/main" id="{D4149DE5-8730-4BCD-A974-9ECABDE7A667}"/>
              </a:ext>
            </a:extLst>
          </p:cNvPr>
          <p:cNvSpPr>
            <a:spLocks noGrp="1"/>
          </p:cNvSpPr>
          <p:nvPr/>
        </p:nvSpPr>
        <p:spPr>
          <a:xfrm>
            <a:off x="8324850" y="2190750"/>
            <a:ext cx="2247900" cy="2381250"/>
          </a:xfrm>
          <a:prstGeom prst="roundRect">
            <a:avLst>
              <a:gd name="adj" fmla="val 2542"/>
            </a:avLst>
          </a:prstGeom>
          <a:solidFill>
            <a:srgbClr val="FFFFFF"/>
          </a:solidFill>
          <a:ln w="9525">
            <a:solidFill>
              <a:srgbClr val="9D9D98"/>
            </a:solidFill>
            <a:prstDash val="solid"/>
          </a:ln>
        </p:spPr>
        <p:txBody>
          <a:bodyPr/>
          <a:lstStyle/>
          <a:p>
            <a:endParaRPr lang="en-DE"/>
          </a:p>
        </p:txBody>
      </p:sp>
      <p:sp>
        <p:nvSpPr>
          <p:cNvPr id="31" name="Rectangle 30">
            <a:extLst>
              <a:ext uri="{FF2B5EF4-FFF2-40B4-BE49-F238E27FC236}">
                <a16:creationId xmlns:a16="http://schemas.microsoft.com/office/drawing/2014/main" id="{E2149C08-C6F8-4129-B13B-9EE5F547C83F}"/>
              </a:ext>
            </a:extLst>
          </p:cNvPr>
          <p:cNvSpPr>
            <a:spLocks noGrp="1"/>
          </p:cNvSpPr>
          <p:nvPr/>
        </p:nvSpPr>
        <p:spPr>
          <a:xfrm>
            <a:off x="8496300" y="2362200"/>
            <a:ext cx="1885950" cy="209550"/>
          </a:xfrm>
          <a:prstGeom prst="rect">
            <a:avLst/>
          </a:prstGeom>
          <a:noFill/>
          <a:ln w="0">
            <a:noFill/>
            <a:prstDash val="solid"/>
          </a:ln>
        </p:spPr>
        <p:txBody>
          <a:bodyPr/>
          <a:lstStyle/>
          <a:p>
            <a:pPr algn="l">
              <a:defRPr sz="900" b="1">
                <a:solidFill>
                  <a:srgbClr val="555552"/>
                </a:solidFill>
              </a:defRPr>
            </a:pPr>
            <a:r>
              <a:rPr sz="900" b="1">
                <a:solidFill>
                  <a:srgbClr val="555552"/>
                </a:solidFill>
              </a:rPr>
              <a:t>04 / POLICY</a:t>
            </a:r>
          </a:p>
        </p:txBody>
      </p:sp>
      <p:sp>
        <p:nvSpPr>
          <p:cNvPr id="32" name="Rectangle 31">
            <a:extLst>
              <a:ext uri="{FF2B5EF4-FFF2-40B4-BE49-F238E27FC236}">
                <a16:creationId xmlns:a16="http://schemas.microsoft.com/office/drawing/2014/main" id="{BE77DCEB-49C0-4B99-92B3-4D36CDE9241C}"/>
              </a:ext>
            </a:extLst>
          </p:cNvPr>
          <p:cNvSpPr>
            <a:spLocks noGrp="1"/>
          </p:cNvSpPr>
          <p:nvPr/>
        </p:nvSpPr>
        <p:spPr>
          <a:xfrm>
            <a:off x="8496300" y="2781300"/>
            <a:ext cx="1885950" cy="590550"/>
          </a:xfrm>
          <a:prstGeom prst="rect">
            <a:avLst/>
          </a:prstGeom>
          <a:noFill/>
          <a:ln w="0">
            <a:noFill/>
            <a:prstDash val="solid"/>
          </a:ln>
        </p:spPr>
        <p:txBody>
          <a:bodyPr/>
          <a:lstStyle/>
          <a:p>
            <a:pPr algn="l">
              <a:defRPr sz="1800" b="1">
                <a:solidFill>
                  <a:srgbClr val="0B0B0B"/>
                </a:solidFill>
              </a:defRPr>
            </a:pPr>
            <a:r>
              <a:rPr sz="1800" b="1">
                <a:solidFill>
                  <a:srgbClr val="0B0B0B"/>
                </a:solidFill>
              </a:rPr>
              <a:t>Apply guardrails</a:t>
            </a:r>
          </a:p>
        </p:txBody>
      </p:sp>
      <p:sp>
        <p:nvSpPr>
          <p:cNvPr id="33" name="Straight Connector 32">
            <a:extLst>
              <a:ext uri="{FF2B5EF4-FFF2-40B4-BE49-F238E27FC236}">
                <a16:creationId xmlns:a16="http://schemas.microsoft.com/office/drawing/2014/main" id="{717FF74A-1197-4A91-91E8-2057F044D7BD}"/>
              </a:ext>
            </a:extLst>
          </p:cNvPr>
          <p:cNvSpPr>
            <a:spLocks noGrp="1"/>
          </p:cNvSpPr>
          <p:nvPr/>
        </p:nvSpPr>
        <p:spPr>
          <a:xfrm>
            <a:off x="8496300" y="3543300"/>
            <a:ext cx="1885950" cy="0"/>
          </a:xfrm>
          <a:prstGeom prst="line">
            <a:avLst/>
          </a:prstGeom>
          <a:noFill/>
          <a:ln w="9525">
            <a:solidFill>
              <a:srgbClr val="B8B8B2"/>
            </a:solidFill>
            <a:prstDash val="solid"/>
          </a:ln>
        </p:spPr>
        <p:txBody>
          <a:bodyPr/>
          <a:lstStyle/>
          <a:p>
            <a:endParaRPr lang="en-DE"/>
          </a:p>
        </p:txBody>
      </p:sp>
      <p:sp>
        <p:nvSpPr>
          <p:cNvPr id="34" name="Rectangle 33">
            <a:extLst>
              <a:ext uri="{FF2B5EF4-FFF2-40B4-BE49-F238E27FC236}">
                <a16:creationId xmlns:a16="http://schemas.microsoft.com/office/drawing/2014/main" id="{ED177442-29FA-4B63-A737-10636F131107}"/>
              </a:ext>
            </a:extLst>
          </p:cNvPr>
          <p:cNvSpPr>
            <a:spLocks noGrp="1"/>
          </p:cNvSpPr>
          <p:nvPr/>
        </p:nvSpPr>
        <p:spPr>
          <a:xfrm>
            <a:off x="8496300" y="3733800"/>
            <a:ext cx="1885950" cy="685800"/>
          </a:xfrm>
          <a:prstGeom prst="rect">
            <a:avLst/>
          </a:prstGeom>
          <a:noFill/>
          <a:ln w="0">
            <a:noFill/>
            <a:prstDash val="solid"/>
          </a:ln>
        </p:spPr>
        <p:txBody>
          <a:bodyPr/>
          <a:lstStyle/>
          <a:p>
            <a:pPr algn="l">
              <a:defRPr sz="1200" b="0">
                <a:solidFill>
                  <a:srgbClr val="555552"/>
                </a:solidFill>
              </a:defRPr>
            </a:pPr>
            <a:r>
              <a:rPr sz="1200" b="0">
                <a:solidFill>
                  <a:srgbClr val="555552"/>
                </a:solidFill>
              </a:rPr>
              <a:t>Support gate → within ε of best → cheapest assumed cost</a:t>
            </a:r>
          </a:p>
        </p:txBody>
      </p:sp>
      <p:sp>
        <p:nvSpPr>
          <p:cNvPr id="35" name="Rectangle 34">
            <a:extLst>
              <a:ext uri="{FF2B5EF4-FFF2-40B4-BE49-F238E27FC236}">
                <a16:creationId xmlns:a16="http://schemas.microsoft.com/office/drawing/2014/main" id="{251C31E8-C29A-4CB7-B25E-1D8832ADA393}"/>
              </a:ext>
            </a:extLst>
          </p:cNvPr>
          <p:cNvSpPr>
            <a:spLocks noGrp="1"/>
          </p:cNvSpPr>
          <p:nvPr/>
        </p:nvSpPr>
        <p:spPr>
          <a:xfrm>
            <a:off x="552450" y="5048250"/>
            <a:ext cx="2190750" cy="323850"/>
          </a:xfrm>
          <a:prstGeom prst="rect">
            <a:avLst/>
          </a:prstGeom>
          <a:noFill/>
          <a:ln w="0">
            <a:noFill/>
            <a:prstDash val="solid"/>
          </a:ln>
        </p:spPr>
        <p:txBody>
          <a:bodyPr/>
          <a:lstStyle/>
          <a:p>
            <a:pPr algn="l">
              <a:defRPr sz="1350" b="1">
                <a:solidFill>
                  <a:srgbClr val="0B0B0B"/>
                </a:solidFill>
              </a:defRPr>
            </a:pPr>
            <a:r>
              <a:rPr sz="1350" b="1">
                <a:solidFill>
                  <a:srgbClr val="0B0B0B"/>
                </a:solidFill>
              </a:rPr>
              <a:t>INTERPRETABLE</a:t>
            </a:r>
          </a:p>
        </p:txBody>
      </p:sp>
      <p:sp>
        <p:nvSpPr>
          <p:cNvPr id="36" name="Rectangle 35">
            <a:extLst>
              <a:ext uri="{FF2B5EF4-FFF2-40B4-BE49-F238E27FC236}">
                <a16:creationId xmlns:a16="http://schemas.microsoft.com/office/drawing/2014/main" id="{6FFF079C-3185-401F-B1E8-D9595805EBFF}"/>
              </a:ext>
            </a:extLst>
          </p:cNvPr>
          <p:cNvSpPr>
            <a:spLocks noGrp="1"/>
          </p:cNvSpPr>
          <p:nvPr/>
        </p:nvSpPr>
        <p:spPr>
          <a:xfrm>
            <a:off x="3028950" y="5048250"/>
            <a:ext cx="8191500" cy="381000"/>
          </a:xfrm>
          <a:prstGeom prst="rect">
            <a:avLst/>
          </a:prstGeom>
          <a:noFill/>
          <a:ln w="0">
            <a:noFill/>
            <a:prstDash val="solid"/>
          </a:ln>
        </p:spPr>
        <p:txBody>
          <a:bodyPr/>
          <a:lstStyle/>
          <a:p>
            <a:pPr algn="l">
              <a:defRPr sz="1350" b="0">
                <a:solidFill>
                  <a:srgbClr val="555552"/>
                </a:solidFill>
              </a:defRPr>
            </a:pPr>
            <a:r>
              <a:rPr sz="1350" b="0">
                <a:solidFill>
                  <a:srgbClr val="555552"/>
                </a:solidFill>
              </a:rPr>
              <a:t>Named features · ridge coefficients · monotonic capability effect · explicit ε · explicit support caliper</a:t>
            </a:r>
          </a:p>
        </p:txBody>
      </p:sp>
      <p:sp>
        <p:nvSpPr>
          <p:cNvPr id="37" name="Straight Connector 36">
            <a:extLst>
              <a:ext uri="{FF2B5EF4-FFF2-40B4-BE49-F238E27FC236}">
                <a16:creationId xmlns:a16="http://schemas.microsoft.com/office/drawing/2014/main" id="{9C98D387-0AAA-4FCC-96C3-789B99DAD015}"/>
              </a:ext>
            </a:extLst>
          </p:cNvPr>
          <p:cNvSpPr>
            <a:spLocks noGrp="1"/>
          </p:cNvSpPr>
          <p:nvPr/>
        </p:nvSpPr>
        <p:spPr>
          <a:xfrm>
            <a:off x="552450" y="5619750"/>
            <a:ext cx="10668000" cy="0"/>
          </a:xfrm>
          <a:prstGeom prst="line">
            <a:avLst/>
          </a:prstGeom>
          <a:noFill/>
          <a:ln w="19050">
            <a:solidFill>
              <a:srgbClr val="0B0B0B"/>
            </a:solidFill>
            <a:prstDash val="solid"/>
          </a:ln>
        </p:spPr>
        <p:txBody>
          <a:bodyPr/>
          <a:lstStyle/>
          <a:p>
            <a:endParaRPr lang="en-DE"/>
          </a:p>
        </p:txBody>
      </p:sp>
      <p:sp>
        <p:nvSpPr>
          <p:cNvPr id="38" name="Rectangle 37">
            <a:extLst>
              <a:ext uri="{FF2B5EF4-FFF2-40B4-BE49-F238E27FC236}">
                <a16:creationId xmlns:a16="http://schemas.microsoft.com/office/drawing/2014/main" id="{E90E5E81-1F7E-417D-B076-A6AA4A30D006}"/>
              </a:ext>
            </a:extLst>
          </p:cNvPr>
          <p:cNvSpPr>
            <a:spLocks noGrp="1"/>
          </p:cNvSpPr>
          <p:nvPr/>
        </p:nvSpPr>
        <p:spPr>
          <a:xfrm>
            <a:off x="552450" y="5772150"/>
            <a:ext cx="10668000" cy="323850"/>
          </a:xfrm>
          <a:prstGeom prst="rect">
            <a:avLst/>
          </a:prstGeom>
          <a:noFill/>
          <a:ln w="0">
            <a:noFill/>
            <a:prstDash val="solid"/>
          </a:ln>
        </p:spPr>
        <p:txBody>
          <a:bodyPr/>
          <a:lstStyle/>
          <a:p>
            <a:pPr algn="l">
              <a:defRPr sz="1575" b="1">
                <a:solidFill>
                  <a:srgbClr val="0B0B0B"/>
                </a:solidFill>
              </a:defRPr>
            </a:pPr>
            <a:r>
              <a:rPr sz="1575" b="1">
                <a:solidFill>
                  <a:srgbClr val="0B0B0B"/>
                </a:solidFill>
              </a:rPr>
              <a:t>The learned parts estimate quantities. The policy itself is a readable rule.</a:t>
            </a:r>
          </a:p>
        </p:txBody>
      </p:sp>
    </p:spTree>
    <p:extLst>
      <p:ext uri="{BB962C8B-B14F-4D97-AF65-F5344CB8AC3E}">
        <p14:creationId xmlns:p14="http://schemas.microsoft.com/office/powerpoint/2010/main" val="1041769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1" name="page-5">
            <a:extLst>
              <a:ext uri="{FF2B5EF4-FFF2-40B4-BE49-F238E27FC236}">
                <a16:creationId xmlns:a16="http://schemas.microsoft.com/office/drawing/2014/main" id="{299EAFCA-79FD-4BB9-92A9-322D4DAD3303}"/>
              </a:ext>
            </a:extLst>
          </p:cNvPr>
          <p:cNvSpPr>
            <a:spLocks noGrp="1"/>
          </p:cNvSpPr>
          <p:nvPr/>
        </p:nvSpPr>
        <p:spPr>
          <a:xfrm>
            <a:off x="514350" y="285750"/>
            <a:ext cx="400050" cy="209550"/>
          </a:xfrm>
          <a:prstGeom prst="rect">
            <a:avLst/>
          </a:prstGeom>
          <a:noFill/>
          <a:ln w="0">
            <a:noFill/>
            <a:prstDash val="solid"/>
          </a:ln>
        </p:spPr>
        <p:txBody>
          <a:bodyPr/>
          <a:lstStyle/>
          <a:p>
            <a:pPr algn="l">
              <a:defRPr sz="900" b="1">
                <a:solidFill>
                  <a:srgbClr val="9B9B96"/>
                </a:solidFill>
              </a:defRPr>
            </a:pPr>
            <a:r>
              <a:rPr sz="900" b="1">
                <a:solidFill>
                  <a:srgbClr val="9B9B96"/>
                </a:solidFill>
              </a:rPr>
              <a:t>05</a:t>
            </a:r>
          </a:p>
        </p:txBody>
      </p:sp>
      <p:sp>
        <p:nvSpPr>
          <p:cNvPr id="2" name="Straight Connector 1">
            <a:extLst>
              <a:ext uri="{FF2B5EF4-FFF2-40B4-BE49-F238E27FC236}">
                <a16:creationId xmlns:a16="http://schemas.microsoft.com/office/drawing/2014/main" id="{627E7F2B-05D8-484A-9CE0-C7CE339A642E}"/>
              </a:ext>
            </a:extLst>
          </p:cNvPr>
          <p:cNvSpPr>
            <a:spLocks noGrp="1"/>
          </p:cNvSpPr>
          <p:nvPr/>
        </p:nvSpPr>
        <p:spPr>
          <a:xfrm>
            <a:off x="1009650" y="381000"/>
            <a:ext cx="476250" cy="0"/>
          </a:xfrm>
          <a:prstGeom prst="line">
            <a:avLst/>
          </a:prstGeom>
          <a:noFill/>
          <a:ln w="19050">
            <a:solidFill>
              <a:srgbClr val="9B9B96"/>
            </a:solidFill>
            <a:prstDash val="solid"/>
          </a:ln>
        </p:spPr>
        <p:txBody>
          <a:bodyPr/>
          <a:lstStyle/>
          <a:p>
            <a:endParaRPr lang="en-DE"/>
          </a:p>
        </p:txBody>
      </p:sp>
      <p:sp>
        <p:nvSpPr>
          <p:cNvPr id="3" name="section-5">
            <a:extLst>
              <a:ext uri="{FF2B5EF4-FFF2-40B4-BE49-F238E27FC236}">
                <a16:creationId xmlns:a16="http://schemas.microsoft.com/office/drawing/2014/main" id="{7ECCE0E7-8CB8-4D04-82C9-22D225D107C6}"/>
              </a:ext>
            </a:extLst>
          </p:cNvPr>
          <p:cNvSpPr>
            <a:spLocks noGrp="1"/>
          </p:cNvSpPr>
          <p:nvPr/>
        </p:nvSpPr>
        <p:spPr>
          <a:xfrm>
            <a:off x="1676400" y="285750"/>
            <a:ext cx="4000500" cy="228600"/>
          </a:xfrm>
          <a:prstGeom prst="rect">
            <a:avLst/>
          </a:prstGeom>
          <a:noFill/>
          <a:ln w="0">
            <a:noFill/>
            <a:prstDash val="solid"/>
          </a:ln>
        </p:spPr>
        <p:txBody>
          <a:bodyPr/>
          <a:lstStyle/>
          <a:p>
            <a:pPr algn="l">
              <a:defRPr sz="900" b="1">
                <a:solidFill>
                  <a:srgbClr val="9B9B96"/>
                </a:solidFill>
              </a:defRPr>
            </a:pPr>
            <a:r>
              <a:rPr sz="900" b="1">
                <a:solidFill>
                  <a:srgbClr val="9B9B96"/>
                </a:solidFill>
              </a:rPr>
              <a:t>QUALITY CRITERIA</a:t>
            </a:r>
          </a:p>
        </p:txBody>
      </p:sp>
      <p:sp>
        <p:nvSpPr>
          <p:cNvPr id="4" name="Straight Connector 3">
            <a:extLst>
              <a:ext uri="{FF2B5EF4-FFF2-40B4-BE49-F238E27FC236}">
                <a16:creationId xmlns:a16="http://schemas.microsoft.com/office/drawing/2014/main" id="{2853F252-053D-4CE6-ADC3-8D274A7F0272}"/>
              </a:ext>
            </a:extLst>
          </p:cNvPr>
          <p:cNvSpPr>
            <a:spLocks noGrp="1"/>
          </p:cNvSpPr>
          <p:nvPr/>
        </p:nvSpPr>
        <p:spPr>
          <a:xfrm>
            <a:off x="514350" y="6496050"/>
            <a:ext cx="11163300" cy="0"/>
          </a:xfrm>
          <a:prstGeom prst="line">
            <a:avLst/>
          </a:prstGeom>
          <a:noFill/>
          <a:ln w="9525">
            <a:solidFill>
              <a:srgbClr val="2B2B29"/>
            </a:solidFill>
            <a:prstDash val="solid"/>
          </a:ln>
        </p:spPr>
        <p:txBody>
          <a:bodyPr/>
          <a:lstStyle/>
          <a:p>
            <a:endParaRPr lang="en-DE"/>
          </a:p>
        </p:txBody>
      </p:sp>
      <p:sp>
        <p:nvSpPr>
          <p:cNvPr id="5" name="Rectangle 4">
            <a:extLst>
              <a:ext uri="{FF2B5EF4-FFF2-40B4-BE49-F238E27FC236}">
                <a16:creationId xmlns:a16="http://schemas.microsoft.com/office/drawing/2014/main" id="{63B60FDD-2260-441E-9466-B43E8BA4DBE2}"/>
              </a:ext>
            </a:extLst>
          </p:cNvPr>
          <p:cNvSpPr>
            <a:spLocks noGrp="1"/>
          </p:cNvSpPr>
          <p:nvPr/>
        </p:nvSpPr>
        <p:spPr>
          <a:xfrm>
            <a:off x="514350" y="6572250"/>
            <a:ext cx="3619500" cy="171450"/>
          </a:xfrm>
          <a:prstGeom prst="rect">
            <a:avLst/>
          </a:prstGeom>
          <a:noFill/>
          <a:ln w="0">
            <a:noFill/>
            <a:prstDash val="solid"/>
          </a:ln>
        </p:spPr>
        <p:txBody>
          <a:bodyPr/>
          <a:lstStyle/>
          <a:p>
            <a:pPr algn="l">
              <a:defRPr sz="750" b="1">
                <a:solidFill>
                  <a:srgbClr val="9B9B96"/>
                </a:solidFill>
              </a:defRPr>
            </a:pPr>
            <a:r>
              <a:rPr sz="750" b="1">
                <a:solidFill>
                  <a:srgbClr val="9B9B96"/>
                </a:solidFill>
              </a:rPr>
              <a:t>VIKTOR ROUTER / TUM.AI 2026</a:t>
            </a:r>
          </a:p>
        </p:txBody>
      </p:sp>
      <p:sp>
        <p:nvSpPr>
          <p:cNvPr id="6" name="Rectangle 5">
            <a:extLst>
              <a:ext uri="{FF2B5EF4-FFF2-40B4-BE49-F238E27FC236}">
                <a16:creationId xmlns:a16="http://schemas.microsoft.com/office/drawing/2014/main" id="{E3B4155A-48D8-4522-A5BD-87E217C54832}"/>
              </a:ext>
            </a:extLst>
          </p:cNvPr>
          <p:cNvSpPr>
            <a:spLocks noGrp="1"/>
          </p:cNvSpPr>
          <p:nvPr/>
        </p:nvSpPr>
        <p:spPr>
          <a:xfrm>
            <a:off x="10191750" y="6572250"/>
            <a:ext cx="1485900" cy="171450"/>
          </a:xfrm>
          <a:prstGeom prst="rect">
            <a:avLst/>
          </a:prstGeom>
          <a:noFill/>
          <a:ln w="0">
            <a:noFill/>
            <a:prstDash val="solid"/>
          </a:ln>
        </p:spPr>
        <p:txBody>
          <a:bodyPr/>
          <a:lstStyle/>
          <a:p>
            <a:pPr algn="r">
              <a:defRPr sz="750" b="1">
                <a:solidFill>
                  <a:srgbClr val="9B9B96"/>
                </a:solidFill>
              </a:defRPr>
            </a:pPr>
            <a:r>
              <a:rPr sz="750" b="1">
                <a:solidFill>
                  <a:srgbClr val="9B9B96"/>
                </a:solidFill>
              </a:rPr>
              <a:t>5 / 14</a:t>
            </a:r>
          </a:p>
        </p:txBody>
      </p:sp>
      <p:sp>
        <p:nvSpPr>
          <p:cNvPr id="7" name="slide-title">
            <a:extLst>
              <a:ext uri="{FF2B5EF4-FFF2-40B4-BE49-F238E27FC236}">
                <a16:creationId xmlns:a16="http://schemas.microsoft.com/office/drawing/2014/main" id="{C0B38D88-F41E-4F4A-A291-1C69926A3DCE}"/>
              </a:ext>
            </a:extLst>
          </p:cNvPr>
          <p:cNvSpPr>
            <a:spLocks noGrp="1"/>
          </p:cNvSpPr>
          <p:nvPr/>
        </p:nvSpPr>
        <p:spPr>
          <a:xfrm>
            <a:off x="514350" y="704850"/>
            <a:ext cx="11163300" cy="685800"/>
          </a:xfrm>
          <a:prstGeom prst="rect">
            <a:avLst/>
          </a:prstGeom>
          <a:noFill/>
          <a:ln w="0">
            <a:noFill/>
            <a:prstDash val="solid"/>
          </a:ln>
        </p:spPr>
        <p:txBody>
          <a:bodyPr/>
          <a:lstStyle/>
          <a:p>
            <a:pPr algn="l">
              <a:defRPr sz="3000" b="1">
                <a:solidFill>
                  <a:srgbClr val="F4F4F2"/>
                </a:solidFill>
              </a:defRPr>
            </a:pPr>
            <a:r>
              <a:rPr sz="3000" b="1">
                <a:solidFill>
                  <a:srgbClr val="F4F4F2"/>
                </a:solidFill>
              </a:rPr>
              <a:t>Quality means observable completion evidence.</a:t>
            </a:r>
          </a:p>
        </p:txBody>
      </p:sp>
      <p:sp>
        <p:nvSpPr>
          <p:cNvPr id="8" name="slide-subtitle">
            <a:extLst>
              <a:ext uri="{FF2B5EF4-FFF2-40B4-BE49-F238E27FC236}">
                <a16:creationId xmlns:a16="http://schemas.microsoft.com/office/drawing/2014/main" id="{DD5B4618-EFA9-4933-AF32-36AA01832192}"/>
              </a:ext>
            </a:extLst>
          </p:cNvPr>
          <p:cNvSpPr>
            <a:spLocks noGrp="1"/>
          </p:cNvSpPr>
          <p:nvPr/>
        </p:nvSpPr>
        <p:spPr>
          <a:xfrm>
            <a:off x="533400" y="1371600"/>
            <a:ext cx="10668000" cy="342900"/>
          </a:xfrm>
          <a:prstGeom prst="rect">
            <a:avLst/>
          </a:prstGeom>
          <a:noFill/>
          <a:ln w="0">
            <a:noFill/>
            <a:prstDash val="solid"/>
          </a:ln>
        </p:spPr>
        <p:txBody>
          <a:bodyPr/>
          <a:lstStyle/>
          <a:p>
            <a:pPr algn="l">
              <a:defRPr sz="1350" b="0">
                <a:solidFill>
                  <a:srgbClr val="9B9B96"/>
                </a:solidFill>
              </a:defRPr>
            </a:pPr>
            <a:r>
              <a:rPr sz="1350" b="0">
                <a:solidFill>
                  <a:srgbClr val="9B9B96"/>
                </a:solidFill>
              </a:rPr>
              <a:t>It is deliberately conservative because every trajectory's final response is missing.</a:t>
            </a:r>
          </a:p>
        </p:txBody>
      </p:sp>
      <p:graphicFrame>
        <p:nvGraphicFramePr>
          <p:cNvPr id="29" name="Chart"/>
          <p:cNvGraphicFramePr/>
          <p:nvPr/>
        </p:nvGraphicFramePr>
        <p:xfrm>
          <a:off x="514350" y="2095500"/>
          <a:ext cx="638175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Rounded Rectangle 9">
            <a:extLst>
              <a:ext uri="{FF2B5EF4-FFF2-40B4-BE49-F238E27FC236}">
                <a16:creationId xmlns:a16="http://schemas.microsoft.com/office/drawing/2014/main" id="{41D7E13E-BAF8-4362-873A-5A5263248052}"/>
              </a:ext>
            </a:extLst>
          </p:cNvPr>
          <p:cNvSpPr>
            <a:spLocks noGrp="1"/>
          </p:cNvSpPr>
          <p:nvPr/>
        </p:nvSpPr>
        <p:spPr>
          <a:xfrm>
            <a:off x="7429500" y="2057400"/>
            <a:ext cx="4095750" cy="3581400"/>
          </a:xfrm>
          <a:prstGeom prst="roundRect">
            <a:avLst>
              <a:gd name="adj" fmla="val 2128"/>
            </a:avLst>
          </a:prstGeom>
          <a:solidFill>
            <a:srgbClr val="101010"/>
          </a:solidFill>
          <a:ln w="9525">
            <a:solidFill>
              <a:srgbClr val="2B2B29"/>
            </a:solidFill>
            <a:prstDash val="solid"/>
          </a:ln>
        </p:spPr>
        <p:txBody>
          <a:bodyPr/>
          <a:lstStyle/>
          <a:p>
            <a:endParaRPr lang="en-DE"/>
          </a:p>
        </p:txBody>
      </p:sp>
      <p:sp>
        <p:nvSpPr>
          <p:cNvPr id="11" name="Rectangle 10">
            <a:extLst>
              <a:ext uri="{FF2B5EF4-FFF2-40B4-BE49-F238E27FC236}">
                <a16:creationId xmlns:a16="http://schemas.microsoft.com/office/drawing/2014/main" id="{12F835F1-C475-4138-AD08-ED6D93DEA53F}"/>
              </a:ext>
            </a:extLst>
          </p:cNvPr>
          <p:cNvSpPr>
            <a:spLocks noGrp="1"/>
          </p:cNvSpPr>
          <p:nvPr/>
        </p:nvSpPr>
        <p:spPr>
          <a:xfrm>
            <a:off x="7677150" y="2286000"/>
            <a:ext cx="2857500" cy="228600"/>
          </a:xfrm>
          <a:prstGeom prst="rect">
            <a:avLst/>
          </a:prstGeom>
          <a:noFill/>
          <a:ln w="0">
            <a:noFill/>
            <a:prstDash val="solid"/>
          </a:ln>
        </p:spPr>
        <p:txBody>
          <a:bodyPr/>
          <a:lstStyle/>
          <a:p>
            <a:pPr algn="l">
              <a:defRPr sz="975" b="1">
                <a:solidFill>
                  <a:srgbClr val="9B9B96"/>
                </a:solidFill>
              </a:defRPr>
            </a:pPr>
            <a:r>
              <a:rPr sz="975" b="1">
                <a:solidFill>
                  <a:srgbClr val="9B9B96"/>
                </a:solidFill>
              </a:rPr>
              <a:t>SCORING RULE</a:t>
            </a:r>
          </a:p>
        </p:txBody>
      </p:sp>
      <p:sp>
        <p:nvSpPr>
          <p:cNvPr id="12" name="Rectangle 11">
            <a:extLst>
              <a:ext uri="{FF2B5EF4-FFF2-40B4-BE49-F238E27FC236}">
                <a16:creationId xmlns:a16="http://schemas.microsoft.com/office/drawing/2014/main" id="{0EA368E4-A91B-4AA7-A96C-0C5B0A836EF4}"/>
              </a:ext>
            </a:extLst>
          </p:cNvPr>
          <p:cNvSpPr>
            <a:spLocks noGrp="1"/>
          </p:cNvSpPr>
          <p:nvPr/>
        </p:nvSpPr>
        <p:spPr>
          <a:xfrm>
            <a:off x="7677150" y="2724150"/>
            <a:ext cx="647700" cy="342900"/>
          </a:xfrm>
          <a:prstGeom prst="rect">
            <a:avLst/>
          </a:prstGeom>
          <a:noFill/>
          <a:ln w="0">
            <a:noFill/>
            <a:prstDash val="solid"/>
          </a:ln>
        </p:spPr>
        <p:txBody>
          <a:bodyPr/>
          <a:lstStyle/>
          <a:p>
            <a:pPr algn="l">
              <a:defRPr sz="1725" b="1">
                <a:solidFill>
                  <a:srgbClr val="F4F4F2"/>
                </a:solidFill>
              </a:defRPr>
            </a:pPr>
            <a:r>
              <a:rPr sz="1725" b="1">
                <a:solidFill>
                  <a:srgbClr val="F4F4F2"/>
                </a:solidFill>
              </a:rPr>
              <a:t>1.0</a:t>
            </a:r>
          </a:p>
        </p:txBody>
      </p:sp>
      <p:sp>
        <p:nvSpPr>
          <p:cNvPr id="13" name="Rectangle 12">
            <a:extLst>
              <a:ext uri="{FF2B5EF4-FFF2-40B4-BE49-F238E27FC236}">
                <a16:creationId xmlns:a16="http://schemas.microsoft.com/office/drawing/2014/main" id="{F333E91B-EB16-4CB0-9701-F2FF0D3EC2A4}"/>
              </a:ext>
            </a:extLst>
          </p:cNvPr>
          <p:cNvSpPr>
            <a:spLocks noGrp="1"/>
          </p:cNvSpPr>
          <p:nvPr/>
        </p:nvSpPr>
        <p:spPr>
          <a:xfrm>
            <a:off x="8420100" y="2705100"/>
            <a:ext cx="2781300" cy="495300"/>
          </a:xfrm>
          <a:prstGeom prst="rect">
            <a:avLst/>
          </a:prstGeom>
          <a:noFill/>
          <a:ln w="0">
            <a:noFill/>
            <a:prstDash val="solid"/>
          </a:ln>
        </p:spPr>
        <p:txBody>
          <a:bodyPr/>
          <a:lstStyle/>
          <a:p>
            <a:pPr algn="l">
              <a:defRPr sz="1200" b="0">
                <a:solidFill>
                  <a:srgbClr val="D6D6D2"/>
                </a:solidFill>
              </a:defRPr>
            </a:pPr>
            <a:r>
              <a:rPr sz="1200" b="0">
                <a:solidFill>
                  <a:srgbClr val="D6D6D2"/>
                </a:solidFill>
              </a:rPr>
              <a:t>successful side effect, expected no-op, or positive completion</a:t>
            </a:r>
          </a:p>
        </p:txBody>
      </p:sp>
      <p:sp>
        <p:nvSpPr>
          <p:cNvPr id="14" name="Rectangle 13">
            <a:extLst>
              <a:ext uri="{FF2B5EF4-FFF2-40B4-BE49-F238E27FC236}">
                <a16:creationId xmlns:a16="http://schemas.microsoft.com/office/drawing/2014/main" id="{88D1EBE8-6858-4A60-8FC3-6CBBAC96E66A}"/>
              </a:ext>
            </a:extLst>
          </p:cNvPr>
          <p:cNvSpPr>
            <a:spLocks noGrp="1"/>
          </p:cNvSpPr>
          <p:nvPr/>
        </p:nvSpPr>
        <p:spPr>
          <a:xfrm>
            <a:off x="7677150" y="3390900"/>
            <a:ext cx="647700" cy="342900"/>
          </a:xfrm>
          <a:prstGeom prst="rect">
            <a:avLst/>
          </a:prstGeom>
          <a:noFill/>
          <a:ln w="0">
            <a:noFill/>
            <a:prstDash val="solid"/>
          </a:ln>
        </p:spPr>
        <p:txBody>
          <a:bodyPr/>
          <a:lstStyle/>
          <a:p>
            <a:pPr algn="l">
              <a:defRPr sz="1725" b="1">
                <a:solidFill>
                  <a:srgbClr val="F4F4F2"/>
                </a:solidFill>
              </a:defRPr>
            </a:pPr>
            <a:r>
              <a:rPr sz="1725" b="1">
                <a:solidFill>
                  <a:srgbClr val="F4F4F2"/>
                </a:solidFill>
              </a:rPr>
              <a:t>0.7</a:t>
            </a:r>
          </a:p>
        </p:txBody>
      </p:sp>
      <p:sp>
        <p:nvSpPr>
          <p:cNvPr id="15" name="Rectangle 14">
            <a:extLst>
              <a:ext uri="{FF2B5EF4-FFF2-40B4-BE49-F238E27FC236}">
                <a16:creationId xmlns:a16="http://schemas.microsoft.com/office/drawing/2014/main" id="{47FD7B0E-87B4-4494-8AED-995EB8167591}"/>
              </a:ext>
            </a:extLst>
          </p:cNvPr>
          <p:cNvSpPr>
            <a:spLocks noGrp="1"/>
          </p:cNvSpPr>
          <p:nvPr/>
        </p:nvSpPr>
        <p:spPr>
          <a:xfrm>
            <a:off x="8420100" y="3371850"/>
            <a:ext cx="2781300" cy="495300"/>
          </a:xfrm>
          <a:prstGeom prst="rect">
            <a:avLst/>
          </a:prstGeom>
          <a:noFill/>
          <a:ln w="0">
            <a:noFill/>
            <a:prstDash val="solid"/>
          </a:ln>
        </p:spPr>
        <p:txBody>
          <a:bodyPr/>
          <a:lstStyle/>
          <a:p>
            <a:pPr algn="l">
              <a:defRPr sz="1200" b="0">
                <a:solidFill>
                  <a:srgbClr val="D6D6D2"/>
                </a:solidFill>
              </a:defRPr>
            </a:pPr>
            <a:r>
              <a:rPr sz="1200" b="0">
                <a:solidFill>
                  <a:srgbClr val="D6D6D2"/>
                </a:solidFill>
              </a:rPr>
              <a:t>tool error followed by same-tool recovery + completion</a:t>
            </a:r>
          </a:p>
        </p:txBody>
      </p:sp>
      <p:sp>
        <p:nvSpPr>
          <p:cNvPr id="16" name="Rectangle 15">
            <a:extLst>
              <a:ext uri="{FF2B5EF4-FFF2-40B4-BE49-F238E27FC236}">
                <a16:creationId xmlns:a16="http://schemas.microsoft.com/office/drawing/2014/main" id="{FD514E58-0B05-468D-9CF1-2E3BB9768721}"/>
              </a:ext>
            </a:extLst>
          </p:cNvPr>
          <p:cNvSpPr>
            <a:spLocks noGrp="1"/>
          </p:cNvSpPr>
          <p:nvPr/>
        </p:nvSpPr>
        <p:spPr>
          <a:xfrm>
            <a:off x="7677150" y="4057650"/>
            <a:ext cx="647700" cy="342900"/>
          </a:xfrm>
          <a:prstGeom prst="rect">
            <a:avLst/>
          </a:prstGeom>
          <a:noFill/>
          <a:ln w="0">
            <a:noFill/>
            <a:prstDash val="solid"/>
          </a:ln>
        </p:spPr>
        <p:txBody>
          <a:bodyPr/>
          <a:lstStyle/>
          <a:p>
            <a:pPr algn="l">
              <a:defRPr sz="1725" b="1">
                <a:solidFill>
                  <a:srgbClr val="F4F4F2"/>
                </a:solidFill>
              </a:defRPr>
            </a:pPr>
            <a:r>
              <a:rPr sz="1725" b="1">
                <a:solidFill>
                  <a:srgbClr val="F4F4F2"/>
                </a:solidFill>
              </a:rPr>
              <a:t>0.5</a:t>
            </a:r>
          </a:p>
        </p:txBody>
      </p:sp>
      <p:sp>
        <p:nvSpPr>
          <p:cNvPr id="17" name="Rectangle 16">
            <a:extLst>
              <a:ext uri="{FF2B5EF4-FFF2-40B4-BE49-F238E27FC236}">
                <a16:creationId xmlns:a16="http://schemas.microsoft.com/office/drawing/2014/main" id="{237C9405-0069-4849-942E-8DA9A5990492}"/>
              </a:ext>
            </a:extLst>
          </p:cNvPr>
          <p:cNvSpPr>
            <a:spLocks noGrp="1"/>
          </p:cNvSpPr>
          <p:nvPr/>
        </p:nvSpPr>
        <p:spPr>
          <a:xfrm>
            <a:off x="8420100" y="4038600"/>
            <a:ext cx="2781300" cy="495300"/>
          </a:xfrm>
          <a:prstGeom prst="rect">
            <a:avLst/>
          </a:prstGeom>
          <a:noFill/>
          <a:ln w="0">
            <a:noFill/>
            <a:prstDash val="solid"/>
          </a:ln>
        </p:spPr>
        <p:txBody>
          <a:bodyPr/>
          <a:lstStyle/>
          <a:p>
            <a:pPr algn="l">
              <a:defRPr sz="1200" b="0">
                <a:solidFill>
                  <a:srgbClr val="D6D6D2"/>
                </a:solidFill>
              </a:defRPr>
            </a:pPr>
            <a:r>
              <a:rPr sz="1200" b="0">
                <a:solidFill>
                  <a:srgbClr val="D6D6D2"/>
                </a:solidFill>
              </a:rPr>
              <a:t>manual review finds partial completion</a:t>
            </a:r>
          </a:p>
        </p:txBody>
      </p:sp>
      <p:sp>
        <p:nvSpPr>
          <p:cNvPr id="18" name="Rectangle 17">
            <a:extLst>
              <a:ext uri="{FF2B5EF4-FFF2-40B4-BE49-F238E27FC236}">
                <a16:creationId xmlns:a16="http://schemas.microsoft.com/office/drawing/2014/main" id="{58E087DF-06BB-4008-A8B0-5065B968A731}"/>
              </a:ext>
            </a:extLst>
          </p:cNvPr>
          <p:cNvSpPr>
            <a:spLocks noGrp="1"/>
          </p:cNvSpPr>
          <p:nvPr/>
        </p:nvSpPr>
        <p:spPr>
          <a:xfrm>
            <a:off x="7677150" y="4724400"/>
            <a:ext cx="647700" cy="342900"/>
          </a:xfrm>
          <a:prstGeom prst="rect">
            <a:avLst/>
          </a:prstGeom>
          <a:noFill/>
          <a:ln w="0">
            <a:noFill/>
            <a:prstDash val="solid"/>
          </a:ln>
        </p:spPr>
        <p:txBody>
          <a:bodyPr/>
          <a:lstStyle/>
          <a:p>
            <a:pPr algn="l">
              <a:defRPr sz="1725" b="1">
                <a:solidFill>
                  <a:srgbClr val="F4F4F2"/>
                </a:solidFill>
              </a:defRPr>
            </a:pPr>
            <a:r>
              <a:rPr sz="1725" b="1">
                <a:solidFill>
                  <a:srgbClr val="F4F4F2"/>
                </a:solidFill>
              </a:rPr>
              <a:t>0.0</a:t>
            </a:r>
          </a:p>
        </p:txBody>
      </p:sp>
      <p:sp>
        <p:nvSpPr>
          <p:cNvPr id="19" name="Rectangle 18">
            <a:extLst>
              <a:ext uri="{FF2B5EF4-FFF2-40B4-BE49-F238E27FC236}">
                <a16:creationId xmlns:a16="http://schemas.microsoft.com/office/drawing/2014/main" id="{C0CAD67D-C66C-4E19-ADC2-41867470FE48}"/>
              </a:ext>
            </a:extLst>
          </p:cNvPr>
          <p:cNvSpPr>
            <a:spLocks noGrp="1"/>
          </p:cNvSpPr>
          <p:nvPr/>
        </p:nvSpPr>
        <p:spPr>
          <a:xfrm>
            <a:off x="8420100" y="4705350"/>
            <a:ext cx="2781300" cy="495300"/>
          </a:xfrm>
          <a:prstGeom prst="rect">
            <a:avLst/>
          </a:prstGeom>
          <a:noFill/>
          <a:ln w="0">
            <a:noFill/>
            <a:prstDash val="solid"/>
          </a:ln>
        </p:spPr>
        <p:txBody>
          <a:bodyPr/>
          <a:lstStyle/>
          <a:p>
            <a:pPr algn="l">
              <a:defRPr sz="1200" b="0">
                <a:solidFill>
                  <a:srgbClr val="D6D6D2"/>
                </a:solidFill>
              </a:defRPr>
            </a:pPr>
            <a:r>
              <a:rPr sz="1200" b="0">
                <a:solidFill>
                  <a:srgbClr val="D6D6D2"/>
                </a:solidFill>
              </a:rPr>
              <a:t>explicit failure or unrecovered user correction</a:t>
            </a:r>
          </a:p>
        </p:txBody>
      </p:sp>
      <p:sp>
        <p:nvSpPr>
          <p:cNvPr id="20" name="Rectangle 19">
            <a:extLst>
              <a:ext uri="{FF2B5EF4-FFF2-40B4-BE49-F238E27FC236}">
                <a16:creationId xmlns:a16="http://schemas.microsoft.com/office/drawing/2014/main" id="{DFC69E10-EE29-4F55-87E0-096345CA45C0}"/>
              </a:ext>
            </a:extLst>
          </p:cNvPr>
          <p:cNvSpPr>
            <a:spLocks noGrp="1"/>
          </p:cNvSpPr>
          <p:nvPr/>
        </p:nvSpPr>
        <p:spPr>
          <a:xfrm>
            <a:off x="552450" y="5905500"/>
            <a:ext cx="10668000" cy="323850"/>
          </a:xfrm>
          <a:prstGeom prst="rect">
            <a:avLst/>
          </a:prstGeom>
          <a:noFill/>
          <a:ln w="0">
            <a:noFill/>
            <a:prstDash val="solid"/>
          </a:ln>
        </p:spPr>
        <p:txBody>
          <a:bodyPr/>
          <a:lstStyle/>
          <a:p>
            <a:pPr algn="l">
              <a:defRPr sz="1275" b="0">
                <a:solidFill>
                  <a:srgbClr val="9B9B96"/>
                </a:solidFill>
              </a:defRPr>
            </a:pPr>
            <a:r>
              <a:rPr sz="1275" b="0">
                <a:solidFill>
                  <a:srgbClr val="9B9B96"/>
                </a:solidFill>
              </a:rPr>
              <a:t>108 unresolved / unjudgeable rows are excluded from the failure count.</a:t>
            </a:r>
          </a:p>
        </p:txBody>
      </p:sp>
    </p:spTree>
    <p:extLst>
      <p:ext uri="{BB962C8B-B14F-4D97-AF65-F5344CB8AC3E}">
        <p14:creationId xmlns:p14="http://schemas.microsoft.com/office/powerpoint/2010/main" val="1320848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4F2"/>
        </a:solidFill>
        <a:effectLst/>
      </p:bgPr>
    </p:bg>
    <p:spTree>
      <p:nvGrpSpPr>
        <p:cNvPr id="1" name=""/>
        <p:cNvGrpSpPr/>
        <p:nvPr/>
      </p:nvGrpSpPr>
      <p:grpSpPr>
        <a:xfrm>
          <a:off x="0" y="0"/>
          <a:ext cx="0" cy="0"/>
          <a:chOff x="0" y="0"/>
          <a:chExt cx="0" cy="0"/>
        </a:xfrm>
      </p:grpSpPr>
      <p:sp>
        <p:nvSpPr>
          <p:cNvPr id="26" name="page-6">
            <a:extLst>
              <a:ext uri="{FF2B5EF4-FFF2-40B4-BE49-F238E27FC236}">
                <a16:creationId xmlns:a16="http://schemas.microsoft.com/office/drawing/2014/main" id="{A36B5513-D279-40E7-8832-8E220A3D93C0}"/>
              </a:ext>
            </a:extLst>
          </p:cNvPr>
          <p:cNvSpPr>
            <a:spLocks noGrp="1"/>
          </p:cNvSpPr>
          <p:nvPr/>
        </p:nvSpPr>
        <p:spPr>
          <a:xfrm>
            <a:off x="514350" y="285750"/>
            <a:ext cx="400050" cy="209550"/>
          </a:xfrm>
          <a:prstGeom prst="rect">
            <a:avLst/>
          </a:prstGeom>
          <a:noFill/>
          <a:ln w="0">
            <a:noFill/>
            <a:prstDash val="solid"/>
          </a:ln>
        </p:spPr>
        <p:txBody>
          <a:bodyPr/>
          <a:lstStyle/>
          <a:p>
            <a:pPr algn="l">
              <a:defRPr sz="900" b="1">
                <a:solidFill>
                  <a:srgbClr val="555552"/>
                </a:solidFill>
              </a:defRPr>
            </a:pPr>
            <a:r>
              <a:rPr sz="900" b="1">
                <a:solidFill>
                  <a:srgbClr val="555552"/>
                </a:solidFill>
              </a:rPr>
              <a:t>06</a:t>
            </a:r>
          </a:p>
        </p:txBody>
      </p:sp>
      <p:sp>
        <p:nvSpPr>
          <p:cNvPr id="2" name="Straight Connector 1">
            <a:extLst>
              <a:ext uri="{FF2B5EF4-FFF2-40B4-BE49-F238E27FC236}">
                <a16:creationId xmlns:a16="http://schemas.microsoft.com/office/drawing/2014/main" id="{9A04EF73-6C37-4BAD-A87C-8C9D752EAADD}"/>
              </a:ext>
            </a:extLst>
          </p:cNvPr>
          <p:cNvSpPr>
            <a:spLocks noGrp="1"/>
          </p:cNvSpPr>
          <p:nvPr/>
        </p:nvSpPr>
        <p:spPr>
          <a:xfrm>
            <a:off x="1009650" y="381000"/>
            <a:ext cx="476250" cy="0"/>
          </a:xfrm>
          <a:prstGeom prst="line">
            <a:avLst/>
          </a:prstGeom>
          <a:noFill/>
          <a:ln w="19050">
            <a:solidFill>
              <a:srgbClr val="555552"/>
            </a:solidFill>
            <a:prstDash val="solid"/>
          </a:ln>
        </p:spPr>
        <p:txBody>
          <a:bodyPr/>
          <a:lstStyle/>
          <a:p>
            <a:endParaRPr lang="en-DE"/>
          </a:p>
        </p:txBody>
      </p:sp>
      <p:sp>
        <p:nvSpPr>
          <p:cNvPr id="3" name="section-6">
            <a:extLst>
              <a:ext uri="{FF2B5EF4-FFF2-40B4-BE49-F238E27FC236}">
                <a16:creationId xmlns:a16="http://schemas.microsoft.com/office/drawing/2014/main" id="{5BD46AF1-4C19-410E-978D-A0E8CDCA1E29}"/>
              </a:ext>
            </a:extLst>
          </p:cNvPr>
          <p:cNvSpPr>
            <a:spLocks noGrp="1"/>
          </p:cNvSpPr>
          <p:nvPr/>
        </p:nvSpPr>
        <p:spPr>
          <a:xfrm>
            <a:off x="1676400" y="285750"/>
            <a:ext cx="4000500" cy="228600"/>
          </a:xfrm>
          <a:prstGeom prst="rect">
            <a:avLst/>
          </a:prstGeom>
          <a:noFill/>
          <a:ln w="0">
            <a:noFill/>
            <a:prstDash val="solid"/>
          </a:ln>
        </p:spPr>
        <p:txBody>
          <a:bodyPr/>
          <a:lstStyle/>
          <a:p>
            <a:pPr algn="l">
              <a:defRPr sz="900" b="1">
                <a:solidFill>
                  <a:srgbClr val="555552"/>
                </a:solidFill>
              </a:defRPr>
            </a:pPr>
            <a:r>
              <a:rPr sz="900" b="1">
                <a:solidFill>
                  <a:srgbClr val="555552"/>
                </a:solidFill>
              </a:rPr>
              <a:t>COMPLEXITY EVALUATION</a:t>
            </a:r>
          </a:p>
        </p:txBody>
      </p:sp>
      <p:sp>
        <p:nvSpPr>
          <p:cNvPr id="4" name="Straight Connector 3">
            <a:extLst>
              <a:ext uri="{FF2B5EF4-FFF2-40B4-BE49-F238E27FC236}">
                <a16:creationId xmlns:a16="http://schemas.microsoft.com/office/drawing/2014/main" id="{9326D0E1-DDFA-4678-B983-E657E2E08244}"/>
              </a:ext>
            </a:extLst>
          </p:cNvPr>
          <p:cNvSpPr>
            <a:spLocks noGrp="1"/>
          </p:cNvSpPr>
          <p:nvPr/>
        </p:nvSpPr>
        <p:spPr>
          <a:xfrm>
            <a:off x="514350" y="6496050"/>
            <a:ext cx="11163300" cy="0"/>
          </a:xfrm>
          <a:prstGeom prst="line">
            <a:avLst/>
          </a:prstGeom>
          <a:noFill/>
          <a:ln w="9525">
            <a:solidFill>
              <a:srgbClr val="BEBEB8"/>
            </a:solidFill>
            <a:prstDash val="solid"/>
          </a:ln>
        </p:spPr>
        <p:txBody>
          <a:bodyPr/>
          <a:lstStyle/>
          <a:p>
            <a:endParaRPr lang="en-DE"/>
          </a:p>
        </p:txBody>
      </p:sp>
      <p:sp>
        <p:nvSpPr>
          <p:cNvPr id="5" name="Rectangle 4">
            <a:extLst>
              <a:ext uri="{FF2B5EF4-FFF2-40B4-BE49-F238E27FC236}">
                <a16:creationId xmlns:a16="http://schemas.microsoft.com/office/drawing/2014/main" id="{08941C86-FAE4-41F3-9B8E-81D94E3C03C6}"/>
              </a:ext>
            </a:extLst>
          </p:cNvPr>
          <p:cNvSpPr>
            <a:spLocks noGrp="1"/>
          </p:cNvSpPr>
          <p:nvPr/>
        </p:nvSpPr>
        <p:spPr>
          <a:xfrm>
            <a:off x="514350" y="6572250"/>
            <a:ext cx="3619500" cy="171450"/>
          </a:xfrm>
          <a:prstGeom prst="rect">
            <a:avLst/>
          </a:prstGeom>
          <a:noFill/>
          <a:ln w="0">
            <a:noFill/>
            <a:prstDash val="solid"/>
          </a:ln>
        </p:spPr>
        <p:txBody>
          <a:bodyPr/>
          <a:lstStyle/>
          <a:p>
            <a:pPr algn="l">
              <a:defRPr sz="750" b="1">
                <a:solidFill>
                  <a:srgbClr val="555552"/>
                </a:solidFill>
              </a:defRPr>
            </a:pPr>
            <a:r>
              <a:rPr sz="750" b="1">
                <a:solidFill>
                  <a:srgbClr val="555552"/>
                </a:solidFill>
              </a:rPr>
              <a:t>VIKTOR ROUTER / TUM.AI 2026</a:t>
            </a:r>
          </a:p>
        </p:txBody>
      </p:sp>
      <p:sp>
        <p:nvSpPr>
          <p:cNvPr id="6" name="Rectangle 5">
            <a:extLst>
              <a:ext uri="{FF2B5EF4-FFF2-40B4-BE49-F238E27FC236}">
                <a16:creationId xmlns:a16="http://schemas.microsoft.com/office/drawing/2014/main" id="{CF4C40B3-A247-4547-B346-56FC2BE16B43}"/>
              </a:ext>
            </a:extLst>
          </p:cNvPr>
          <p:cNvSpPr>
            <a:spLocks noGrp="1"/>
          </p:cNvSpPr>
          <p:nvPr/>
        </p:nvSpPr>
        <p:spPr>
          <a:xfrm>
            <a:off x="10191750" y="6572250"/>
            <a:ext cx="1485900" cy="171450"/>
          </a:xfrm>
          <a:prstGeom prst="rect">
            <a:avLst/>
          </a:prstGeom>
          <a:noFill/>
          <a:ln w="0">
            <a:noFill/>
            <a:prstDash val="solid"/>
          </a:ln>
        </p:spPr>
        <p:txBody>
          <a:bodyPr/>
          <a:lstStyle/>
          <a:p>
            <a:pPr algn="r">
              <a:defRPr sz="750" b="1">
                <a:solidFill>
                  <a:srgbClr val="555552"/>
                </a:solidFill>
              </a:defRPr>
            </a:pPr>
            <a:r>
              <a:rPr sz="750" b="1">
                <a:solidFill>
                  <a:srgbClr val="555552"/>
                </a:solidFill>
              </a:rPr>
              <a:t>6 / 14</a:t>
            </a:r>
          </a:p>
        </p:txBody>
      </p:sp>
      <p:sp>
        <p:nvSpPr>
          <p:cNvPr id="7" name="slide-title">
            <a:extLst>
              <a:ext uri="{FF2B5EF4-FFF2-40B4-BE49-F238E27FC236}">
                <a16:creationId xmlns:a16="http://schemas.microsoft.com/office/drawing/2014/main" id="{E6B1FA71-2846-4F9F-9232-746BA41A3702}"/>
              </a:ext>
            </a:extLst>
          </p:cNvPr>
          <p:cNvSpPr>
            <a:spLocks noGrp="1"/>
          </p:cNvSpPr>
          <p:nvPr/>
        </p:nvSpPr>
        <p:spPr>
          <a:xfrm>
            <a:off x="514350" y="704850"/>
            <a:ext cx="11163300" cy="685800"/>
          </a:xfrm>
          <a:prstGeom prst="rect">
            <a:avLst/>
          </a:prstGeom>
          <a:noFill/>
          <a:ln w="0">
            <a:noFill/>
            <a:prstDash val="solid"/>
          </a:ln>
        </p:spPr>
        <p:txBody>
          <a:bodyPr/>
          <a:lstStyle/>
          <a:p>
            <a:pPr algn="l">
              <a:defRPr sz="3000" b="1">
                <a:solidFill>
                  <a:srgbClr val="0B0B0B"/>
                </a:solidFill>
              </a:defRPr>
            </a:pPr>
            <a:r>
              <a:rPr sz="3000" b="1">
                <a:solidFill>
                  <a:srgbClr val="0B0B0B"/>
                </a:solidFill>
              </a:rPr>
              <a:t>Workload is learned from what happened later.</a:t>
            </a:r>
          </a:p>
        </p:txBody>
      </p:sp>
      <p:sp>
        <p:nvSpPr>
          <p:cNvPr id="8" name="slide-subtitle">
            <a:extLst>
              <a:ext uri="{FF2B5EF4-FFF2-40B4-BE49-F238E27FC236}">
                <a16:creationId xmlns:a16="http://schemas.microsoft.com/office/drawing/2014/main" id="{C2742B0B-B1F7-42EF-8954-7223ED2EE251}"/>
              </a:ext>
            </a:extLst>
          </p:cNvPr>
          <p:cNvSpPr>
            <a:spLocks noGrp="1"/>
          </p:cNvSpPr>
          <p:nvPr/>
        </p:nvSpPr>
        <p:spPr>
          <a:xfrm>
            <a:off x="533400" y="1371600"/>
            <a:ext cx="10668000" cy="342900"/>
          </a:xfrm>
          <a:prstGeom prst="rect">
            <a:avLst/>
          </a:prstGeom>
          <a:noFill/>
          <a:ln w="0">
            <a:noFill/>
            <a:prstDash val="solid"/>
          </a:ln>
        </p:spPr>
        <p:txBody>
          <a:bodyPr/>
          <a:lstStyle/>
          <a:p>
            <a:pPr algn="l">
              <a:defRPr sz="1350" b="0">
                <a:solidFill>
                  <a:srgbClr val="555552"/>
                </a:solidFill>
              </a:defRPr>
            </a:pPr>
            <a:r>
              <a:rPr sz="1350" b="0">
                <a:solidFill>
                  <a:srgbClr val="555552"/>
                </a:solidFill>
              </a:rPr>
              <a:t>Prediction uses only the opening; the target uses future execution signals during training.</a:t>
            </a:r>
          </a:p>
        </p:txBody>
      </p:sp>
      <p:sp>
        <p:nvSpPr>
          <p:cNvPr id="9" name="Rounded Rectangle 8">
            <a:extLst>
              <a:ext uri="{FF2B5EF4-FFF2-40B4-BE49-F238E27FC236}">
                <a16:creationId xmlns:a16="http://schemas.microsoft.com/office/drawing/2014/main" id="{0CE5D587-3040-4A5C-A162-A3ABEC7ECADA}"/>
              </a:ext>
            </a:extLst>
          </p:cNvPr>
          <p:cNvSpPr>
            <a:spLocks noGrp="1"/>
          </p:cNvSpPr>
          <p:nvPr/>
        </p:nvSpPr>
        <p:spPr>
          <a:xfrm>
            <a:off x="552450" y="2057400"/>
            <a:ext cx="5810250" cy="2381250"/>
          </a:xfrm>
          <a:prstGeom prst="roundRect">
            <a:avLst>
              <a:gd name="adj" fmla="val 3200"/>
            </a:avLst>
          </a:prstGeom>
          <a:solidFill>
            <a:srgbClr val="EEEEEA"/>
          </a:solidFill>
          <a:ln w="9525">
            <a:solidFill>
              <a:srgbClr val="2B2B29"/>
            </a:solidFill>
            <a:prstDash val="solid"/>
          </a:ln>
        </p:spPr>
        <p:txBody>
          <a:bodyPr/>
          <a:lstStyle/>
          <a:p>
            <a:endParaRPr lang="en-DE"/>
          </a:p>
        </p:txBody>
      </p:sp>
      <p:sp>
        <p:nvSpPr>
          <p:cNvPr id="10" name="Rectangle 9">
            <a:extLst>
              <a:ext uri="{FF2B5EF4-FFF2-40B4-BE49-F238E27FC236}">
                <a16:creationId xmlns:a16="http://schemas.microsoft.com/office/drawing/2014/main" id="{DA9F833A-B3E0-442C-B224-0F6BB31A85D6}"/>
              </a:ext>
            </a:extLst>
          </p:cNvPr>
          <p:cNvSpPr>
            <a:spLocks noGrp="1"/>
          </p:cNvSpPr>
          <p:nvPr/>
        </p:nvSpPr>
        <p:spPr>
          <a:xfrm>
            <a:off x="723900" y="2190750"/>
            <a:ext cx="5467350" cy="2114550"/>
          </a:xfrm>
          <a:prstGeom prst="rect">
            <a:avLst/>
          </a:prstGeom>
          <a:noFill/>
          <a:ln w="0">
            <a:noFill/>
            <a:prstDash val="solid"/>
          </a:ln>
        </p:spPr>
        <p:txBody>
          <a:bodyPr/>
          <a:lstStyle/>
          <a:p>
            <a:pPr algn="l">
              <a:defRPr sz="1575" b="0">
                <a:solidFill>
                  <a:srgbClr val="0B0B0B"/>
                </a:solidFill>
              </a:defRPr>
            </a:pPr>
            <a:r>
              <a:rPr sz="1575" b="0">
                <a:solidFill>
                  <a:srgbClr val="0B0B0B"/>
                </a:solidFill>
              </a:rPr>
              <a:t>COMPLEXITY = 100 × (</a:t>
            </a:r>
          </a:p>
          <a:p>
            <a:pPr algn="l">
              <a:defRPr sz="1575" b="0">
                <a:solidFill>
                  <a:srgbClr val="0B0B0B"/>
                </a:solidFill>
              </a:defRPr>
            </a:pPr>
            <a:r>
              <a:rPr sz="1575" b="0">
                <a:solidFill>
                  <a:srgbClr val="0B0B0B"/>
                </a:solidFill>
              </a:rPr>
              <a:t>  0.50 × percentile(continuation tokens)</a:t>
            </a:r>
          </a:p>
          <a:p>
            <a:pPr algn="l">
              <a:defRPr sz="1575" b="0">
                <a:solidFill>
                  <a:srgbClr val="0B0B0B"/>
                </a:solidFill>
              </a:defRPr>
            </a:pPr>
            <a:r>
              <a:rPr sz="1575" b="0">
                <a:solidFill>
                  <a:srgbClr val="0B0B0B"/>
                </a:solidFill>
              </a:rPr>
              <a:t>+ 0.30 × percentile(tool calls)</a:t>
            </a:r>
          </a:p>
          <a:p>
            <a:pPr algn="l">
              <a:defRPr sz="1575" b="0">
                <a:solidFill>
                  <a:srgbClr val="0B0B0B"/>
                </a:solidFill>
              </a:defRPr>
            </a:pPr>
            <a:r>
              <a:rPr sz="1575" b="0">
                <a:solidFill>
                  <a:srgbClr val="0B0B0B"/>
                </a:solidFill>
              </a:rPr>
              <a:t>+ 0.20 × percentile(distinct tools)</a:t>
            </a:r>
          </a:p>
          <a:p>
            <a:pPr algn="l">
              <a:defRPr sz="1575" b="0">
                <a:solidFill>
                  <a:srgbClr val="0B0B0B"/>
                </a:solidFill>
              </a:defRPr>
            </a:pPr>
            <a:r>
              <a:rPr sz="1575" b="0">
                <a:solidFill>
                  <a:srgbClr val="0B0B0B"/>
                </a:solidFill>
              </a:rPr>
              <a:t>)</a:t>
            </a:r>
          </a:p>
        </p:txBody>
      </p:sp>
      <p:sp>
        <p:nvSpPr>
          <p:cNvPr id="11" name="Rectangle 10">
            <a:extLst>
              <a:ext uri="{FF2B5EF4-FFF2-40B4-BE49-F238E27FC236}">
                <a16:creationId xmlns:a16="http://schemas.microsoft.com/office/drawing/2014/main" id="{64164247-D539-4744-9E7E-1F4253DC39FA}"/>
              </a:ext>
            </a:extLst>
          </p:cNvPr>
          <p:cNvSpPr>
            <a:spLocks noGrp="1"/>
          </p:cNvSpPr>
          <p:nvPr/>
        </p:nvSpPr>
        <p:spPr>
          <a:xfrm>
            <a:off x="6972300" y="2114550"/>
            <a:ext cx="3333750" cy="228600"/>
          </a:xfrm>
          <a:prstGeom prst="rect">
            <a:avLst/>
          </a:prstGeom>
          <a:noFill/>
          <a:ln w="0">
            <a:noFill/>
            <a:prstDash val="solid"/>
          </a:ln>
        </p:spPr>
        <p:txBody>
          <a:bodyPr/>
          <a:lstStyle/>
          <a:p>
            <a:pPr algn="l">
              <a:defRPr sz="975" b="1">
                <a:solidFill>
                  <a:srgbClr val="555552"/>
                </a:solidFill>
              </a:defRPr>
            </a:pPr>
            <a:r>
              <a:rPr sz="975" b="1">
                <a:solidFill>
                  <a:srgbClr val="555552"/>
                </a:solidFill>
              </a:rPr>
              <a:t>WHY THESE SIGNALS</a:t>
            </a:r>
          </a:p>
        </p:txBody>
      </p:sp>
      <p:sp>
        <p:nvSpPr>
          <p:cNvPr id="12" name="Rectangle 11">
            <a:extLst>
              <a:ext uri="{FF2B5EF4-FFF2-40B4-BE49-F238E27FC236}">
                <a16:creationId xmlns:a16="http://schemas.microsoft.com/office/drawing/2014/main" id="{36CD7FB8-121F-458B-9540-62D81F3743A6}"/>
              </a:ext>
            </a:extLst>
          </p:cNvPr>
          <p:cNvSpPr>
            <a:spLocks noGrp="1"/>
          </p:cNvSpPr>
          <p:nvPr/>
        </p:nvSpPr>
        <p:spPr>
          <a:xfrm>
            <a:off x="6972300" y="2514600"/>
            <a:ext cx="2857500" cy="266700"/>
          </a:xfrm>
          <a:prstGeom prst="rect">
            <a:avLst/>
          </a:prstGeom>
          <a:noFill/>
          <a:ln w="0">
            <a:noFill/>
            <a:prstDash val="solid"/>
          </a:ln>
        </p:spPr>
        <p:txBody>
          <a:bodyPr/>
          <a:lstStyle/>
          <a:p>
            <a:pPr algn="l">
              <a:defRPr sz="1575" b="1">
                <a:solidFill>
                  <a:srgbClr val="0B0B0B"/>
                </a:solidFill>
              </a:defRPr>
            </a:pPr>
            <a:r>
              <a:rPr sz="1575" b="1">
                <a:solidFill>
                  <a:srgbClr val="0B0B0B"/>
                </a:solidFill>
              </a:rPr>
              <a:t>Longer continuation</a:t>
            </a:r>
          </a:p>
        </p:txBody>
      </p:sp>
      <p:sp>
        <p:nvSpPr>
          <p:cNvPr id="13" name="Rectangle 12">
            <a:extLst>
              <a:ext uri="{FF2B5EF4-FFF2-40B4-BE49-F238E27FC236}">
                <a16:creationId xmlns:a16="http://schemas.microsoft.com/office/drawing/2014/main" id="{65D9AC08-9CDC-43F2-AE46-C08CFB87294F}"/>
              </a:ext>
            </a:extLst>
          </p:cNvPr>
          <p:cNvSpPr>
            <a:spLocks noGrp="1"/>
          </p:cNvSpPr>
          <p:nvPr/>
        </p:nvSpPr>
        <p:spPr>
          <a:xfrm>
            <a:off x="6972300" y="2800350"/>
            <a:ext cx="3810000" cy="247650"/>
          </a:xfrm>
          <a:prstGeom prst="rect">
            <a:avLst/>
          </a:prstGeom>
          <a:noFill/>
          <a:ln w="0">
            <a:noFill/>
            <a:prstDash val="solid"/>
          </a:ln>
        </p:spPr>
        <p:txBody>
          <a:bodyPr/>
          <a:lstStyle/>
          <a:p>
            <a:pPr algn="l">
              <a:defRPr sz="1275" b="0">
                <a:solidFill>
                  <a:srgbClr val="555552"/>
                </a:solidFill>
              </a:defRPr>
            </a:pPr>
            <a:r>
              <a:rPr sz="1275" b="0">
                <a:solidFill>
                  <a:srgbClr val="555552"/>
                </a:solidFill>
              </a:rPr>
              <a:t>more work remains after the opening</a:t>
            </a:r>
          </a:p>
        </p:txBody>
      </p:sp>
      <p:sp>
        <p:nvSpPr>
          <p:cNvPr id="14" name="Rectangle 13">
            <a:extLst>
              <a:ext uri="{FF2B5EF4-FFF2-40B4-BE49-F238E27FC236}">
                <a16:creationId xmlns:a16="http://schemas.microsoft.com/office/drawing/2014/main" id="{F5035F11-9EED-46B5-8088-82D2AA9828B7}"/>
              </a:ext>
            </a:extLst>
          </p:cNvPr>
          <p:cNvSpPr>
            <a:spLocks noGrp="1"/>
          </p:cNvSpPr>
          <p:nvPr/>
        </p:nvSpPr>
        <p:spPr>
          <a:xfrm>
            <a:off x="6972300" y="3257550"/>
            <a:ext cx="2857500" cy="266700"/>
          </a:xfrm>
          <a:prstGeom prst="rect">
            <a:avLst/>
          </a:prstGeom>
          <a:noFill/>
          <a:ln w="0">
            <a:noFill/>
            <a:prstDash val="solid"/>
          </a:ln>
        </p:spPr>
        <p:txBody>
          <a:bodyPr/>
          <a:lstStyle/>
          <a:p>
            <a:pPr algn="l">
              <a:defRPr sz="1575" b="1">
                <a:solidFill>
                  <a:srgbClr val="0B0B0B"/>
                </a:solidFill>
              </a:defRPr>
            </a:pPr>
            <a:r>
              <a:rPr sz="1575" b="1">
                <a:solidFill>
                  <a:srgbClr val="0B0B0B"/>
                </a:solidFill>
              </a:rPr>
              <a:t>More tool calls</a:t>
            </a:r>
          </a:p>
        </p:txBody>
      </p:sp>
      <p:sp>
        <p:nvSpPr>
          <p:cNvPr id="15" name="Rectangle 14">
            <a:extLst>
              <a:ext uri="{FF2B5EF4-FFF2-40B4-BE49-F238E27FC236}">
                <a16:creationId xmlns:a16="http://schemas.microsoft.com/office/drawing/2014/main" id="{013C3B34-C74B-4556-9824-631D575D4798}"/>
              </a:ext>
            </a:extLst>
          </p:cNvPr>
          <p:cNvSpPr>
            <a:spLocks noGrp="1"/>
          </p:cNvSpPr>
          <p:nvPr/>
        </p:nvSpPr>
        <p:spPr>
          <a:xfrm>
            <a:off x="6972300" y="3543300"/>
            <a:ext cx="3810000" cy="247650"/>
          </a:xfrm>
          <a:prstGeom prst="rect">
            <a:avLst/>
          </a:prstGeom>
          <a:noFill/>
          <a:ln w="0">
            <a:noFill/>
            <a:prstDash val="solid"/>
          </a:ln>
        </p:spPr>
        <p:txBody>
          <a:bodyPr/>
          <a:lstStyle/>
          <a:p>
            <a:pPr algn="l">
              <a:defRPr sz="1275" b="0">
                <a:solidFill>
                  <a:srgbClr val="555552"/>
                </a:solidFill>
              </a:defRPr>
            </a:pPr>
            <a:r>
              <a:rPr sz="1275" b="0">
                <a:solidFill>
                  <a:srgbClr val="555552"/>
                </a:solidFill>
              </a:rPr>
              <a:t>more external execution steps</a:t>
            </a:r>
          </a:p>
        </p:txBody>
      </p:sp>
      <p:sp>
        <p:nvSpPr>
          <p:cNvPr id="16" name="Rectangle 15">
            <a:extLst>
              <a:ext uri="{FF2B5EF4-FFF2-40B4-BE49-F238E27FC236}">
                <a16:creationId xmlns:a16="http://schemas.microsoft.com/office/drawing/2014/main" id="{4318E5CC-B8EC-4048-BE89-BC57715632B5}"/>
              </a:ext>
            </a:extLst>
          </p:cNvPr>
          <p:cNvSpPr>
            <a:spLocks noGrp="1"/>
          </p:cNvSpPr>
          <p:nvPr/>
        </p:nvSpPr>
        <p:spPr>
          <a:xfrm>
            <a:off x="6972300" y="4000500"/>
            <a:ext cx="2857500" cy="266700"/>
          </a:xfrm>
          <a:prstGeom prst="rect">
            <a:avLst/>
          </a:prstGeom>
          <a:noFill/>
          <a:ln w="0">
            <a:noFill/>
            <a:prstDash val="solid"/>
          </a:ln>
        </p:spPr>
        <p:txBody>
          <a:bodyPr/>
          <a:lstStyle/>
          <a:p>
            <a:pPr algn="l">
              <a:defRPr sz="1575" b="1">
                <a:solidFill>
                  <a:srgbClr val="0B0B0B"/>
                </a:solidFill>
              </a:defRPr>
            </a:pPr>
            <a:r>
              <a:rPr sz="1575" b="1">
                <a:solidFill>
                  <a:srgbClr val="0B0B0B"/>
                </a:solidFill>
              </a:rPr>
              <a:t>More distinct tools</a:t>
            </a:r>
          </a:p>
        </p:txBody>
      </p:sp>
      <p:sp>
        <p:nvSpPr>
          <p:cNvPr id="17" name="Rectangle 16">
            <a:extLst>
              <a:ext uri="{FF2B5EF4-FFF2-40B4-BE49-F238E27FC236}">
                <a16:creationId xmlns:a16="http://schemas.microsoft.com/office/drawing/2014/main" id="{FF5D7392-A2D1-4F87-B8D8-126F73830B6D}"/>
              </a:ext>
            </a:extLst>
          </p:cNvPr>
          <p:cNvSpPr>
            <a:spLocks noGrp="1"/>
          </p:cNvSpPr>
          <p:nvPr/>
        </p:nvSpPr>
        <p:spPr>
          <a:xfrm>
            <a:off x="6972300" y="4286250"/>
            <a:ext cx="3810000" cy="247650"/>
          </a:xfrm>
          <a:prstGeom prst="rect">
            <a:avLst/>
          </a:prstGeom>
          <a:noFill/>
          <a:ln w="0">
            <a:noFill/>
            <a:prstDash val="solid"/>
          </a:ln>
        </p:spPr>
        <p:txBody>
          <a:bodyPr/>
          <a:lstStyle/>
          <a:p>
            <a:pPr algn="l">
              <a:defRPr sz="1275" b="0">
                <a:solidFill>
                  <a:srgbClr val="555552"/>
                </a:solidFill>
              </a:defRPr>
            </a:pPr>
            <a:r>
              <a:rPr sz="1275" b="0">
                <a:solidFill>
                  <a:srgbClr val="555552"/>
                </a:solidFill>
              </a:rPr>
              <a:t>broader coordination burden</a:t>
            </a:r>
          </a:p>
        </p:txBody>
      </p:sp>
      <p:sp>
        <p:nvSpPr>
          <p:cNvPr id="18" name="Straight Connector 17">
            <a:extLst>
              <a:ext uri="{FF2B5EF4-FFF2-40B4-BE49-F238E27FC236}">
                <a16:creationId xmlns:a16="http://schemas.microsoft.com/office/drawing/2014/main" id="{A2E40CB4-8802-4227-946A-A6910B8CF2E1}"/>
              </a:ext>
            </a:extLst>
          </p:cNvPr>
          <p:cNvSpPr>
            <a:spLocks noGrp="1"/>
          </p:cNvSpPr>
          <p:nvPr/>
        </p:nvSpPr>
        <p:spPr>
          <a:xfrm>
            <a:off x="552450" y="4857750"/>
            <a:ext cx="10668000" cy="0"/>
          </a:xfrm>
          <a:prstGeom prst="line">
            <a:avLst/>
          </a:prstGeom>
          <a:noFill/>
          <a:ln w="19050">
            <a:solidFill>
              <a:srgbClr val="0B0B0B"/>
            </a:solidFill>
            <a:prstDash val="solid"/>
          </a:ln>
        </p:spPr>
        <p:txBody>
          <a:bodyPr/>
          <a:lstStyle/>
          <a:p>
            <a:endParaRPr lang="en-DE"/>
          </a:p>
        </p:txBody>
      </p:sp>
      <p:sp>
        <p:nvSpPr>
          <p:cNvPr id="19" name="Rectangle 18">
            <a:extLst>
              <a:ext uri="{FF2B5EF4-FFF2-40B4-BE49-F238E27FC236}">
                <a16:creationId xmlns:a16="http://schemas.microsoft.com/office/drawing/2014/main" id="{829FC156-B3D5-4EAB-8AA3-6BF1F908F4CA}"/>
              </a:ext>
            </a:extLst>
          </p:cNvPr>
          <p:cNvSpPr>
            <a:spLocks noGrp="1"/>
          </p:cNvSpPr>
          <p:nvPr/>
        </p:nvSpPr>
        <p:spPr>
          <a:xfrm>
            <a:off x="552450" y="5124450"/>
            <a:ext cx="2476500" cy="609600"/>
          </a:xfrm>
          <a:prstGeom prst="rect">
            <a:avLst/>
          </a:prstGeom>
          <a:noFill/>
          <a:ln w="0">
            <a:noFill/>
            <a:prstDash val="solid"/>
          </a:ln>
        </p:spPr>
        <p:txBody>
          <a:bodyPr/>
          <a:lstStyle/>
          <a:p>
            <a:pPr algn="l">
              <a:defRPr sz="3600" b="1">
                <a:solidFill>
                  <a:srgbClr val="0B0B0B"/>
                </a:solidFill>
              </a:defRPr>
            </a:pPr>
            <a:r>
              <a:rPr sz="3600" b="1">
                <a:solidFill>
                  <a:srgbClr val="0B0B0B"/>
                </a:solidFill>
              </a:rPr>
              <a:t>15.9</a:t>
            </a:r>
          </a:p>
        </p:txBody>
      </p:sp>
      <p:sp>
        <p:nvSpPr>
          <p:cNvPr id="20" name="Rectangle 19">
            <a:extLst>
              <a:ext uri="{FF2B5EF4-FFF2-40B4-BE49-F238E27FC236}">
                <a16:creationId xmlns:a16="http://schemas.microsoft.com/office/drawing/2014/main" id="{04C6D736-FD20-4E72-AA60-66EA77C0A766}"/>
              </a:ext>
            </a:extLst>
          </p:cNvPr>
          <p:cNvSpPr>
            <a:spLocks noGrp="1"/>
          </p:cNvSpPr>
          <p:nvPr/>
        </p:nvSpPr>
        <p:spPr>
          <a:xfrm>
            <a:off x="552450" y="5676900"/>
            <a:ext cx="2476500" cy="438150"/>
          </a:xfrm>
          <a:prstGeom prst="rect">
            <a:avLst/>
          </a:prstGeom>
          <a:noFill/>
          <a:ln w="0">
            <a:noFill/>
            <a:prstDash val="solid"/>
          </a:ln>
        </p:spPr>
        <p:txBody>
          <a:bodyPr/>
          <a:lstStyle/>
          <a:p>
            <a:pPr algn="l">
              <a:defRPr sz="1200" b="0">
                <a:solidFill>
                  <a:srgbClr val="555552"/>
                </a:solidFill>
              </a:defRPr>
            </a:pPr>
            <a:r>
              <a:rPr sz="1200" b="0">
                <a:solidFill>
                  <a:srgbClr val="555552"/>
                </a:solidFill>
              </a:rPr>
              <a:t>held-out MAE / 100</a:t>
            </a:r>
          </a:p>
        </p:txBody>
      </p:sp>
      <p:sp>
        <p:nvSpPr>
          <p:cNvPr id="21" name="Rectangle 20">
            <a:extLst>
              <a:ext uri="{FF2B5EF4-FFF2-40B4-BE49-F238E27FC236}">
                <a16:creationId xmlns:a16="http://schemas.microsoft.com/office/drawing/2014/main" id="{ADDC9754-27CF-4713-942D-681A3D190BCB}"/>
              </a:ext>
            </a:extLst>
          </p:cNvPr>
          <p:cNvSpPr>
            <a:spLocks noGrp="1"/>
          </p:cNvSpPr>
          <p:nvPr/>
        </p:nvSpPr>
        <p:spPr>
          <a:xfrm>
            <a:off x="3714750" y="5124450"/>
            <a:ext cx="2667000" cy="609600"/>
          </a:xfrm>
          <a:prstGeom prst="rect">
            <a:avLst/>
          </a:prstGeom>
          <a:noFill/>
          <a:ln w="0">
            <a:noFill/>
            <a:prstDash val="solid"/>
          </a:ln>
        </p:spPr>
        <p:txBody>
          <a:bodyPr/>
          <a:lstStyle/>
          <a:p>
            <a:pPr algn="l">
              <a:defRPr sz="3600" b="1">
                <a:solidFill>
                  <a:srgbClr val="0B0B0B"/>
                </a:solidFill>
              </a:defRPr>
            </a:pPr>
            <a:r>
              <a:rPr sz="3600" b="1">
                <a:solidFill>
                  <a:srgbClr val="0B0B0B"/>
                </a:solidFill>
              </a:rPr>
              <a:t>0.675</a:t>
            </a:r>
          </a:p>
        </p:txBody>
      </p:sp>
      <p:sp>
        <p:nvSpPr>
          <p:cNvPr id="22" name="Rectangle 21">
            <a:extLst>
              <a:ext uri="{FF2B5EF4-FFF2-40B4-BE49-F238E27FC236}">
                <a16:creationId xmlns:a16="http://schemas.microsoft.com/office/drawing/2014/main" id="{C68026B1-2342-414B-A606-62B5CADB8FC9}"/>
              </a:ext>
            </a:extLst>
          </p:cNvPr>
          <p:cNvSpPr>
            <a:spLocks noGrp="1"/>
          </p:cNvSpPr>
          <p:nvPr/>
        </p:nvSpPr>
        <p:spPr>
          <a:xfrm>
            <a:off x="3714750" y="5676900"/>
            <a:ext cx="2667000" cy="438150"/>
          </a:xfrm>
          <a:prstGeom prst="rect">
            <a:avLst/>
          </a:prstGeom>
          <a:noFill/>
          <a:ln w="0">
            <a:noFill/>
            <a:prstDash val="solid"/>
          </a:ln>
        </p:spPr>
        <p:txBody>
          <a:bodyPr/>
          <a:lstStyle/>
          <a:p>
            <a:pPr algn="l">
              <a:defRPr sz="1200" b="0">
                <a:solidFill>
                  <a:srgbClr val="555552"/>
                </a:solidFill>
              </a:defRPr>
            </a:pPr>
            <a:r>
              <a:rPr sz="1200" b="0">
                <a:solidFill>
                  <a:srgbClr val="555552"/>
                </a:solidFill>
              </a:rPr>
              <a:t>complexity correlation</a:t>
            </a:r>
          </a:p>
        </p:txBody>
      </p:sp>
      <p:sp>
        <p:nvSpPr>
          <p:cNvPr id="23" name="Rectangle 22">
            <a:extLst>
              <a:ext uri="{FF2B5EF4-FFF2-40B4-BE49-F238E27FC236}">
                <a16:creationId xmlns:a16="http://schemas.microsoft.com/office/drawing/2014/main" id="{6B5ECA31-BA23-4D75-848E-77D9340588B3}"/>
              </a:ext>
            </a:extLst>
          </p:cNvPr>
          <p:cNvSpPr>
            <a:spLocks noGrp="1"/>
          </p:cNvSpPr>
          <p:nvPr/>
        </p:nvSpPr>
        <p:spPr>
          <a:xfrm>
            <a:off x="7239000" y="5124450"/>
            <a:ext cx="3143250" cy="609600"/>
          </a:xfrm>
          <a:prstGeom prst="rect">
            <a:avLst/>
          </a:prstGeom>
          <a:noFill/>
          <a:ln w="0">
            <a:noFill/>
            <a:prstDash val="solid"/>
          </a:ln>
        </p:spPr>
        <p:txBody>
          <a:bodyPr/>
          <a:lstStyle/>
          <a:p>
            <a:pPr algn="l">
              <a:defRPr sz="3600" b="1">
                <a:solidFill>
                  <a:srgbClr val="0B0B0B"/>
                </a:solidFill>
              </a:defRPr>
            </a:pPr>
            <a:r>
              <a:rPr sz="3600" b="1">
                <a:solidFill>
                  <a:srgbClr val="0B0B0B"/>
                </a:solidFill>
              </a:rPr>
              <a:t>0.677</a:t>
            </a:r>
          </a:p>
        </p:txBody>
      </p:sp>
      <p:sp>
        <p:nvSpPr>
          <p:cNvPr id="24" name="Rectangle 23">
            <a:extLst>
              <a:ext uri="{FF2B5EF4-FFF2-40B4-BE49-F238E27FC236}">
                <a16:creationId xmlns:a16="http://schemas.microsoft.com/office/drawing/2014/main" id="{B0BDD7D4-1E63-417A-9D79-AF72613153B5}"/>
              </a:ext>
            </a:extLst>
          </p:cNvPr>
          <p:cNvSpPr>
            <a:spLocks noGrp="1"/>
          </p:cNvSpPr>
          <p:nvPr/>
        </p:nvSpPr>
        <p:spPr>
          <a:xfrm>
            <a:off x="7239000" y="5676900"/>
            <a:ext cx="3143250" cy="438150"/>
          </a:xfrm>
          <a:prstGeom prst="rect">
            <a:avLst/>
          </a:prstGeom>
          <a:noFill/>
          <a:ln w="0">
            <a:noFill/>
            <a:prstDash val="solid"/>
          </a:ln>
        </p:spPr>
        <p:txBody>
          <a:bodyPr/>
          <a:lstStyle/>
          <a:p>
            <a:pPr algn="l">
              <a:defRPr sz="1200" b="0">
                <a:solidFill>
                  <a:srgbClr val="555552"/>
                </a:solidFill>
              </a:defRPr>
            </a:pPr>
            <a:r>
              <a:rPr sz="1200" b="0">
                <a:solidFill>
                  <a:srgbClr val="555552"/>
                </a:solidFill>
              </a:rPr>
              <a:t>execution-risk ROC AUC</a:t>
            </a:r>
          </a:p>
        </p:txBody>
      </p:sp>
      <p:sp>
        <p:nvSpPr>
          <p:cNvPr id="25" name="Rectangle 24">
            <a:extLst>
              <a:ext uri="{FF2B5EF4-FFF2-40B4-BE49-F238E27FC236}">
                <a16:creationId xmlns:a16="http://schemas.microsoft.com/office/drawing/2014/main" id="{D4392E5F-AA55-45FC-A01C-7167E8459F43}"/>
              </a:ext>
            </a:extLst>
          </p:cNvPr>
          <p:cNvSpPr>
            <a:spLocks noGrp="1"/>
          </p:cNvSpPr>
          <p:nvPr/>
        </p:nvSpPr>
        <p:spPr>
          <a:xfrm>
            <a:off x="552450" y="6153150"/>
            <a:ext cx="10668000" cy="247650"/>
          </a:xfrm>
          <a:prstGeom prst="rect">
            <a:avLst/>
          </a:prstGeom>
          <a:noFill/>
          <a:ln w="0">
            <a:noFill/>
            <a:prstDash val="solid"/>
          </a:ln>
        </p:spPr>
        <p:txBody>
          <a:bodyPr/>
          <a:lstStyle/>
          <a:p>
            <a:pPr algn="l">
              <a:defRPr sz="1200" b="0">
                <a:solidFill>
                  <a:srgbClr val="555552"/>
                </a:solidFill>
              </a:defRPr>
            </a:pPr>
            <a:r>
              <a:rPr sz="1200" b="0">
                <a:solidFill>
                  <a:srgbClr val="555552"/>
                </a:solidFill>
              </a:rPr>
              <a:t>A separate risk head models errors and user corrections.</a:t>
            </a:r>
          </a:p>
        </p:txBody>
      </p:sp>
    </p:spTree>
    <p:extLst>
      <p:ext uri="{BB962C8B-B14F-4D97-AF65-F5344CB8AC3E}">
        <p14:creationId xmlns:p14="http://schemas.microsoft.com/office/powerpoint/2010/main" val="511978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15" name="page-7">
            <a:extLst>
              <a:ext uri="{FF2B5EF4-FFF2-40B4-BE49-F238E27FC236}">
                <a16:creationId xmlns:a16="http://schemas.microsoft.com/office/drawing/2014/main" id="{1F76B0F3-484B-41D4-8753-257925B23D7E}"/>
              </a:ext>
            </a:extLst>
          </p:cNvPr>
          <p:cNvSpPr>
            <a:spLocks noGrp="1"/>
          </p:cNvSpPr>
          <p:nvPr/>
        </p:nvSpPr>
        <p:spPr>
          <a:xfrm>
            <a:off x="514350" y="285750"/>
            <a:ext cx="400050" cy="209550"/>
          </a:xfrm>
          <a:prstGeom prst="rect">
            <a:avLst/>
          </a:prstGeom>
          <a:noFill/>
          <a:ln w="0">
            <a:noFill/>
            <a:prstDash val="solid"/>
          </a:ln>
        </p:spPr>
        <p:txBody>
          <a:bodyPr/>
          <a:lstStyle/>
          <a:p>
            <a:pPr algn="l">
              <a:defRPr sz="900" b="1">
                <a:solidFill>
                  <a:srgbClr val="9B9B96"/>
                </a:solidFill>
              </a:defRPr>
            </a:pPr>
            <a:r>
              <a:rPr sz="900" b="1">
                <a:solidFill>
                  <a:srgbClr val="9B9B96"/>
                </a:solidFill>
              </a:rPr>
              <a:t>07</a:t>
            </a:r>
          </a:p>
        </p:txBody>
      </p:sp>
      <p:sp>
        <p:nvSpPr>
          <p:cNvPr id="2" name="Straight Connector 1">
            <a:extLst>
              <a:ext uri="{FF2B5EF4-FFF2-40B4-BE49-F238E27FC236}">
                <a16:creationId xmlns:a16="http://schemas.microsoft.com/office/drawing/2014/main" id="{1D6A4D32-9DE7-4E44-8A41-B36F960681E9}"/>
              </a:ext>
            </a:extLst>
          </p:cNvPr>
          <p:cNvSpPr>
            <a:spLocks noGrp="1"/>
          </p:cNvSpPr>
          <p:nvPr/>
        </p:nvSpPr>
        <p:spPr>
          <a:xfrm>
            <a:off x="1009650" y="381000"/>
            <a:ext cx="476250" cy="0"/>
          </a:xfrm>
          <a:prstGeom prst="line">
            <a:avLst/>
          </a:prstGeom>
          <a:noFill/>
          <a:ln w="19050">
            <a:solidFill>
              <a:srgbClr val="9B9B96"/>
            </a:solidFill>
            <a:prstDash val="solid"/>
          </a:ln>
        </p:spPr>
        <p:txBody>
          <a:bodyPr/>
          <a:lstStyle/>
          <a:p>
            <a:endParaRPr lang="en-DE"/>
          </a:p>
        </p:txBody>
      </p:sp>
      <p:sp>
        <p:nvSpPr>
          <p:cNvPr id="3" name="section-7">
            <a:extLst>
              <a:ext uri="{FF2B5EF4-FFF2-40B4-BE49-F238E27FC236}">
                <a16:creationId xmlns:a16="http://schemas.microsoft.com/office/drawing/2014/main" id="{CBAE2070-EF15-4286-81B1-D32E1FABFD38}"/>
              </a:ext>
            </a:extLst>
          </p:cNvPr>
          <p:cNvSpPr>
            <a:spLocks noGrp="1"/>
          </p:cNvSpPr>
          <p:nvPr/>
        </p:nvSpPr>
        <p:spPr>
          <a:xfrm>
            <a:off x="1676400" y="285750"/>
            <a:ext cx="4000500" cy="228600"/>
          </a:xfrm>
          <a:prstGeom prst="rect">
            <a:avLst/>
          </a:prstGeom>
          <a:noFill/>
          <a:ln w="0">
            <a:noFill/>
            <a:prstDash val="solid"/>
          </a:ln>
        </p:spPr>
        <p:txBody>
          <a:bodyPr/>
          <a:lstStyle/>
          <a:p>
            <a:pPr algn="l">
              <a:defRPr sz="900" b="1">
                <a:solidFill>
                  <a:srgbClr val="9B9B96"/>
                </a:solidFill>
              </a:defRPr>
            </a:pPr>
            <a:r>
              <a:rPr sz="900" b="1">
                <a:solidFill>
                  <a:srgbClr val="9B9B96"/>
                </a:solidFill>
              </a:rPr>
              <a:t>FEATURE SET A / OPENING</a:t>
            </a:r>
          </a:p>
        </p:txBody>
      </p:sp>
      <p:sp>
        <p:nvSpPr>
          <p:cNvPr id="4" name="Straight Connector 3">
            <a:extLst>
              <a:ext uri="{FF2B5EF4-FFF2-40B4-BE49-F238E27FC236}">
                <a16:creationId xmlns:a16="http://schemas.microsoft.com/office/drawing/2014/main" id="{83A1EDC9-6708-4FCC-A2C0-07B12868BA87}"/>
              </a:ext>
            </a:extLst>
          </p:cNvPr>
          <p:cNvSpPr>
            <a:spLocks noGrp="1"/>
          </p:cNvSpPr>
          <p:nvPr/>
        </p:nvSpPr>
        <p:spPr>
          <a:xfrm>
            <a:off x="514350" y="6496050"/>
            <a:ext cx="11163300" cy="0"/>
          </a:xfrm>
          <a:prstGeom prst="line">
            <a:avLst/>
          </a:prstGeom>
          <a:noFill/>
          <a:ln w="9525">
            <a:solidFill>
              <a:srgbClr val="2B2B29"/>
            </a:solidFill>
            <a:prstDash val="solid"/>
          </a:ln>
        </p:spPr>
        <p:txBody>
          <a:bodyPr/>
          <a:lstStyle/>
          <a:p>
            <a:endParaRPr lang="en-DE"/>
          </a:p>
        </p:txBody>
      </p:sp>
      <p:sp>
        <p:nvSpPr>
          <p:cNvPr id="5" name="Rectangle 4">
            <a:extLst>
              <a:ext uri="{FF2B5EF4-FFF2-40B4-BE49-F238E27FC236}">
                <a16:creationId xmlns:a16="http://schemas.microsoft.com/office/drawing/2014/main" id="{19B7C344-8039-4FE0-973A-8684995D4F52}"/>
              </a:ext>
            </a:extLst>
          </p:cNvPr>
          <p:cNvSpPr>
            <a:spLocks noGrp="1"/>
          </p:cNvSpPr>
          <p:nvPr/>
        </p:nvSpPr>
        <p:spPr>
          <a:xfrm>
            <a:off x="514350" y="6572250"/>
            <a:ext cx="3619500" cy="171450"/>
          </a:xfrm>
          <a:prstGeom prst="rect">
            <a:avLst/>
          </a:prstGeom>
          <a:noFill/>
          <a:ln w="0">
            <a:noFill/>
            <a:prstDash val="solid"/>
          </a:ln>
        </p:spPr>
        <p:txBody>
          <a:bodyPr/>
          <a:lstStyle/>
          <a:p>
            <a:pPr algn="l">
              <a:defRPr sz="750" b="1">
                <a:solidFill>
                  <a:srgbClr val="9B9B96"/>
                </a:solidFill>
              </a:defRPr>
            </a:pPr>
            <a:r>
              <a:rPr sz="750" b="1">
                <a:solidFill>
                  <a:srgbClr val="9B9B96"/>
                </a:solidFill>
              </a:rPr>
              <a:t>VIKTOR ROUTER / TUM.AI 2026</a:t>
            </a:r>
          </a:p>
        </p:txBody>
      </p:sp>
      <p:sp>
        <p:nvSpPr>
          <p:cNvPr id="6" name="Rectangle 5">
            <a:extLst>
              <a:ext uri="{FF2B5EF4-FFF2-40B4-BE49-F238E27FC236}">
                <a16:creationId xmlns:a16="http://schemas.microsoft.com/office/drawing/2014/main" id="{73C6B173-7797-4157-9C12-857898F96017}"/>
              </a:ext>
            </a:extLst>
          </p:cNvPr>
          <p:cNvSpPr>
            <a:spLocks noGrp="1"/>
          </p:cNvSpPr>
          <p:nvPr/>
        </p:nvSpPr>
        <p:spPr>
          <a:xfrm>
            <a:off x="10191750" y="6572250"/>
            <a:ext cx="1485900" cy="171450"/>
          </a:xfrm>
          <a:prstGeom prst="rect">
            <a:avLst/>
          </a:prstGeom>
          <a:noFill/>
          <a:ln w="0">
            <a:noFill/>
            <a:prstDash val="solid"/>
          </a:ln>
        </p:spPr>
        <p:txBody>
          <a:bodyPr/>
          <a:lstStyle/>
          <a:p>
            <a:pPr algn="r">
              <a:defRPr sz="750" b="1">
                <a:solidFill>
                  <a:srgbClr val="9B9B96"/>
                </a:solidFill>
              </a:defRPr>
            </a:pPr>
            <a:r>
              <a:rPr sz="750" b="1">
                <a:solidFill>
                  <a:srgbClr val="9B9B96"/>
                </a:solidFill>
              </a:rPr>
              <a:t>7 / 14</a:t>
            </a:r>
          </a:p>
        </p:txBody>
      </p:sp>
      <p:sp>
        <p:nvSpPr>
          <p:cNvPr id="7" name="slide-title">
            <a:extLst>
              <a:ext uri="{FF2B5EF4-FFF2-40B4-BE49-F238E27FC236}">
                <a16:creationId xmlns:a16="http://schemas.microsoft.com/office/drawing/2014/main" id="{AD17B2F9-23D1-4385-93E9-D844355BA93F}"/>
              </a:ext>
            </a:extLst>
          </p:cNvPr>
          <p:cNvSpPr>
            <a:spLocks noGrp="1"/>
          </p:cNvSpPr>
          <p:nvPr/>
        </p:nvSpPr>
        <p:spPr>
          <a:xfrm>
            <a:off x="514350" y="704850"/>
            <a:ext cx="11163300" cy="685800"/>
          </a:xfrm>
          <a:prstGeom prst="rect">
            <a:avLst/>
          </a:prstGeom>
          <a:noFill/>
          <a:ln w="0">
            <a:noFill/>
            <a:prstDash val="solid"/>
          </a:ln>
        </p:spPr>
        <p:txBody>
          <a:bodyPr/>
          <a:lstStyle/>
          <a:p>
            <a:pPr algn="l">
              <a:defRPr sz="3000" b="1">
                <a:solidFill>
                  <a:srgbClr val="F4F4F2"/>
                </a:solidFill>
              </a:defRPr>
            </a:pPr>
            <a:r>
              <a:rPr sz="3000" b="1">
                <a:solidFill>
                  <a:srgbClr val="F4F4F2"/>
                </a:solidFill>
              </a:rPr>
              <a:t>The first vector describes the task before execution.</a:t>
            </a:r>
          </a:p>
        </p:txBody>
      </p:sp>
      <p:sp>
        <p:nvSpPr>
          <p:cNvPr id="8" name="slide-subtitle">
            <a:extLst>
              <a:ext uri="{FF2B5EF4-FFF2-40B4-BE49-F238E27FC236}">
                <a16:creationId xmlns:a16="http://schemas.microsoft.com/office/drawing/2014/main" id="{D519C01B-E9C4-4000-AC5E-79F91A115A58}"/>
              </a:ext>
            </a:extLst>
          </p:cNvPr>
          <p:cNvSpPr>
            <a:spLocks noGrp="1"/>
          </p:cNvSpPr>
          <p:nvPr/>
        </p:nvSpPr>
        <p:spPr>
          <a:xfrm>
            <a:off x="533400" y="1371600"/>
            <a:ext cx="10668000" cy="342900"/>
          </a:xfrm>
          <a:prstGeom prst="rect">
            <a:avLst/>
          </a:prstGeom>
          <a:noFill/>
          <a:ln w="0">
            <a:noFill/>
            <a:prstDash val="solid"/>
          </a:ln>
        </p:spPr>
        <p:txBody>
          <a:bodyPr/>
          <a:lstStyle/>
          <a:p>
            <a:pPr algn="l">
              <a:defRPr sz="1350" b="0">
                <a:solidFill>
                  <a:srgbClr val="9B9B96"/>
                </a:solidFill>
              </a:defRPr>
            </a:pPr>
            <a:r>
              <a:rPr sz="1350" b="0">
                <a:solidFill>
                  <a:srgbClr val="9B9B96"/>
                </a:solidFill>
              </a:rPr>
              <a:t>Actual external chunk-02 trajectory · scheduled Airtable queue · source line 200.</a:t>
            </a:r>
          </a:p>
        </p:txBody>
      </p:sp>
      <p:sp>
        <p:nvSpPr>
          <p:cNvPr id="9" name="Rounded Rectangle 8">
            <a:extLst>
              <a:ext uri="{FF2B5EF4-FFF2-40B4-BE49-F238E27FC236}">
                <a16:creationId xmlns:a16="http://schemas.microsoft.com/office/drawing/2014/main" id="{78C09590-7B23-4481-BA68-A36F6956F8DE}"/>
              </a:ext>
            </a:extLst>
          </p:cNvPr>
          <p:cNvSpPr>
            <a:spLocks noGrp="1"/>
          </p:cNvSpPr>
          <p:nvPr/>
        </p:nvSpPr>
        <p:spPr>
          <a:xfrm>
            <a:off x="552450" y="2038350"/>
            <a:ext cx="5238750" cy="3886200"/>
          </a:xfrm>
          <a:prstGeom prst="roundRect">
            <a:avLst>
              <a:gd name="adj" fmla="val 1961"/>
            </a:avLst>
          </a:prstGeom>
          <a:solidFill>
            <a:srgbClr val="101010"/>
          </a:solidFill>
          <a:ln w="9525">
            <a:solidFill>
              <a:srgbClr val="2B2B29"/>
            </a:solidFill>
            <a:prstDash val="solid"/>
          </a:ln>
        </p:spPr>
        <p:txBody>
          <a:bodyPr/>
          <a:lstStyle/>
          <a:p>
            <a:endParaRPr lang="en-DE"/>
          </a:p>
        </p:txBody>
      </p:sp>
      <p:sp>
        <p:nvSpPr>
          <p:cNvPr id="10" name="Rectangle 9">
            <a:extLst>
              <a:ext uri="{FF2B5EF4-FFF2-40B4-BE49-F238E27FC236}">
                <a16:creationId xmlns:a16="http://schemas.microsoft.com/office/drawing/2014/main" id="{A6B7CACD-DC68-47BA-9CFF-6ABD9CC228D4}"/>
              </a:ext>
            </a:extLst>
          </p:cNvPr>
          <p:cNvSpPr>
            <a:spLocks noGrp="1"/>
          </p:cNvSpPr>
          <p:nvPr/>
        </p:nvSpPr>
        <p:spPr>
          <a:xfrm>
            <a:off x="723900" y="2171700"/>
            <a:ext cx="4895850" cy="3619500"/>
          </a:xfrm>
          <a:prstGeom prst="rect">
            <a:avLst/>
          </a:prstGeom>
          <a:noFill/>
          <a:ln w="0">
            <a:noFill/>
            <a:prstDash val="solid"/>
          </a:ln>
        </p:spPr>
        <p:txBody>
          <a:bodyPr/>
          <a:lstStyle/>
          <a:p>
            <a:pPr algn="l">
              <a:defRPr sz="1163" b="0">
                <a:solidFill>
                  <a:srgbClr val="D6D6D2"/>
                </a:solidFill>
              </a:defRPr>
            </a:pPr>
            <a:r>
              <a:rPr sz="1163" b="0">
                <a:solidFill>
                  <a:srgbClr val="D6D6D2"/>
                </a:solidFill>
              </a:rPr>
              <a:t>{</a:t>
            </a:r>
          </a:p>
          <a:p>
            <a:pPr algn="l">
              <a:defRPr sz="1163" b="0">
                <a:solidFill>
                  <a:srgbClr val="D6D6D2"/>
                </a:solidFill>
              </a:defRPr>
            </a:pPr>
            <a:r>
              <a:rPr sz="1163" b="0">
                <a:solidFill>
                  <a:srgbClr val="D6D6D2"/>
                </a:solidFill>
              </a:rPr>
              <a:t>  "x_total_context_tokens_est": 13066,</a:t>
            </a:r>
          </a:p>
          <a:p>
            <a:pPr algn="l">
              <a:defRPr sz="1163" b="0">
                <a:solidFill>
                  <a:srgbClr val="D6D6D2"/>
                </a:solidFill>
              </a:defRPr>
            </a:pPr>
            <a:r>
              <a:rPr sz="1163" b="0">
                <a:solidFill>
                  <a:srgbClr val="D6D6D2"/>
                </a:solidFill>
              </a:rPr>
              <a:t>  "x_task_text_tokens_est": 1500,</a:t>
            </a:r>
          </a:p>
          <a:p>
            <a:pPr algn="l">
              <a:defRPr sz="1163" b="0">
                <a:solidFill>
                  <a:srgbClr val="D6D6D2"/>
                </a:solidFill>
              </a:defRPr>
            </a:pPr>
            <a:r>
              <a:rPr sz="1163" b="0">
                <a:solidFill>
                  <a:srgbClr val="D6D6D2"/>
                </a:solidFill>
              </a:rPr>
              <a:t>  "x_input_items": 2,</a:t>
            </a:r>
          </a:p>
          <a:p>
            <a:pPr algn="l">
              <a:defRPr sz="1163" b="0">
                <a:solidFill>
                  <a:srgbClr val="D6D6D2"/>
                </a:solidFill>
              </a:defRPr>
            </a:pPr>
            <a:r>
              <a:rPr sz="1163" b="0">
                <a:solidFill>
                  <a:srgbClr val="D6D6D2"/>
                </a:solidFill>
              </a:rPr>
              <a:t>  "x_user_messages": 1,</a:t>
            </a:r>
          </a:p>
          <a:p>
            <a:pPr algn="l">
              <a:defRPr sz="1163" b="0">
                <a:solidFill>
                  <a:srgbClr val="D6D6D2"/>
                </a:solidFill>
              </a:defRPr>
            </a:pPr>
            <a:r>
              <a:rPr sz="1163" b="0">
                <a:solidFill>
                  <a:srgbClr val="D6D6D2"/>
                </a:solidFill>
              </a:rPr>
              <a:t>  "x_image_parts": 0,</a:t>
            </a:r>
          </a:p>
          <a:p>
            <a:pPr algn="l">
              <a:defRPr sz="1163" b="0">
                <a:solidFill>
                  <a:srgbClr val="D6D6D2"/>
                </a:solidFill>
              </a:defRPr>
            </a:pPr>
            <a:r>
              <a:rPr sz="1163" b="0">
                <a:solidFill>
                  <a:srgbClr val="D6D6D2"/>
                </a:solidFill>
              </a:rPr>
              <a:t>  "x_available_tools": 12,</a:t>
            </a:r>
          </a:p>
          <a:p>
            <a:pPr algn="l">
              <a:defRPr sz="1163" b="0">
                <a:solidFill>
                  <a:srgbClr val="D6D6D2"/>
                </a:solidFill>
              </a:defRPr>
            </a:pPr>
            <a:r>
              <a:rPr sz="1163" b="0">
                <a:solidFill>
                  <a:srgbClr val="D6D6D2"/>
                </a:solidFill>
              </a:rPr>
              <a:t>  "x_question_marks": 0,</a:t>
            </a:r>
          </a:p>
          <a:p>
            <a:pPr algn="l">
              <a:defRPr sz="1163" b="0">
                <a:solidFill>
                  <a:srgbClr val="D6D6D2"/>
                </a:solidFill>
              </a:defRPr>
            </a:pPr>
            <a:r>
              <a:rPr sz="1163" b="0">
                <a:solidFill>
                  <a:srgbClr val="D6D6D2"/>
                </a:solidFill>
              </a:rPr>
              <a:t>  "x_instruction_markers": 18,</a:t>
            </a:r>
          </a:p>
          <a:p>
            <a:pPr algn="l">
              <a:defRPr sz="1163" b="0">
                <a:solidFill>
                  <a:srgbClr val="D6D6D2"/>
                </a:solidFill>
              </a:defRPr>
            </a:pPr>
            <a:r>
              <a:rPr sz="1163" b="0">
                <a:solidFill>
                  <a:srgbClr val="D6D6D2"/>
                </a:solidFill>
              </a:rPr>
              <a:t>  "x_is_scheduled": 1,</a:t>
            </a:r>
          </a:p>
          <a:p>
            <a:pPr algn="l">
              <a:defRPr sz="1163" b="0">
                <a:solidFill>
                  <a:srgbClr val="D6D6D2"/>
                </a:solidFill>
              </a:defRPr>
            </a:pPr>
            <a:r>
              <a:rPr sz="1163" b="0">
                <a:solidFill>
                  <a:srgbClr val="D6D6D2"/>
                </a:solidFill>
              </a:rPr>
              <a:t>  "x_is_communication": 1,</a:t>
            </a:r>
          </a:p>
          <a:p>
            <a:pPr algn="l">
              <a:defRPr sz="1163" b="0">
                <a:solidFill>
                  <a:srgbClr val="D6D6D2"/>
                </a:solidFill>
              </a:defRPr>
            </a:pPr>
            <a:r>
              <a:rPr sz="1163" b="0">
                <a:solidFill>
                  <a:srgbClr val="D6D6D2"/>
                </a:solidFill>
              </a:rPr>
              <a:t>  "x_is_coding": 0,</a:t>
            </a:r>
          </a:p>
          <a:p>
            <a:pPr algn="l">
              <a:defRPr sz="1163" b="0">
                <a:solidFill>
                  <a:srgbClr val="D6D6D2"/>
                </a:solidFill>
              </a:defRPr>
            </a:pPr>
            <a:r>
              <a:rPr sz="1163" b="0">
                <a:solidFill>
                  <a:srgbClr val="D6D6D2"/>
                </a:solidFill>
              </a:rPr>
              <a:t>  "x_is_artifact": 1,</a:t>
            </a:r>
          </a:p>
          <a:p>
            <a:pPr algn="l">
              <a:defRPr sz="1163" b="0">
                <a:solidFill>
                  <a:srgbClr val="D6D6D2"/>
                </a:solidFill>
              </a:defRPr>
            </a:pPr>
            <a:r>
              <a:rPr sz="1163" b="0">
                <a:solidFill>
                  <a:srgbClr val="D6D6D2"/>
                </a:solidFill>
              </a:rPr>
              <a:t>  "x_is_research": 1,</a:t>
            </a:r>
          </a:p>
          <a:p>
            <a:pPr algn="l">
              <a:defRPr sz="1163" b="0">
                <a:solidFill>
                  <a:srgbClr val="D6D6D2"/>
                </a:solidFill>
              </a:defRPr>
            </a:pPr>
            <a:r>
              <a:rPr sz="1163" b="0">
                <a:solidFill>
                  <a:srgbClr val="D6D6D2"/>
                </a:solidFill>
              </a:rPr>
              <a:t>  "x_is_correction": 0,</a:t>
            </a:r>
          </a:p>
        </p:txBody>
      </p:sp>
      <p:sp>
        <p:nvSpPr>
          <p:cNvPr id="11" name="Rounded Rectangle 10">
            <a:extLst>
              <a:ext uri="{FF2B5EF4-FFF2-40B4-BE49-F238E27FC236}">
                <a16:creationId xmlns:a16="http://schemas.microsoft.com/office/drawing/2014/main" id="{ADDAC2E0-9EE6-4686-8984-4948C3268DC9}"/>
              </a:ext>
            </a:extLst>
          </p:cNvPr>
          <p:cNvSpPr>
            <a:spLocks noGrp="1"/>
          </p:cNvSpPr>
          <p:nvPr/>
        </p:nvSpPr>
        <p:spPr>
          <a:xfrm>
            <a:off x="5943600" y="2038350"/>
            <a:ext cx="5695950" cy="3886200"/>
          </a:xfrm>
          <a:prstGeom prst="roundRect">
            <a:avLst>
              <a:gd name="adj" fmla="val 1961"/>
            </a:avLst>
          </a:prstGeom>
          <a:solidFill>
            <a:srgbClr val="101010"/>
          </a:solidFill>
          <a:ln w="9525">
            <a:solidFill>
              <a:srgbClr val="2B2B29"/>
            </a:solidFill>
            <a:prstDash val="solid"/>
          </a:ln>
        </p:spPr>
        <p:txBody>
          <a:bodyPr/>
          <a:lstStyle/>
          <a:p>
            <a:endParaRPr lang="en-DE"/>
          </a:p>
        </p:txBody>
      </p:sp>
      <p:sp>
        <p:nvSpPr>
          <p:cNvPr id="12" name="Rectangle 11">
            <a:extLst>
              <a:ext uri="{FF2B5EF4-FFF2-40B4-BE49-F238E27FC236}">
                <a16:creationId xmlns:a16="http://schemas.microsoft.com/office/drawing/2014/main" id="{D2AD8EC2-5C5A-492F-A7B0-CD823D79D4A3}"/>
              </a:ext>
            </a:extLst>
          </p:cNvPr>
          <p:cNvSpPr>
            <a:spLocks noGrp="1"/>
          </p:cNvSpPr>
          <p:nvPr/>
        </p:nvSpPr>
        <p:spPr>
          <a:xfrm>
            <a:off x="6115050" y="2171700"/>
            <a:ext cx="5353050" cy="3619500"/>
          </a:xfrm>
          <a:prstGeom prst="rect">
            <a:avLst/>
          </a:prstGeom>
          <a:noFill/>
          <a:ln w="0">
            <a:noFill/>
            <a:prstDash val="solid"/>
          </a:ln>
        </p:spPr>
        <p:txBody>
          <a:bodyPr/>
          <a:lstStyle/>
          <a:p>
            <a:pPr algn="l">
              <a:defRPr sz="1163" b="0">
                <a:solidFill>
                  <a:srgbClr val="D6D6D2"/>
                </a:solidFill>
              </a:defRPr>
            </a:pPr>
            <a:r>
              <a:rPr sz="1163" b="0">
                <a:solidFill>
                  <a:srgbClr val="D6D6D2"/>
                </a:solidFill>
              </a:rPr>
              <a:t>  "x_requires_multiple_steps": 0,</a:t>
            </a:r>
          </a:p>
          <a:p>
            <a:pPr algn="l">
              <a:defRPr sz="1163" b="0">
                <a:solidFill>
                  <a:srgbClr val="D6D6D2"/>
                </a:solidFill>
              </a:defRPr>
            </a:pPr>
            <a:r>
              <a:rPr sz="1163" b="0">
                <a:solidFill>
                  <a:srgbClr val="D6D6D2"/>
                </a:solidFill>
              </a:rPr>
              <a:t>  "x_requires_external_action": 1,</a:t>
            </a:r>
          </a:p>
          <a:p>
            <a:pPr algn="l">
              <a:defRPr sz="1163" b="0">
                <a:solidFill>
                  <a:srgbClr val="D6D6D2"/>
                </a:solidFill>
              </a:defRPr>
            </a:pPr>
            <a:r>
              <a:rPr sz="1163" b="0">
                <a:solidFill>
                  <a:srgbClr val="D6D6D2"/>
                </a:solidFill>
              </a:rPr>
              <a:t>  "x_high_risk_language": 1,</a:t>
            </a:r>
          </a:p>
          <a:p>
            <a:pPr algn="l">
              <a:defRPr sz="1163" b="0">
                <a:solidFill>
                  <a:srgbClr val="D6D6D2"/>
                </a:solidFill>
              </a:defRPr>
            </a:pPr>
            <a:r>
              <a:rPr sz="1163" b="0">
                <a:solidFill>
                  <a:srgbClr val="D6D6D2"/>
                </a:solidFill>
              </a:rPr>
              <a:t>  "x_available_communication_tools": 5,</a:t>
            </a:r>
          </a:p>
          <a:p>
            <a:pPr algn="l">
              <a:defRPr sz="1163" b="0">
                <a:solidFill>
                  <a:srgbClr val="D6D6D2"/>
                </a:solidFill>
              </a:defRPr>
            </a:pPr>
            <a:r>
              <a:rPr sz="1163" b="0">
                <a:solidFill>
                  <a:srgbClr val="D6D6D2"/>
                </a:solidFill>
              </a:rPr>
              <a:t>  "x_available_file_tools": 5,</a:t>
            </a:r>
          </a:p>
          <a:p>
            <a:pPr algn="l">
              <a:defRPr sz="1163" b="0">
                <a:solidFill>
                  <a:srgbClr val="D6D6D2"/>
                </a:solidFill>
              </a:defRPr>
            </a:pPr>
            <a:r>
              <a:rPr sz="1163" b="0">
                <a:solidFill>
                  <a:srgbClr val="D6D6D2"/>
                </a:solidFill>
              </a:rPr>
              <a:t>  "x_available_code_tools": 1,</a:t>
            </a:r>
          </a:p>
          <a:p>
            <a:pPr algn="l">
              <a:defRPr sz="1163" b="0">
                <a:solidFill>
                  <a:srgbClr val="D6D6D2"/>
                </a:solidFill>
              </a:defRPr>
            </a:pPr>
            <a:r>
              <a:rPr sz="1163" b="0">
                <a:solidFill>
                  <a:srgbClr val="D6D6D2"/>
                </a:solidFill>
              </a:rPr>
              <a:t>  "x_available_research_tools": 0,</a:t>
            </a:r>
          </a:p>
          <a:p>
            <a:pPr algn="l">
              <a:defRPr sz="1163" b="0">
                <a:solidFill>
                  <a:srgbClr val="D6D6D2"/>
                </a:solidFill>
              </a:defRPr>
            </a:pPr>
            <a:r>
              <a:rPr sz="1163" b="0">
                <a:solidFill>
                  <a:srgbClr val="D6D6D2"/>
                </a:solidFill>
              </a:rPr>
              <a:t>  "x_available_media_tools": 1,</a:t>
            </a:r>
          </a:p>
          <a:p>
            <a:pPr algn="l">
              <a:defRPr sz="1163" b="0">
                <a:solidFill>
                  <a:srgbClr val="D6D6D2"/>
                </a:solidFill>
              </a:defRPr>
            </a:pPr>
            <a:r>
              <a:rPr sz="1163" b="0">
                <a:solidFill>
                  <a:srgbClr val="D6D6D2"/>
                </a:solidFill>
              </a:rPr>
              <a:t>  "x_available_write_tools": 7,</a:t>
            </a:r>
          </a:p>
          <a:p>
            <a:pPr algn="l">
              <a:defRPr sz="1163" b="0">
                <a:solidFill>
                  <a:srgbClr val="D6D6D2"/>
                </a:solidFill>
              </a:defRPr>
            </a:pPr>
            <a:r>
              <a:rPr sz="1163" b="0">
                <a:solidFill>
                  <a:srgbClr val="D6D6D2"/>
                </a:solidFill>
              </a:rPr>
              <a:t>  "x_task_category": "scheduled",</a:t>
            </a:r>
          </a:p>
          <a:p>
            <a:pPr algn="l">
              <a:defRPr sz="1163" b="0">
                <a:solidFill>
                  <a:srgbClr val="D6D6D2"/>
                </a:solidFill>
              </a:defRPr>
            </a:pPr>
            <a:r>
              <a:rPr sz="1163" b="0">
                <a:solidFill>
                  <a:srgbClr val="D6D6D2"/>
                </a:solidFill>
              </a:rPr>
              <a:t>  "x_risk_level": 3,</a:t>
            </a:r>
          </a:p>
          <a:p>
            <a:pPr algn="l">
              <a:defRPr sz="1163" b="0">
                <a:solidFill>
                  <a:srgbClr val="D6D6D2"/>
                </a:solidFill>
              </a:defRPr>
            </a:pPr>
            <a:r>
              <a:rPr sz="1163" b="0">
                <a:solidFill>
                  <a:srgbClr val="D6D6D2"/>
                </a:solidFill>
              </a:rPr>
              <a:t>  "x_text_tfidf_96": {</a:t>
            </a:r>
          </a:p>
          <a:p>
            <a:pPr algn="l">
              <a:defRPr sz="1163" b="0">
                <a:solidFill>
                  <a:srgbClr val="D6D6D2"/>
                </a:solidFill>
              </a:defRPr>
            </a:pPr>
            <a:r>
              <a:rPr sz="1163" b="0">
                <a:solidFill>
                  <a:srgbClr val="D6D6D2"/>
                </a:solidFill>
              </a:rPr>
              <a:t>    "nonzero_dimensions": 38,</a:t>
            </a:r>
          </a:p>
          <a:p>
            <a:pPr algn="l">
              <a:defRPr sz="1163" b="0">
                <a:solidFill>
                  <a:srgbClr val="D6D6D2"/>
                </a:solidFill>
              </a:defRPr>
            </a:pPr>
            <a:r>
              <a:rPr sz="1163" b="0">
                <a:solidFill>
                  <a:srgbClr val="D6D6D2"/>
                </a:solidFill>
              </a:rPr>
              <a:t>    "top": ["queue", "empty", "slack_message"]</a:t>
            </a:r>
          </a:p>
          <a:p>
            <a:pPr algn="l">
              <a:defRPr sz="1163" b="0">
                <a:solidFill>
                  <a:srgbClr val="D6D6D2"/>
                </a:solidFill>
              </a:defRPr>
            </a:pPr>
            <a:r>
              <a:rPr sz="1163" b="0">
                <a:solidFill>
                  <a:srgbClr val="D6D6D2"/>
                </a:solidFill>
              </a:rPr>
              <a:t>  }</a:t>
            </a:r>
          </a:p>
          <a:p>
            <a:pPr algn="l">
              <a:defRPr sz="1163" b="0">
                <a:solidFill>
                  <a:srgbClr val="D6D6D2"/>
                </a:solidFill>
              </a:defRPr>
            </a:pPr>
            <a:r>
              <a:rPr sz="1163" b="0">
                <a:solidFill>
                  <a:srgbClr val="D6D6D2"/>
                </a:solidFill>
              </a:rPr>
              <a:t>}</a:t>
            </a:r>
          </a:p>
        </p:txBody>
      </p:sp>
      <p:sp>
        <p:nvSpPr>
          <p:cNvPr id="13" name="Rectangle 12">
            <a:extLst>
              <a:ext uri="{FF2B5EF4-FFF2-40B4-BE49-F238E27FC236}">
                <a16:creationId xmlns:a16="http://schemas.microsoft.com/office/drawing/2014/main" id="{B3E7A30B-D11D-4299-8F2E-6338B8B6470C}"/>
              </a:ext>
            </a:extLst>
          </p:cNvPr>
          <p:cNvSpPr>
            <a:spLocks noGrp="1"/>
          </p:cNvSpPr>
          <p:nvPr/>
        </p:nvSpPr>
        <p:spPr>
          <a:xfrm>
            <a:off x="552450" y="6096000"/>
            <a:ext cx="685800" cy="209550"/>
          </a:xfrm>
          <a:prstGeom prst="rect">
            <a:avLst/>
          </a:prstGeom>
          <a:noFill/>
          <a:ln w="0">
            <a:noFill/>
            <a:prstDash val="solid"/>
          </a:ln>
        </p:spPr>
        <p:txBody>
          <a:bodyPr/>
          <a:lstStyle/>
          <a:p>
            <a:pPr algn="l">
              <a:defRPr sz="900" b="1">
                <a:solidFill>
                  <a:srgbClr val="9B9B96"/>
                </a:solidFill>
              </a:defRPr>
            </a:pPr>
            <a:r>
              <a:rPr sz="900" b="1">
                <a:solidFill>
                  <a:srgbClr val="9B9B96"/>
                </a:solidFill>
              </a:rPr>
              <a:t>OUTPUT</a:t>
            </a:r>
          </a:p>
        </p:txBody>
      </p:sp>
      <p:sp>
        <p:nvSpPr>
          <p:cNvPr id="14" name="Rectangle 13">
            <a:extLst>
              <a:ext uri="{FF2B5EF4-FFF2-40B4-BE49-F238E27FC236}">
                <a16:creationId xmlns:a16="http://schemas.microsoft.com/office/drawing/2014/main" id="{54111F1D-9673-4A40-A22E-B545C8E14625}"/>
              </a:ext>
            </a:extLst>
          </p:cNvPr>
          <p:cNvSpPr>
            <a:spLocks noGrp="1"/>
          </p:cNvSpPr>
          <p:nvPr/>
        </p:nvSpPr>
        <p:spPr>
          <a:xfrm>
            <a:off x="1409700" y="6067425"/>
            <a:ext cx="9334500" cy="247650"/>
          </a:xfrm>
          <a:prstGeom prst="rect">
            <a:avLst/>
          </a:prstGeom>
          <a:noFill/>
          <a:ln w="0">
            <a:noFill/>
            <a:prstDash val="solid"/>
          </a:ln>
        </p:spPr>
        <p:txBody>
          <a:bodyPr/>
          <a:lstStyle/>
          <a:p>
            <a:pPr algn="l">
              <a:defRPr sz="1350" b="1">
                <a:solidFill>
                  <a:srgbClr val="F4F4F2"/>
                </a:solidFill>
              </a:defRPr>
            </a:pPr>
            <a:r>
              <a:rPr sz="1350" b="1">
                <a:solidFill>
                  <a:srgbClr val="F4F4F2"/>
                </a:solidFill>
              </a:rPr>
              <a:t>predicted workload 42.8 / 100   ·   predicted execution risk 24.8%</a:t>
            </a:r>
          </a:p>
        </p:txBody>
      </p:sp>
    </p:spTree>
    <p:extLst>
      <p:ext uri="{BB962C8B-B14F-4D97-AF65-F5344CB8AC3E}">
        <p14:creationId xmlns:p14="http://schemas.microsoft.com/office/powerpoint/2010/main" val="19801482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4F2"/>
        </a:solidFill>
        <a:effectLst/>
      </p:bgPr>
    </p:bg>
    <p:spTree>
      <p:nvGrpSpPr>
        <p:cNvPr id="1" name=""/>
        <p:cNvGrpSpPr/>
        <p:nvPr/>
      </p:nvGrpSpPr>
      <p:grpSpPr>
        <a:xfrm>
          <a:off x="0" y="0"/>
          <a:ext cx="0" cy="0"/>
          <a:chOff x="0" y="0"/>
          <a:chExt cx="0" cy="0"/>
        </a:xfrm>
      </p:grpSpPr>
      <p:sp>
        <p:nvSpPr>
          <p:cNvPr id="17" name="page-8">
            <a:extLst>
              <a:ext uri="{FF2B5EF4-FFF2-40B4-BE49-F238E27FC236}">
                <a16:creationId xmlns:a16="http://schemas.microsoft.com/office/drawing/2014/main" id="{B5D191A0-4ECA-488B-A3F2-BD259E85D924}"/>
              </a:ext>
            </a:extLst>
          </p:cNvPr>
          <p:cNvSpPr>
            <a:spLocks noGrp="1"/>
          </p:cNvSpPr>
          <p:nvPr/>
        </p:nvSpPr>
        <p:spPr>
          <a:xfrm>
            <a:off x="514350" y="285750"/>
            <a:ext cx="400050" cy="209550"/>
          </a:xfrm>
          <a:prstGeom prst="rect">
            <a:avLst/>
          </a:prstGeom>
          <a:noFill/>
          <a:ln w="0">
            <a:noFill/>
            <a:prstDash val="solid"/>
          </a:ln>
        </p:spPr>
        <p:txBody>
          <a:bodyPr/>
          <a:lstStyle/>
          <a:p>
            <a:pPr algn="l">
              <a:defRPr sz="900" b="1">
                <a:solidFill>
                  <a:srgbClr val="555552"/>
                </a:solidFill>
              </a:defRPr>
            </a:pPr>
            <a:r>
              <a:rPr sz="900" b="1">
                <a:solidFill>
                  <a:srgbClr val="555552"/>
                </a:solidFill>
              </a:rPr>
              <a:t>08</a:t>
            </a:r>
          </a:p>
        </p:txBody>
      </p:sp>
      <p:sp>
        <p:nvSpPr>
          <p:cNvPr id="2" name="Straight Connector 1">
            <a:extLst>
              <a:ext uri="{FF2B5EF4-FFF2-40B4-BE49-F238E27FC236}">
                <a16:creationId xmlns:a16="http://schemas.microsoft.com/office/drawing/2014/main" id="{0BC19786-7369-4889-890F-2799CF8FB129}"/>
              </a:ext>
            </a:extLst>
          </p:cNvPr>
          <p:cNvSpPr>
            <a:spLocks noGrp="1"/>
          </p:cNvSpPr>
          <p:nvPr/>
        </p:nvSpPr>
        <p:spPr>
          <a:xfrm>
            <a:off x="1009650" y="381000"/>
            <a:ext cx="476250" cy="0"/>
          </a:xfrm>
          <a:prstGeom prst="line">
            <a:avLst/>
          </a:prstGeom>
          <a:noFill/>
          <a:ln w="19050">
            <a:solidFill>
              <a:srgbClr val="555552"/>
            </a:solidFill>
            <a:prstDash val="solid"/>
          </a:ln>
        </p:spPr>
        <p:txBody>
          <a:bodyPr/>
          <a:lstStyle/>
          <a:p>
            <a:endParaRPr lang="en-DE"/>
          </a:p>
        </p:txBody>
      </p:sp>
      <p:sp>
        <p:nvSpPr>
          <p:cNvPr id="3" name="section-8">
            <a:extLst>
              <a:ext uri="{FF2B5EF4-FFF2-40B4-BE49-F238E27FC236}">
                <a16:creationId xmlns:a16="http://schemas.microsoft.com/office/drawing/2014/main" id="{7C4A9B7A-C968-4D32-842A-91A63AF48067}"/>
              </a:ext>
            </a:extLst>
          </p:cNvPr>
          <p:cNvSpPr>
            <a:spLocks noGrp="1"/>
          </p:cNvSpPr>
          <p:nvPr/>
        </p:nvSpPr>
        <p:spPr>
          <a:xfrm>
            <a:off x="1676400" y="285750"/>
            <a:ext cx="4000500" cy="228600"/>
          </a:xfrm>
          <a:prstGeom prst="rect">
            <a:avLst/>
          </a:prstGeom>
          <a:noFill/>
          <a:ln w="0">
            <a:noFill/>
            <a:prstDash val="solid"/>
          </a:ln>
        </p:spPr>
        <p:txBody>
          <a:bodyPr/>
          <a:lstStyle/>
          <a:p>
            <a:pPr algn="l">
              <a:defRPr sz="900" b="1">
                <a:solidFill>
                  <a:srgbClr val="555552"/>
                </a:solidFill>
              </a:defRPr>
            </a:pPr>
            <a:r>
              <a:rPr sz="900" b="1">
                <a:solidFill>
                  <a:srgbClr val="555552"/>
                </a:solidFill>
              </a:rPr>
              <a:t>FEATURE SET B / QUALITY</a:t>
            </a:r>
          </a:p>
        </p:txBody>
      </p:sp>
      <p:sp>
        <p:nvSpPr>
          <p:cNvPr id="4" name="Straight Connector 3">
            <a:extLst>
              <a:ext uri="{FF2B5EF4-FFF2-40B4-BE49-F238E27FC236}">
                <a16:creationId xmlns:a16="http://schemas.microsoft.com/office/drawing/2014/main" id="{E72D2F34-B345-4BB8-86AD-6B938ADDC218}"/>
              </a:ext>
            </a:extLst>
          </p:cNvPr>
          <p:cNvSpPr>
            <a:spLocks noGrp="1"/>
          </p:cNvSpPr>
          <p:nvPr/>
        </p:nvSpPr>
        <p:spPr>
          <a:xfrm>
            <a:off x="514350" y="6496050"/>
            <a:ext cx="11163300" cy="0"/>
          </a:xfrm>
          <a:prstGeom prst="line">
            <a:avLst/>
          </a:prstGeom>
          <a:noFill/>
          <a:ln w="9525">
            <a:solidFill>
              <a:srgbClr val="BEBEB8"/>
            </a:solidFill>
            <a:prstDash val="solid"/>
          </a:ln>
        </p:spPr>
        <p:txBody>
          <a:bodyPr/>
          <a:lstStyle/>
          <a:p>
            <a:endParaRPr lang="en-DE"/>
          </a:p>
        </p:txBody>
      </p:sp>
      <p:sp>
        <p:nvSpPr>
          <p:cNvPr id="5" name="Rectangle 4">
            <a:extLst>
              <a:ext uri="{FF2B5EF4-FFF2-40B4-BE49-F238E27FC236}">
                <a16:creationId xmlns:a16="http://schemas.microsoft.com/office/drawing/2014/main" id="{3C2F5B95-F7EB-4317-BCBF-4D24EC68E38D}"/>
              </a:ext>
            </a:extLst>
          </p:cNvPr>
          <p:cNvSpPr>
            <a:spLocks noGrp="1"/>
          </p:cNvSpPr>
          <p:nvPr/>
        </p:nvSpPr>
        <p:spPr>
          <a:xfrm>
            <a:off x="514350" y="6572250"/>
            <a:ext cx="3619500" cy="171450"/>
          </a:xfrm>
          <a:prstGeom prst="rect">
            <a:avLst/>
          </a:prstGeom>
          <a:noFill/>
          <a:ln w="0">
            <a:noFill/>
            <a:prstDash val="solid"/>
          </a:ln>
        </p:spPr>
        <p:txBody>
          <a:bodyPr/>
          <a:lstStyle/>
          <a:p>
            <a:pPr algn="l">
              <a:defRPr sz="750" b="1">
                <a:solidFill>
                  <a:srgbClr val="555552"/>
                </a:solidFill>
              </a:defRPr>
            </a:pPr>
            <a:r>
              <a:rPr sz="750" b="1">
                <a:solidFill>
                  <a:srgbClr val="555552"/>
                </a:solidFill>
              </a:rPr>
              <a:t>VIKTOR ROUTER / TUM.AI 2026</a:t>
            </a:r>
          </a:p>
        </p:txBody>
      </p:sp>
      <p:sp>
        <p:nvSpPr>
          <p:cNvPr id="6" name="Rectangle 5">
            <a:extLst>
              <a:ext uri="{FF2B5EF4-FFF2-40B4-BE49-F238E27FC236}">
                <a16:creationId xmlns:a16="http://schemas.microsoft.com/office/drawing/2014/main" id="{A8B1CE8A-4688-407B-AF7B-34FCDB429F37}"/>
              </a:ext>
            </a:extLst>
          </p:cNvPr>
          <p:cNvSpPr>
            <a:spLocks noGrp="1"/>
          </p:cNvSpPr>
          <p:nvPr/>
        </p:nvSpPr>
        <p:spPr>
          <a:xfrm>
            <a:off x="10191750" y="6572250"/>
            <a:ext cx="1485900" cy="171450"/>
          </a:xfrm>
          <a:prstGeom prst="rect">
            <a:avLst/>
          </a:prstGeom>
          <a:noFill/>
          <a:ln w="0">
            <a:noFill/>
            <a:prstDash val="solid"/>
          </a:ln>
        </p:spPr>
        <p:txBody>
          <a:bodyPr/>
          <a:lstStyle/>
          <a:p>
            <a:pPr algn="r">
              <a:defRPr sz="750" b="1">
                <a:solidFill>
                  <a:srgbClr val="555552"/>
                </a:solidFill>
              </a:defRPr>
            </a:pPr>
            <a:r>
              <a:rPr sz="750" b="1">
                <a:solidFill>
                  <a:srgbClr val="555552"/>
                </a:solidFill>
              </a:rPr>
              <a:t>8 / 14</a:t>
            </a:r>
          </a:p>
        </p:txBody>
      </p:sp>
      <p:sp>
        <p:nvSpPr>
          <p:cNvPr id="7" name="slide-title">
            <a:extLst>
              <a:ext uri="{FF2B5EF4-FFF2-40B4-BE49-F238E27FC236}">
                <a16:creationId xmlns:a16="http://schemas.microsoft.com/office/drawing/2014/main" id="{F44E8C46-5DED-48CA-BCAB-E2D8FDBF68A8}"/>
              </a:ext>
            </a:extLst>
          </p:cNvPr>
          <p:cNvSpPr>
            <a:spLocks noGrp="1"/>
          </p:cNvSpPr>
          <p:nvPr/>
        </p:nvSpPr>
        <p:spPr>
          <a:xfrm>
            <a:off x="514350" y="704850"/>
            <a:ext cx="11163300" cy="685800"/>
          </a:xfrm>
          <a:prstGeom prst="rect">
            <a:avLst/>
          </a:prstGeom>
          <a:noFill/>
          <a:ln w="0">
            <a:noFill/>
            <a:prstDash val="solid"/>
          </a:ln>
        </p:spPr>
        <p:txBody>
          <a:bodyPr/>
          <a:lstStyle/>
          <a:p>
            <a:pPr algn="l">
              <a:defRPr sz="3000" b="1">
                <a:solidFill>
                  <a:srgbClr val="0B0B0B"/>
                </a:solidFill>
              </a:defRPr>
            </a:pPr>
            <a:r>
              <a:rPr sz="3000" b="1">
                <a:solidFill>
                  <a:srgbClr val="0B0B0B"/>
                </a:solidFill>
              </a:rPr>
              <a:t>The second vector asks: which candidate fits this task?</a:t>
            </a:r>
          </a:p>
        </p:txBody>
      </p:sp>
      <p:sp>
        <p:nvSpPr>
          <p:cNvPr id="8" name="slide-subtitle">
            <a:extLst>
              <a:ext uri="{FF2B5EF4-FFF2-40B4-BE49-F238E27FC236}">
                <a16:creationId xmlns:a16="http://schemas.microsoft.com/office/drawing/2014/main" id="{8E83B776-2D3C-4C16-BA30-DC6F92BAB26E}"/>
              </a:ext>
            </a:extLst>
          </p:cNvPr>
          <p:cNvSpPr>
            <a:spLocks noGrp="1"/>
          </p:cNvSpPr>
          <p:nvPr/>
        </p:nvSpPr>
        <p:spPr>
          <a:xfrm>
            <a:off x="533400" y="1371600"/>
            <a:ext cx="10668000" cy="342900"/>
          </a:xfrm>
          <a:prstGeom prst="rect">
            <a:avLst/>
          </a:prstGeom>
          <a:noFill/>
          <a:ln w="0">
            <a:noFill/>
            <a:prstDash val="solid"/>
          </a:ln>
        </p:spPr>
        <p:txBody>
          <a:bodyPr/>
          <a:lstStyle/>
          <a:p>
            <a:pPr algn="l">
              <a:defRPr sz="1350" b="0">
                <a:solidFill>
                  <a:srgbClr val="555552"/>
                </a:solidFill>
              </a:defRPr>
            </a:pPr>
            <a:r>
              <a:rPr sz="1350" b="0">
                <a:solidFill>
                  <a:srgbClr val="555552"/>
                </a:solidFill>
              </a:rPr>
              <a:t>Candidate quality is estimated first. Price enters during the final policy step.</a:t>
            </a:r>
          </a:p>
        </p:txBody>
      </p:sp>
      <p:sp>
        <p:nvSpPr>
          <p:cNvPr id="9" name="Rounded Rectangle 8">
            <a:extLst>
              <a:ext uri="{FF2B5EF4-FFF2-40B4-BE49-F238E27FC236}">
                <a16:creationId xmlns:a16="http://schemas.microsoft.com/office/drawing/2014/main" id="{B5586E2C-7306-4B25-8DAB-D65F7409F6F4}"/>
              </a:ext>
            </a:extLst>
          </p:cNvPr>
          <p:cNvSpPr>
            <a:spLocks noGrp="1"/>
          </p:cNvSpPr>
          <p:nvPr/>
        </p:nvSpPr>
        <p:spPr>
          <a:xfrm>
            <a:off x="552450" y="2000250"/>
            <a:ext cx="5219700" cy="3409950"/>
          </a:xfrm>
          <a:prstGeom prst="roundRect">
            <a:avLst>
              <a:gd name="adj" fmla="val 2235"/>
            </a:avLst>
          </a:prstGeom>
          <a:solidFill>
            <a:srgbClr val="EEEEEA"/>
          </a:solidFill>
          <a:ln w="9525">
            <a:solidFill>
              <a:srgbClr val="2B2B29"/>
            </a:solidFill>
            <a:prstDash val="solid"/>
          </a:ln>
        </p:spPr>
        <p:txBody>
          <a:bodyPr/>
          <a:lstStyle/>
          <a:p>
            <a:endParaRPr lang="en-DE"/>
          </a:p>
        </p:txBody>
      </p:sp>
      <p:sp>
        <p:nvSpPr>
          <p:cNvPr id="10" name="Rectangle 9">
            <a:extLst>
              <a:ext uri="{FF2B5EF4-FFF2-40B4-BE49-F238E27FC236}">
                <a16:creationId xmlns:a16="http://schemas.microsoft.com/office/drawing/2014/main" id="{22EBD42B-4C71-4837-8D1D-E1E6C0BE3E20}"/>
              </a:ext>
            </a:extLst>
          </p:cNvPr>
          <p:cNvSpPr>
            <a:spLocks noGrp="1"/>
          </p:cNvSpPr>
          <p:nvPr/>
        </p:nvSpPr>
        <p:spPr>
          <a:xfrm>
            <a:off x="723900" y="2133600"/>
            <a:ext cx="4876800" cy="3143250"/>
          </a:xfrm>
          <a:prstGeom prst="rect">
            <a:avLst/>
          </a:prstGeom>
          <a:noFill/>
          <a:ln w="0">
            <a:noFill/>
            <a:prstDash val="solid"/>
          </a:ln>
        </p:spPr>
        <p:txBody>
          <a:bodyPr/>
          <a:lstStyle/>
          <a:p>
            <a:pPr algn="l">
              <a:defRPr sz="1200" b="0">
                <a:solidFill>
                  <a:srgbClr val="0B0B0B"/>
                </a:solidFill>
              </a:defRPr>
            </a:pPr>
            <a:r>
              <a:rPr sz="1200" b="0">
                <a:solidFill>
                  <a:srgbClr val="0B0B0B"/>
                </a:solidFill>
              </a:rPr>
              <a:t>{</a:t>
            </a:r>
          </a:p>
          <a:p>
            <a:pPr algn="l">
              <a:defRPr sz="1200" b="0">
                <a:solidFill>
                  <a:srgbClr val="0B0B0B"/>
                </a:solidFill>
              </a:defRPr>
            </a:pPr>
            <a:r>
              <a:rPr sz="1200" b="0">
                <a:solidFill>
                  <a:srgbClr val="0B0B0B"/>
                </a:solidFill>
              </a:rPr>
              <a:t>  "predicted_complexity": 0.4278,</a:t>
            </a:r>
          </a:p>
          <a:p>
            <a:pPr algn="l">
              <a:defRPr sz="1200" b="0">
                <a:solidFill>
                  <a:srgbClr val="0B0B0B"/>
                </a:solidFill>
              </a:defRPr>
            </a:pPr>
            <a:r>
              <a:rPr sz="1200" b="0">
                <a:solidFill>
                  <a:srgbClr val="0B0B0B"/>
                </a:solidFill>
              </a:rPr>
              <a:t>  "predicted_execution_risk": 0.2480,</a:t>
            </a:r>
          </a:p>
          <a:p>
            <a:pPr algn="l">
              <a:defRPr sz="1200" b="0">
                <a:solidFill>
                  <a:srgbClr val="0B0B0B"/>
                </a:solidFill>
              </a:defRPr>
            </a:pPr>
            <a:r>
              <a:rPr sz="1200" b="0">
                <a:solidFill>
                  <a:srgbClr val="0B0B0B"/>
                </a:solidFill>
              </a:rPr>
              <a:t>  "x_is_scheduled": 1,</a:t>
            </a:r>
          </a:p>
          <a:p>
            <a:pPr algn="l">
              <a:defRPr sz="1200" b="0">
                <a:solidFill>
                  <a:srgbClr val="0B0B0B"/>
                </a:solidFill>
              </a:defRPr>
            </a:pPr>
            <a:r>
              <a:rPr sz="1200" b="0">
                <a:solidFill>
                  <a:srgbClr val="0B0B0B"/>
                </a:solidFill>
              </a:rPr>
              <a:t>  "x_is_communication": 1,</a:t>
            </a:r>
          </a:p>
          <a:p>
            <a:pPr algn="l">
              <a:defRPr sz="1200" b="0">
                <a:solidFill>
                  <a:srgbClr val="0B0B0B"/>
                </a:solidFill>
              </a:defRPr>
            </a:pPr>
            <a:r>
              <a:rPr sz="1200" b="0">
                <a:solidFill>
                  <a:srgbClr val="0B0B0B"/>
                </a:solidFill>
              </a:rPr>
              <a:t>  "x_is_coding": 0,</a:t>
            </a:r>
          </a:p>
          <a:p>
            <a:pPr algn="l">
              <a:defRPr sz="1200" b="0">
                <a:solidFill>
                  <a:srgbClr val="0B0B0B"/>
                </a:solidFill>
              </a:defRPr>
            </a:pPr>
            <a:r>
              <a:rPr sz="1200" b="0">
                <a:solidFill>
                  <a:srgbClr val="0B0B0B"/>
                </a:solidFill>
              </a:rPr>
              <a:t>  "x_is_artifact": 1,</a:t>
            </a:r>
          </a:p>
          <a:p>
            <a:pPr algn="l">
              <a:defRPr sz="1200" b="0">
                <a:solidFill>
                  <a:srgbClr val="0B0B0B"/>
                </a:solidFill>
              </a:defRPr>
            </a:pPr>
            <a:r>
              <a:rPr sz="1200" b="0">
                <a:solidFill>
                  <a:srgbClr val="0B0B0B"/>
                </a:solidFill>
              </a:rPr>
              <a:t>  "x_is_research": 1,</a:t>
            </a:r>
          </a:p>
          <a:p>
            <a:pPr algn="l">
              <a:defRPr sz="1200" b="0">
                <a:solidFill>
                  <a:srgbClr val="0B0B0B"/>
                </a:solidFill>
              </a:defRPr>
            </a:pPr>
            <a:r>
              <a:rPr sz="1200" b="0">
                <a:solidFill>
                  <a:srgbClr val="0B0B0B"/>
                </a:solidFill>
              </a:rPr>
              <a:t>  "x_requires_multiple_steps": 0,</a:t>
            </a:r>
          </a:p>
          <a:p>
            <a:pPr algn="l">
              <a:defRPr sz="1200" b="0">
                <a:solidFill>
                  <a:srgbClr val="0B0B0B"/>
                </a:solidFill>
              </a:defRPr>
            </a:pPr>
            <a:r>
              <a:rPr sz="1200" b="0">
                <a:solidFill>
                  <a:srgbClr val="0B0B0B"/>
                </a:solidFill>
              </a:rPr>
              <a:t>  "x_requires_external_action": 1,</a:t>
            </a:r>
          </a:p>
          <a:p>
            <a:pPr algn="l">
              <a:defRPr sz="1200" b="0">
                <a:solidFill>
                  <a:srgbClr val="0B0B0B"/>
                </a:solidFill>
              </a:defRPr>
            </a:pPr>
            <a:r>
              <a:rPr sz="1200" b="0">
                <a:solidFill>
                  <a:srgbClr val="0B0B0B"/>
                </a:solidFill>
              </a:rPr>
              <a:t>  "x_high_risk_language": 1,</a:t>
            </a:r>
          </a:p>
          <a:p>
            <a:pPr algn="l">
              <a:defRPr sz="1200" b="0">
                <a:solidFill>
                  <a:srgbClr val="0B0B0B"/>
                </a:solidFill>
              </a:defRPr>
            </a:pPr>
            <a:r>
              <a:rPr sz="1200" b="0">
                <a:solidFill>
                  <a:srgbClr val="0B0B0B"/>
                </a:solidFill>
              </a:rPr>
              <a:t>  "x_has_image": 0,</a:t>
            </a:r>
          </a:p>
          <a:p>
            <a:pPr algn="l">
              <a:defRPr sz="1200" b="0">
                <a:solidFill>
                  <a:srgbClr val="0B0B0B"/>
                </a:solidFill>
              </a:defRPr>
            </a:pPr>
            <a:r>
              <a:rPr sz="1200" b="0">
                <a:solidFill>
                  <a:srgbClr val="0B0B0B"/>
                </a:solidFill>
              </a:rPr>
              <a:t>  "x_available_tools": 12,</a:t>
            </a:r>
          </a:p>
        </p:txBody>
      </p:sp>
      <p:sp>
        <p:nvSpPr>
          <p:cNvPr id="11" name="Rounded Rectangle 10">
            <a:extLst>
              <a:ext uri="{FF2B5EF4-FFF2-40B4-BE49-F238E27FC236}">
                <a16:creationId xmlns:a16="http://schemas.microsoft.com/office/drawing/2014/main" id="{822AFE92-CBCC-4EAB-BA9D-75C1F62B3506}"/>
              </a:ext>
            </a:extLst>
          </p:cNvPr>
          <p:cNvSpPr>
            <a:spLocks noGrp="1"/>
          </p:cNvSpPr>
          <p:nvPr/>
        </p:nvSpPr>
        <p:spPr>
          <a:xfrm>
            <a:off x="5924550" y="2000250"/>
            <a:ext cx="5715000" cy="3409950"/>
          </a:xfrm>
          <a:prstGeom prst="roundRect">
            <a:avLst>
              <a:gd name="adj" fmla="val 2235"/>
            </a:avLst>
          </a:prstGeom>
          <a:solidFill>
            <a:srgbClr val="EEEEEA"/>
          </a:solidFill>
          <a:ln w="9525">
            <a:solidFill>
              <a:srgbClr val="2B2B29"/>
            </a:solidFill>
            <a:prstDash val="solid"/>
          </a:ln>
        </p:spPr>
        <p:txBody>
          <a:bodyPr/>
          <a:lstStyle/>
          <a:p>
            <a:endParaRPr lang="en-DE"/>
          </a:p>
        </p:txBody>
      </p:sp>
      <p:sp>
        <p:nvSpPr>
          <p:cNvPr id="12" name="Rectangle 11">
            <a:extLst>
              <a:ext uri="{FF2B5EF4-FFF2-40B4-BE49-F238E27FC236}">
                <a16:creationId xmlns:a16="http://schemas.microsoft.com/office/drawing/2014/main" id="{97922100-BD33-41D7-A5AF-4BE0A3BE77B2}"/>
              </a:ext>
            </a:extLst>
          </p:cNvPr>
          <p:cNvSpPr>
            <a:spLocks noGrp="1"/>
          </p:cNvSpPr>
          <p:nvPr/>
        </p:nvSpPr>
        <p:spPr>
          <a:xfrm>
            <a:off x="6096000" y="2133600"/>
            <a:ext cx="5372100" cy="3143250"/>
          </a:xfrm>
          <a:prstGeom prst="rect">
            <a:avLst/>
          </a:prstGeom>
          <a:noFill/>
          <a:ln w="0">
            <a:noFill/>
            <a:prstDash val="solid"/>
          </a:ln>
        </p:spPr>
        <p:txBody>
          <a:bodyPr/>
          <a:lstStyle/>
          <a:p>
            <a:pPr algn="l">
              <a:defRPr sz="1200" b="0">
                <a:solidFill>
                  <a:srgbClr val="0B0B0B"/>
                </a:solidFill>
              </a:defRPr>
            </a:pPr>
            <a:r>
              <a:rPr sz="1200" b="0">
                <a:solidFill>
                  <a:srgbClr val="0B0B0B"/>
                </a:solidFill>
              </a:rPr>
              <a:t>  "category_scheduled": 1,</a:t>
            </a:r>
          </a:p>
          <a:p>
            <a:pPr algn="l">
              <a:defRPr sz="1200" b="0">
                <a:solidFill>
                  <a:srgbClr val="0B0B0B"/>
                </a:solidFill>
              </a:defRPr>
            </a:pPr>
            <a:r>
              <a:rPr sz="1200" b="0">
                <a:solidFill>
                  <a:srgbClr val="0B0B0B"/>
                </a:solidFill>
              </a:rPr>
              <a:t>  "category_coding": 0,</a:t>
            </a:r>
          </a:p>
          <a:p>
            <a:pPr algn="l">
              <a:defRPr sz="1200" b="0">
                <a:solidFill>
                  <a:srgbClr val="0B0B0B"/>
                </a:solidFill>
              </a:defRPr>
            </a:pPr>
            <a:r>
              <a:rPr sz="1200" b="0">
                <a:solidFill>
                  <a:srgbClr val="0B0B0B"/>
                </a:solidFill>
              </a:rPr>
              <a:t>  "category_artifact": 0,</a:t>
            </a:r>
          </a:p>
          <a:p>
            <a:pPr algn="l">
              <a:defRPr sz="1200" b="0">
                <a:solidFill>
                  <a:srgbClr val="0B0B0B"/>
                </a:solidFill>
              </a:defRPr>
            </a:pPr>
            <a:r>
              <a:rPr sz="1200" b="0">
                <a:solidFill>
                  <a:srgbClr val="0B0B0B"/>
                </a:solidFill>
              </a:rPr>
              <a:t>  "category_research": 0,</a:t>
            </a:r>
          </a:p>
          <a:p>
            <a:pPr algn="l">
              <a:defRPr sz="1200" b="0">
                <a:solidFill>
                  <a:srgbClr val="0B0B0B"/>
                </a:solidFill>
              </a:defRPr>
            </a:pPr>
            <a:r>
              <a:rPr sz="1200" b="0">
                <a:solidFill>
                  <a:srgbClr val="0B0B0B"/>
                </a:solidFill>
              </a:rPr>
              <a:t>  "category_communication": 0,</a:t>
            </a:r>
          </a:p>
          <a:p>
            <a:pPr algn="l">
              <a:defRPr sz="1200" b="0">
                <a:solidFill>
                  <a:srgbClr val="0B0B0B"/>
                </a:solidFill>
              </a:defRPr>
            </a:pPr>
            <a:r>
              <a:rPr sz="1200" b="0">
                <a:solidFill>
                  <a:srgbClr val="0B0B0B"/>
                </a:solidFill>
              </a:rPr>
              <a:t>  "category_general": 0,</a:t>
            </a:r>
          </a:p>
          <a:p>
            <a:pPr algn="l">
              <a:defRPr sz="1200" b="0">
                <a:solidFill>
                  <a:srgbClr val="0B0B0B"/>
                </a:solidFill>
              </a:defRPr>
            </a:pPr>
            <a:r>
              <a:rPr sz="1200" b="0">
                <a:solidFill>
                  <a:srgbClr val="0B0B0B"/>
                </a:solidFill>
              </a:rPr>
              <a:t>  "risk_0": 0,</a:t>
            </a:r>
          </a:p>
          <a:p>
            <a:pPr algn="l">
              <a:defRPr sz="1200" b="0">
                <a:solidFill>
                  <a:srgbClr val="0B0B0B"/>
                </a:solidFill>
              </a:defRPr>
            </a:pPr>
            <a:r>
              <a:rPr sz="1200" b="0">
                <a:solidFill>
                  <a:srgbClr val="0B0B0B"/>
                </a:solidFill>
              </a:rPr>
              <a:t>  "risk_1": 0,</a:t>
            </a:r>
          </a:p>
          <a:p>
            <a:pPr algn="l">
              <a:defRPr sz="1200" b="0">
                <a:solidFill>
                  <a:srgbClr val="0B0B0B"/>
                </a:solidFill>
              </a:defRPr>
            </a:pPr>
            <a:r>
              <a:rPr sz="1200" b="0">
                <a:solidFill>
                  <a:srgbClr val="0B0B0B"/>
                </a:solidFill>
              </a:rPr>
              <a:t>  "risk_2": 0,</a:t>
            </a:r>
          </a:p>
          <a:p>
            <a:pPr algn="l">
              <a:defRPr sz="1200" b="0">
                <a:solidFill>
                  <a:srgbClr val="0B0B0B"/>
                </a:solidFill>
              </a:defRPr>
            </a:pPr>
            <a:r>
              <a:rPr sz="1200" b="0">
                <a:solidFill>
                  <a:srgbClr val="0B0B0B"/>
                </a:solidFill>
              </a:rPr>
              <a:t>  "risk_3": 1,</a:t>
            </a:r>
          </a:p>
          <a:p>
            <a:pPr algn="l">
              <a:defRPr sz="1200" b="0">
                <a:solidFill>
                  <a:srgbClr val="0B0B0B"/>
                </a:solidFill>
              </a:defRPr>
            </a:pPr>
            <a:r>
              <a:rPr sz="1200" b="0">
                <a:solidFill>
                  <a:srgbClr val="0B0B0B"/>
                </a:solidFill>
              </a:rPr>
              <a:t>  "candidate_action": "sonnet",</a:t>
            </a:r>
          </a:p>
          <a:p>
            <a:pPr algn="l">
              <a:defRPr sz="1200" b="0">
                <a:solidFill>
                  <a:srgbClr val="0B0B0B"/>
                </a:solidFill>
              </a:defRPr>
            </a:pPr>
            <a:r>
              <a:rPr sz="1200" b="0">
                <a:solidFill>
                  <a:srgbClr val="0B0B0B"/>
                </a:solidFill>
              </a:rPr>
              <a:t>  "candidate_benchmark_fit": 0.9225</a:t>
            </a:r>
          </a:p>
          <a:p>
            <a:pPr algn="l">
              <a:defRPr sz="1200" b="0">
                <a:solidFill>
                  <a:srgbClr val="0B0B0B"/>
                </a:solidFill>
              </a:defRPr>
            </a:pPr>
            <a:r>
              <a:rPr sz="1200" b="0">
                <a:solidFill>
                  <a:srgbClr val="0B0B0B"/>
                </a:solidFill>
              </a:rPr>
              <a:t>}</a:t>
            </a:r>
          </a:p>
        </p:txBody>
      </p:sp>
      <p:sp>
        <p:nvSpPr>
          <p:cNvPr id="13" name="Straight Connector 12">
            <a:extLst>
              <a:ext uri="{FF2B5EF4-FFF2-40B4-BE49-F238E27FC236}">
                <a16:creationId xmlns:a16="http://schemas.microsoft.com/office/drawing/2014/main" id="{0F76174B-3D25-4098-8E7C-077A3783F289}"/>
              </a:ext>
            </a:extLst>
          </p:cNvPr>
          <p:cNvSpPr>
            <a:spLocks noGrp="1"/>
          </p:cNvSpPr>
          <p:nvPr/>
        </p:nvSpPr>
        <p:spPr>
          <a:xfrm>
            <a:off x="552450" y="5657850"/>
            <a:ext cx="11087100" cy="0"/>
          </a:xfrm>
          <a:prstGeom prst="line">
            <a:avLst/>
          </a:prstGeom>
          <a:noFill/>
          <a:ln w="19050">
            <a:solidFill>
              <a:srgbClr val="0B0B0B"/>
            </a:solidFill>
            <a:prstDash val="solid"/>
          </a:ln>
        </p:spPr>
        <p:txBody>
          <a:bodyPr/>
          <a:lstStyle/>
          <a:p>
            <a:endParaRPr lang="en-DE"/>
          </a:p>
        </p:txBody>
      </p:sp>
      <p:sp>
        <p:nvSpPr>
          <p:cNvPr id="14" name="Rectangle 13">
            <a:extLst>
              <a:ext uri="{FF2B5EF4-FFF2-40B4-BE49-F238E27FC236}">
                <a16:creationId xmlns:a16="http://schemas.microsoft.com/office/drawing/2014/main" id="{88BB4235-9FA2-4D0A-8193-5E2705CB2E45}"/>
              </a:ext>
            </a:extLst>
          </p:cNvPr>
          <p:cNvSpPr>
            <a:spLocks noGrp="1"/>
          </p:cNvSpPr>
          <p:nvPr/>
        </p:nvSpPr>
        <p:spPr>
          <a:xfrm>
            <a:off x="552450" y="5829300"/>
            <a:ext cx="1905000" cy="209550"/>
          </a:xfrm>
          <a:prstGeom prst="rect">
            <a:avLst/>
          </a:prstGeom>
          <a:noFill/>
          <a:ln w="0">
            <a:noFill/>
            <a:prstDash val="solid"/>
          </a:ln>
        </p:spPr>
        <p:txBody>
          <a:bodyPr/>
          <a:lstStyle/>
          <a:p>
            <a:pPr algn="l">
              <a:defRPr sz="900" b="1">
                <a:solidFill>
                  <a:srgbClr val="555552"/>
                </a:solidFill>
              </a:defRPr>
            </a:pPr>
            <a:r>
              <a:rPr sz="900" b="1">
                <a:solidFill>
                  <a:srgbClr val="555552"/>
                </a:solidFill>
              </a:rPr>
              <a:t>QUALITY FUNCTION</a:t>
            </a:r>
          </a:p>
        </p:txBody>
      </p:sp>
      <p:sp>
        <p:nvSpPr>
          <p:cNvPr id="15" name="Rectangle 14">
            <a:extLst>
              <a:ext uri="{FF2B5EF4-FFF2-40B4-BE49-F238E27FC236}">
                <a16:creationId xmlns:a16="http://schemas.microsoft.com/office/drawing/2014/main" id="{CCE772B5-88E4-41EC-BBC7-3B322EB2F716}"/>
              </a:ext>
            </a:extLst>
          </p:cNvPr>
          <p:cNvSpPr>
            <a:spLocks noGrp="1"/>
          </p:cNvSpPr>
          <p:nvPr/>
        </p:nvSpPr>
        <p:spPr>
          <a:xfrm>
            <a:off x="2571750" y="5772150"/>
            <a:ext cx="6286500" cy="323850"/>
          </a:xfrm>
          <a:prstGeom prst="rect">
            <a:avLst/>
          </a:prstGeom>
          <a:noFill/>
          <a:ln w="0">
            <a:noFill/>
            <a:prstDash val="solid"/>
          </a:ln>
        </p:spPr>
        <p:txBody>
          <a:bodyPr/>
          <a:lstStyle/>
          <a:p>
            <a:pPr algn="l">
              <a:defRPr sz="1575" b="1">
                <a:solidFill>
                  <a:srgbClr val="0B0B0B"/>
                </a:solidFill>
              </a:defRPr>
            </a:pPr>
            <a:r>
              <a:rPr sz="1575" b="1">
                <a:solidFill>
                  <a:srgbClr val="0B0B0B"/>
                </a:solidFill>
              </a:rPr>
              <a:t>task difficulty + β≥0 × task-weighted capability prior</a:t>
            </a:r>
          </a:p>
        </p:txBody>
      </p:sp>
      <p:sp>
        <p:nvSpPr>
          <p:cNvPr id="16" name="Rectangle 15">
            <a:extLst>
              <a:ext uri="{FF2B5EF4-FFF2-40B4-BE49-F238E27FC236}">
                <a16:creationId xmlns:a16="http://schemas.microsoft.com/office/drawing/2014/main" id="{253CF2D2-7628-46BB-B334-84B65F49EFE3}"/>
              </a:ext>
            </a:extLst>
          </p:cNvPr>
          <p:cNvSpPr>
            <a:spLocks noGrp="1"/>
          </p:cNvSpPr>
          <p:nvPr/>
        </p:nvSpPr>
        <p:spPr>
          <a:xfrm>
            <a:off x="9525000" y="5819775"/>
            <a:ext cx="2095500" cy="266700"/>
          </a:xfrm>
          <a:prstGeom prst="rect">
            <a:avLst/>
          </a:prstGeom>
          <a:noFill/>
          <a:ln w="0">
            <a:noFill/>
            <a:prstDash val="solid"/>
          </a:ln>
        </p:spPr>
        <p:txBody>
          <a:bodyPr/>
          <a:lstStyle/>
          <a:p>
            <a:pPr algn="r">
              <a:defRPr sz="1125" b="1">
                <a:solidFill>
                  <a:srgbClr val="0B0B0B"/>
                </a:solidFill>
              </a:defRPr>
            </a:pPr>
            <a:r>
              <a:rPr sz="1125" b="1">
                <a:solidFill>
                  <a:srgbClr val="0B0B0B"/>
                </a:solidFill>
              </a:rPr>
              <a:t>PRICE EXCLUDED</a:t>
            </a:r>
          </a:p>
        </p:txBody>
      </p:sp>
    </p:spTree>
    <p:extLst>
      <p:ext uri="{BB962C8B-B14F-4D97-AF65-F5344CB8AC3E}">
        <p14:creationId xmlns:p14="http://schemas.microsoft.com/office/powerpoint/2010/main" val="1497656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49" name="page-9">
            <a:extLst>
              <a:ext uri="{FF2B5EF4-FFF2-40B4-BE49-F238E27FC236}">
                <a16:creationId xmlns:a16="http://schemas.microsoft.com/office/drawing/2014/main" id="{E03A836F-AA39-416A-9BB7-2177F9BAED3C}"/>
              </a:ext>
            </a:extLst>
          </p:cNvPr>
          <p:cNvSpPr>
            <a:spLocks noGrp="1"/>
          </p:cNvSpPr>
          <p:nvPr/>
        </p:nvSpPr>
        <p:spPr>
          <a:xfrm>
            <a:off x="514350" y="285750"/>
            <a:ext cx="400050" cy="209550"/>
          </a:xfrm>
          <a:prstGeom prst="rect">
            <a:avLst/>
          </a:prstGeom>
          <a:noFill/>
          <a:ln w="0">
            <a:noFill/>
            <a:prstDash val="solid"/>
          </a:ln>
        </p:spPr>
        <p:txBody>
          <a:bodyPr/>
          <a:lstStyle/>
          <a:p>
            <a:pPr algn="l">
              <a:defRPr sz="900" b="1">
                <a:solidFill>
                  <a:srgbClr val="9B9B96"/>
                </a:solidFill>
              </a:defRPr>
            </a:pPr>
            <a:r>
              <a:rPr sz="900" b="1">
                <a:solidFill>
                  <a:srgbClr val="9B9B96"/>
                </a:solidFill>
              </a:rPr>
              <a:t>09</a:t>
            </a:r>
          </a:p>
        </p:txBody>
      </p:sp>
      <p:sp>
        <p:nvSpPr>
          <p:cNvPr id="2" name="Straight Connector 1">
            <a:extLst>
              <a:ext uri="{FF2B5EF4-FFF2-40B4-BE49-F238E27FC236}">
                <a16:creationId xmlns:a16="http://schemas.microsoft.com/office/drawing/2014/main" id="{126E4C01-A18A-4D88-9D13-C81691114E2D}"/>
              </a:ext>
            </a:extLst>
          </p:cNvPr>
          <p:cNvSpPr>
            <a:spLocks noGrp="1"/>
          </p:cNvSpPr>
          <p:nvPr/>
        </p:nvSpPr>
        <p:spPr>
          <a:xfrm>
            <a:off x="1009650" y="381000"/>
            <a:ext cx="476250" cy="0"/>
          </a:xfrm>
          <a:prstGeom prst="line">
            <a:avLst/>
          </a:prstGeom>
          <a:noFill/>
          <a:ln w="19050">
            <a:solidFill>
              <a:srgbClr val="9B9B96"/>
            </a:solidFill>
            <a:prstDash val="solid"/>
          </a:ln>
        </p:spPr>
        <p:txBody>
          <a:bodyPr/>
          <a:lstStyle/>
          <a:p>
            <a:endParaRPr lang="en-DE"/>
          </a:p>
        </p:txBody>
      </p:sp>
      <p:sp>
        <p:nvSpPr>
          <p:cNvPr id="3" name="section-9">
            <a:extLst>
              <a:ext uri="{FF2B5EF4-FFF2-40B4-BE49-F238E27FC236}">
                <a16:creationId xmlns:a16="http://schemas.microsoft.com/office/drawing/2014/main" id="{A4F92A1C-06AB-4A17-9AD9-80EBCA818E67}"/>
              </a:ext>
            </a:extLst>
          </p:cNvPr>
          <p:cNvSpPr>
            <a:spLocks noGrp="1"/>
          </p:cNvSpPr>
          <p:nvPr/>
        </p:nvSpPr>
        <p:spPr>
          <a:xfrm>
            <a:off x="1676400" y="285750"/>
            <a:ext cx="4000500" cy="228600"/>
          </a:xfrm>
          <a:prstGeom prst="rect">
            <a:avLst/>
          </a:prstGeom>
          <a:noFill/>
          <a:ln w="0">
            <a:noFill/>
            <a:prstDash val="solid"/>
          </a:ln>
        </p:spPr>
        <p:txBody>
          <a:bodyPr/>
          <a:lstStyle/>
          <a:p>
            <a:pPr algn="l">
              <a:defRPr sz="900" b="1">
                <a:solidFill>
                  <a:srgbClr val="9B9B96"/>
                </a:solidFill>
              </a:defRPr>
            </a:pPr>
            <a:r>
              <a:rPr sz="900" b="1">
                <a:solidFill>
                  <a:srgbClr val="9B9B96"/>
                </a:solidFill>
              </a:rPr>
              <a:t>ROUTER OUTPUTS</a:t>
            </a:r>
          </a:p>
        </p:txBody>
      </p:sp>
      <p:sp>
        <p:nvSpPr>
          <p:cNvPr id="4" name="Straight Connector 3">
            <a:extLst>
              <a:ext uri="{FF2B5EF4-FFF2-40B4-BE49-F238E27FC236}">
                <a16:creationId xmlns:a16="http://schemas.microsoft.com/office/drawing/2014/main" id="{474BB001-AF2B-4081-B756-0180C232BF07}"/>
              </a:ext>
            </a:extLst>
          </p:cNvPr>
          <p:cNvSpPr>
            <a:spLocks noGrp="1"/>
          </p:cNvSpPr>
          <p:nvPr/>
        </p:nvSpPr>
        <p:spPr>
          <a:xfrm>
            <a:off x="514350" y="6496050"/>
            <a:ext cx="11163300" cy="0"/>
          </a:xfrm>
          <a:prstGeom prst="line">
            <a:avLst/>
          </a:prstGeom>
          <a:noFill/>
          <a:ln w="9525">
            <a:solidFill>
              <a:srgbClr val="2B2B29"/>
            </a:solidFill>
            <a:prstDash val="solid"/>
          </a:ln>
        </p:spPr>
        <p:txBody>
          <a:bodyPr/>
          <a:lstStyle/>
          <a:p>
            <a:endParaRPr lang="en-DE"/>
          </a:p>
        </p:txBody>
      </p:sp>
      <p:sp>
        <p:nvSpPr>
          <p:cNvPr id="5" name="Rectangle 4">
            <a:extLst>
              <a:ext uri="{FF2B5EF4-FFF2-40B4-BE49-F238E27FC236}">
                <a16:creationId xmlns:a16="http://schemas.microsoft.com/office/drawing/2014/main" id="{6BD59F85-1C30-4DC5-8B36-3C585DC06B11}"/>
              </a:ext>
            </a:extLst>
          </p:cNvPr>
          <p:cNvSpPr>
            <a:spLocks noGrp="1"/>
          </p:cNvSpPr>
          <p:nvPr/>
        </p:nvSpPr>
        <p:spPr>
          <a:xfrm>
            <a:off x="514350" y="6572250"/>
            <a:ext cx="3619500" cy="171450"/>
          </a:xfrm>
          <a:prstGeom prst="rect">
            <a:avLst/>
          </a:prstGeom>
          <a:noFill/>
          <a:ln w="0">
            <a:noFill/>
            <a:prstDash val="solid"/>
          </a:ln>
        </p:spPr>
        <p:txBody>
          <a:bodyPr/>
          <a:lstStyle/>
          <a:p>
            <a:pPr algn="l">
              <a:defRPr sz="750" b="1">
                <a:solidFill>
                  <a:srgbClr val="9B9B96"/>
                </a:solidFill>
              </a:defRPr>
            </a:pPr>
            <a:r>
              <a:rPr sz="750" b="1">
                <a:solidFill>
                  <a:srgbClr val="9B9B96"/>
                </a:solidFill>
              </a:rPr>
              <a:t>VIKTOR ROUTER / TUM.AI 2026</a:t>
            </a:r>
          </a:p>
        </p:txBody>
      </p:sp>
      <p:sp>
        <p:nvSpPr>
          <p:cNvPr id="6" name="Rectangle 5">
            <a:extLst>
              <a:ext uri="{FF2B5EF4-FFF2-40B4-BE49-F238E27FC236}">
                <a16:creationId xmlns:a16="http://schemas.microsoft.com/office/drawing/2014/main" id="{5AE589D6-F3EA-459D-97F9-9FD0CB0EF382}"/>
              </a:ext>
            </a:extLst>
          </p:cNvPr>
          <p:cNvSpPr>
            <a:spLocks noGrp="1"/>
          </p:cNvSpPr>
          <p:nvPr/>
        </p:nvSpPr>
        <p:spPr>
          <a:xfrm>
            <a:off x="10191750" y="6572250"/>
            <a:ext cx="1485900" cy="171450"/>
          </a:xfrm>
          <a:prstGeom prst="rect">
            <a:avLst/>
          </a:prstGeom>
          <a:noFill/>
          <a:ln w="0">
            <a:noFill/>
            <a:prstDash val="solid"/>
          </a:ln>
        </p:spPr>
        <p:txBody>
          <a:bodyPr/>
          <a:lstStyle/>
          <a:p>
            <a:pPr algn="r">
              <a:defRPr sz="750" b="1">
                <a:solidFill>
                  <a:srgbClr val="9B9B96"/>
                </a:solidFill>
              </a:defRPr>
            </a:pPr>
            <a:r>
              <a:rPr sz="750" b="1">
                <a:solidFill>
                  <a:srgbClr val="9B9B96"/>
                </a:solidFill>
              </a:rPr>
              <a:t>9 / 14</a:t>
            </a:r>
          </a:p>
        </p:txBody>
      </p:sp>
      <p:sp>
        <p:nvSpPr>
          <p:cNvPr id="7" name="slide-title">
            <a:extLst>
              <a:ext uri="{FF2B5EF4-FFF2-40B4-BE49-F238E27FC236}">
                <a16:creationId xmlns:a16="http://schemas.microsoft.com/office/drawing/2014/main" id="{42EBB2DE-22AE-411F-8088-7388A5F605CC}"/>
              </a:ext>
            </a:extLst>
          </p:cNvPr>
          <p:cNvSpPr>
            <a:spLocks noGrp="1"/>
          </p:cNvSpPr>
          <p:nvPr/>
        </p:nvSpPr>
        <p:spPr>
          <a:xfrm>
            <a:off x="514350" y="704850"/>
            <a:ext cx="11163300" cy="685800"/>
          </a:xfrm>
          <a:prstGeom prst="rect">
            <a:avLst/>
          </a:prstGeom>
          <a:noFill/>
          <a:ln w="0">
            <a:noFill/>
            <a:prstDash val="solid"/>
          </a:ln>
        </p:spPr>
        <p:txBody>
          <a:bodyPr/>
          <a:lstStyle/>
          <a:p>
            <a:pPr algn="l">
              <a:defRPr sz="3000" b="1">
                <a:solidFill>
                  <a:srgbClr val="F4F4F2"/>
                </a:solidFill>
              </a:defRPr>
            </a:pPr>
            <a:r>
              <a:rPr sz="3000" b="1">
                <a:solidFill>
                  <a:srgbClr val="F4F4F2"/>
                </a:solidFill>
              </a:rPr>
              <a:t>Quality constrains the route; cost breaks the tie.</a:t>
            </a:r>
          </a:p>
        </p:txBody>
      </p:sp>
      <p:sp>
        <p:nvSpPr>
          <p:cNvPr id="8" name="slide-subtitle">
            <a:extLst>
              <a:ext uri="{FF2B5EF4-FFF2-40B4-BE49-F238E27FC236}">
                <a16:creationId xmlns:a16="http://schemas.microsoft.com/office/drawing/2014/main" id="{0730030A-ED16-484D-8DD4-E1028F137CC3}"/>
              </a:ext>
            </a:extLst>
          </p:cNvPr>
          <p:cNvSpPr>
            <a:spLocks noGrp="1"/>
          </p:cNvSpPr>
          <p:nvPr/>
        </p:nvSpPr>
        <p:spPr>
          <a:xfrm>
            <a:off x="533400" y="1371600"/>
            <a:ext cx="10668000" cy="342900"/>
          </a:xfrm>
          <a:prstGeom prst="rect">
            <a:avLst/>
          </a:prstGeom>
          <a:noFill/>
          <a:ln w="0">
            <a:noFill/>
            <a:prstDash val="solid"/>
          </a:ln>
        </p:spPr>
        <p:txBody>
          <a:bodyPr/>
          <a:lstStyle/>
          <a:p>
            <a:pPr algn="l">
              <a:defRPr sz="1350" b="0">
                <a:solidFill>
                  <a:srgbClr val="9B9B96"/>
                </a:solidFill>
              </a:defRPr>
            </a:pPr>
            <a:r>
              <a:rPr sz="1350" b="0">
                <a:solidFill>
                  <a:srgbClr val="9B9B96"/>
                </a:solidFill>
              </a:rPr>
              <a:t>This chunk-02 decision was scored before refitting or threshold tuning.</a:t>
            </a:r>
          </a:p>
        </p:txBody>
      </p:sp>
      <p:sp>
        <p:nvSpPr>
          <p:cNvPr id="9" name="Rectangle 8">
            <a:extLst>
              <a:ext uri="{FF2B5EF4-FFF2-40B4-BE49-F238E27FC236}">
                <a16:creationId xmlns:a16="http://schemas.microsoft.com/office/drawing/2014/main" id="{B1E659A1-1585-426C-99C5-5821C2695E29}"/>
              </a:ext>
            </a:extLst>
          </p:cNvPr>
          <p:cNvSpPr>
            <a:spLocks noGrp="1"/>
          </p:cNvSpPr>
          <p:nvPr/>
        </p:nvSpPr>
        <p:spPr>
          <a:xfrm>
            <a:off x="552450" y="2076450"/>
            <a:ext cx="2095500" cy="228600"/>
          </a:xfrm>
          <a:prstGeom prst="rect">
            <a:avLst/>
          </a:prstGeom>
          <a:noFill/>
          <a:ln w="0">
            <a:noFill/>
            <a:prstDash val="solid"/>
          </a:ln>
        </p:spPr>
        <p:txBody>
          <a:bodyPr/>
          <a:lstStyle/>
          <a:p>
            <a:pPr algn="l">
              <a:defRPr sz="900" b="1">
                <a:solidFill>
                  <a:srgbClr val="9B9B96"/>
                </a:solidFill>
              </a:defRPr>
            </a:pPr>
            <a:r>
              <a:rPr sz="900" b="1">
                <a:solidFill>
                  <a:srgbClr val="9B9B96"/>
                </a:solidFill>
              </a:rPr>
              <a:t>CANDIDATE</a:t>
            </a:r>
          </a:p>
        </p:txBody>
      </p:sp>
      <p:sp>
        <p:nvSpPr>
          <p:cNvPr id="10" name="Rectangle 9">
            <a:extLst>
              <a:ext uri="{FF2B5EF4-FFF2-40B4-BE49-F238E27FC236}">
                <a16:creationId xmlns:a16="http://schemas.microsoft.com/office/drawing/2014/main" id="{5F8443E5-04F0-4A7D-9DC6-DAF41A6855F1}"/>
              </a:ext>
            </a:extLst>
          </p:cNvPr>
          <p:cNvSpPr>
            <a:spLocks noGrp="1"/>
          </p:cNvSpPr>
          <p:nvPr/>
        </p:nvSpPr>
        <p:spPr>
          <a:xfrm>
            <a:off x="2857500" y="2076450"/>
            <a:ext cx="1524000" cy="228600"/>
          </a:xfrm>
          <a:prstGeom prst="rect">
            <a:avLst/>
          </a:prstGeom>
          <a:noFill/>
          <a:ln w="0">
            <a:noFill/>
            <a:prstDash val="solid"/>
          </a:ln>
        </p:spPr>
        <p:txBody>
          <a:bodyPr/>
          <a:lstStyle/>
          <a:p>
            <a:pPr algn="r">
              <a:defRPr sz="900" b="1">
                <a:solidFill>
                  <a:srgbClr val="9B9B96"/>
                </a:solidFill>
              </a:defRPr>
            </a:pPr>
            <a:r>
              <a:rPr sz="900" b="1">
                <a:solidFill>
                  <a:srgbClr val="9B9B96"/>
                </a:solidFill>
              </a:rPr>
              <a:t>PRED. QUALITY</a:t>
            </a:r>
          </a:p>
        </p:txBody>
      </p:sp>
      <p:sp>
        <p:nvSpPr>
          <p:cNvPr id="11" name="Rectangle 10">
            <a:extLst>
              <a:ext uri="{FF2B5EF4-FFF2-40B4-BE49-F238E27FC236}">
                <a16:creationId xmlns:a16="http://schemas.microsoft.com/office/drawing/2014/main" id="{1D60BCAA-412C-4FB4-A2DA-E2B7B2225909}"/>
              </a:ext>
            </a:extLst>
          </p:cNvPr>
          <p:cNvSpPr>
            <a:spLocks noGrp="1"/>
          </p:cNvSpPr>
          <p:nvPr/>
        </p:nvSpPr>
        <p:spPr>
          <a:xfrm>
            <a:off x="4667250" y="2076450"/>
            <a:ext cx="1524000" cy="228600"/>
          </a:xfrm>
          <a:prstGeom prst="rect">
            <a:avLst/>
          </a:prstGeom>
          <a:noFill/>
          <a:ln w="0">
            <a:noFill/>
            <a:prstDash val="solid"/>
          </a:ln>
        </p:spPr>
        <p:txBody>
          <a:bodyPr/>
          <a:lstStyle/>
          <a:p>
            <a:pPr algn="r">
              <a:defRPr sz="900" b="1">
                <a:solidFill>
                  <a:srgbClr val="9B9B96"/>
                </a:solidFill>
              </a:defRPr>
            </a:pPr>
            <a:r>
              <a:rPr sz="900" b="1">
                <a:solidFill>
                  <a:srgbClr val="9B9B96"/>
                </a:solidFill>
              </a:rPr>
              <a:t>ASSUMED COST</a:t>
            </a:r>
          </a:p>
        </p:txBody>
      </p:sp>
      <p:sp>
        <p:nvSpPr>
          <p:cNvPr id="12" name="Rectangle 11">
            <a:extLst>
              <a:ext uri="{FF2B5EF4-FFF2-40B4-BE49-F238E27FC236}">
                <a16:creationId xmlns:a16="http://schemas.microsoft.com/office/drawing/2014/main" id="{6D39A4D3-7606-4309-AFA8-CE94934EA548}"/>
              </a:ext>
            </a:extLst>
          </p:cNvPr>
          <p:cNvSpPr>
            <a:spLocks noGrp="1"/>
          </p:cNvSpPr>
          <p:nvPr/>
        </p:nvSpPr>
        <p:spPr>
          <a:xfrm>
            <a:off x="552450" y="2419350"/>
            <a:ext cx="2095500" cy="266700"/>
          </a:xfrm>
          <a:prstGeom prst="rect">
            <a:avLst/>
          </a:prstGeom>
          <a:noFill/>
          <a:ln w="0">
            <a:noFill/>
            <a:prstDash val="solid"/>
          </a:ln>
        </p:spPr>
        <p:txBody>
          <a:bodyPr/>
          <a:lstStyle/>
          <a:p>
            <a:pPr algn="l">
              <a:defRPr sz="1350" b="0">
                <a:solidFill>
                  <a:srgbClr val="F4F4F2"/>
                </a:solidFill>
              </a:defRPr>
            </a:pPr>
            <a:r>
              <a:rPr sz="1350" b="0">
                <a:solidFill>
                  <a:srgbClr val="F4F4F2"/>
                </a:solidFill>
              </a:rPr>
              <a:t>Fable</a:t>
            </a:r>
          </a:p>
        </p:txBody>
      </p:sp>
      <p:sp>
        <p:nvSpPr>
          <p:cNvPr id="13" name="Rectangle 12">
            <a:extLst>
              <a:ext uri="{FF2B5EF4-FFF2-40B4-BE49-F238E27FC236}">
                <a16:creationId xmlns:a16="http://schemas.microsoft.com/office/drawing/2014/main" id="{3620CB78-69E2-427D-9541-368F925207AC}"/>
              </a:ext>
            </a:extLst>
          </p:cNvPr>
          <p:cNvSpPr>
            <a:spLocks noGrp="1"/>
          </p:cNvSpPr>
          <p:nvPr/>
        </p:nvSpPr>
        <p:spPr>
          <a:xfrm>
            <a:off x="2857500" y="2419350"/>
            <a:ext cx="1524000" cy="266700"/>
          </a:xfrm>
          <a:prstGeom prst="rect">
            <a:avLst/>
          </a:prstGeom>
          <a:noFill/>
          <a:ln w="0">
            <a:noFill/>
            <a:prstDash val="solid"/>
          </a:ln>
        </p:spPr>
        <p:txBody>
          <a:bodyPr/>
          <a:lstStyle/>
          <a:p>
            <a:pPr algn="r">
              <a:defRPr sz="1350" b="1">
                <a:solidFill>
                  <a:srgbClr val="F4F4F2"/>
                </a:solidFill>
              </a:defRPr>
            </a:pPr>
            <a:r>
              <a:rPr sz="1350" b="1">
                <a:solidFill>
                  <a:srgbClr val="F4F4F2"/>
                </a:solidFill>
              </a:rPr>
              <a:t>0.949</a:t>
            </a:r>
          </a:p>
        </p:txBody>
      </p:sp>
      <p:sp>
        <p:nvSpPr>
          <p:cNvPr id="14" name="Rectangle 13">
            <a:extLst>
              <a:ext uri="{FF2B5EF4-FFF2-40B4-BE49-F238E27FC236}">
                <a16:creationId xmlns:a16="http://schemas.microsoft.com/office/drawing/2014/main" id="{10A3DADC-022F-4D12-B477-100AD1F12DCD}"/>
              </a:ext>
            </a:extLst>
          </p:cNvPr>
          <p:cNvSpPr>
            <a:spLocks noGrp="1"/>
          </p:cNvSpPr>
          <p:nvPr/>
        </p:nvSpPr>
        <p:spPr>
          <a:xfrm>
            <a:off x="4667250" y="2419350"/>
            <a:ext cx="1524000" cy="266700"/>
          </a:xfrm>
          <a:prstGeom prst="rect">
            <a:avLst/>
          </a:prstGeom>
          <a:noFill/>
          <a:ln w="0">
            <a:noFill/>
            <a:prstDash val="solid"/>
          </a:ln>
        </p:spPr>
        <p:txBody>
          <a:bodyPr/>
          <a:lstStyle/>
          <a:p>
            <a:pPr algn="r">
              <a:defRPr sz="1350" b="0">
                <a:solidFill>
                  <a:srgbClr val="F4F4F2"/>
                </a:solidFill>
              </a:defRPr>
            </a:pPr>
            <a:r>
              <a:rPr sz="1350" b="0">
                <a:solidFill>
                  <a:srgbClr val="F4F4F2"/>
                </a:solidFill>
              </a:rPr>
              <a:t>$0.1307</a:t>
            </a:r>
          </a:p>
        </p:txBody>
      </p:sp>
      <p:sp>
        <p:nvSpPr>
          <p:cNvPr id="15" name="Rectangle 14">
            <a:extLst>
              <a:ext uri="{FF2B5EF4-FFF2-40B4-BE49-F238E27FC236}">
                <a16:creationId xmlns:a16="http://schemas.microsoft.com/office/drawing/2014/main" id="{FBB8EA6C-1005-4677-A46D-535B0727EBCA}"/>
              </a:ext>
            </a:extLst>
          </p:cNvPr>
          <p:cNvSpPr>
            <a:spLocks noGrp="1"/>
          </p:cNvSpPr>
          <p:nvPr/>
        </p:nvSpPr>
        <p:spPr>
          <a:xfrm>
            <a:off x="6838950" y="2419350"/>
            <a:ext cx="1238250" cy="266700"/>
          </a:xfrm>
          <a:prstGeom prst="rect">
            <a:avLst/>
          </a:prstGeom>
          <a:noFill/>
          <a:ln w="0">
            <a:noFill/>
            <a:prstDash val="solid"/>
          </a:ln>
        </p:spPr>
        <p:txBody>
          <a:bodyPr/>
          <a:lstStyle/>
          <a:p>
            <a:pPr algn="l">
              <a:defRPr sz="1050" b="1">
                <a:solidFill>
                  <a:srgbClr val="9B9B96"/>
                </a:solidFill>
              </a:defRPr>
            </a:pPr>
            <a:r>
              <a:rPr sz="1050" b="1">
                <a:solidFill>
                  <a:srgbClr val="9B9B96"/>
                </a:solidFill>
              </a:rPr>
              <a:t>supported</a:t>
            </a:r>
          </a:p>
        </p:txBody>
      </p:sp>
      <p:sp>
        <p:nvSpPr>
          <p:cNvPr id="16" name="Straight Connector 15">
            <a:extLst>
              <a:ext uri="{FF2B5EF4-FFF2-40B4-BE49-F238E27FC236}">
                <a16:creationId xmlns:a16="http://schemas.microsoft.com/office/drawing/2014/main" id="{03946B6C-5409-4B78-9523-F6F790305E39}"/>
              </a:ext>
            </a:extLst>
          </p:cNvPr>
          <p:cNvSpPr>
            <a:spLocks noGrp="1"/>
          </p:cNvSpPr>
          <p:nvPr/>
        </p:nvSpPr>
        <p:spPr>
          <a:xfrm>
            <a:off x="552450" y="2781300"/>
            <a:ext cx="7524750" cy="0"/>
          </a:xfrm>
          <a:prstGeom prst="line">
            <a:avLst/>
          </a:prstGeom>
          <a:noFill/>
          <a:ln w="9525">
            <a:solidFill>
              <a:srgbClr val="2B2B29"/>
            </a:solidFill>
            <a:prstDash val="solid"/>
          </a:ln>
        </p:spPr>
        <p:txBody>
          <a:bodyPr/>
          <a:lstStyle/>
          <a:p>
            <a:endParaRPr lang="en-DE"/>
          </a:p>
        </p:txBody>
      </p:sp>
      <p:sp>
        <p:nvSpPr>
          <p:cNvPr id="17" name="Rectangle 16">
            <a:extLst>
              <a:ext uri="{FF2B5EF4-FFF2-40B4-BE49-F238E27FC236}">
                <a16:creationId xmlns:a16="http://schemas.microsoft.com/office/drawing/2014/main" id="{A6BCD22E-9877-458A-8EFC-819ADCE62B46}"/>
              </a:ext>
            </a:extLst>
          </p:cNvPr>
          <p:cNvSpPr>
            <a:spLocks noGrp="1"/>
          </p:cNvSpPr>
          <p:nvPr/>
        </p:nvSpPr>
        <p:spPr>
          <a:xfrm>
            <a:off x="552450" y="2933700"/>
            <a:ext cx="2095500" cy="266700"/>
          </a:xfrm>
          <a:prstGeom prst="rect">
            <a:avLst/>
          </a:prstGeom>
          <a:noFill/>
          <a:ln w="0">
            <a:noFill/>
            <a:prstDash val="solid"/>
          </a:ln>
        </p:spPr>
        <p:txBody>
          <a:bodyPr/>
          <a:lstStyle/>
          <a:p>
            <a:pPr algn="l">
              <a:defRPr sz="1350" b="0">
                <a:solidFill>
                  <a:srgbClr val="F4F4F2"/>
                </a:solidFill>
              </a:defRPr>
            </a:pPr>
            <a:r>
              <a:rPr sz="1350" b="0">
                <a:solidFill>
                  <a:srgbClr val="F4F4F2"/>
                </a:solidFill>
              </a:rPr>
              <a:t>Sol</a:t>
            </a:r>
          </a:p>
        </p:txBody>
      </p:sp>
      <p:sp>
        <p:nvSpPr>
          <p:cNvPr id="18" name="Rectangle 17">
            <a:extLst>
              <a:ext uri="{FF2B5EF4-FFF2-40B4-BE49-F238E27FC236}">
                <a16:creationId xmlns:a16="http://schemas.microsoft.com/office/drawing/2014/main" id="{9AE03206-0799-4990-BFB4-39A36379665F}"/>
              </a:ext>
            </a:extLst>
          </p:cNvPr>
          <p:cNvSpPr>
            <a:spLocks noGrp="1"/>
          </p:cNvSpPr>
          <p:nvPr/>
        </p:nvSpPr>
        <p:spPr>
          <a:xfrm>
            <a:off x="2857500" y="2933700"/>
            <a:ext cx="1524000" cy="266700"/>
          </a:xfrm>
          <a:prstGeom prst="rect">
            <a:avLst/>
          </a:prstGeom>
          <a:noFill/>
          <a:ln w="0">
            <a:noFill/>
            <a:prstDash val="solid"/>
          </a:ln>
        </p:spPr>
        <p:txBody>
          <a:bodyPr/>
          <a:lstStyle/>
          <a:p>
            <a:pPr algn="r">
              <a:defRPr sz="1350" b="1">
                <a:solidFill>
                  <a:srgbClr val="F4F4F2"/>
                </a:solidFill>
              </a:defRPr>
            </a:pPr>
            <a:r>
              <a:rPr sz="1350" b="1">
                <a:solidFill>
                  <a:srgbClr val="F4F4F2"/>
                </a:solidFill>
              </a:rPr>
              <a:t>0.945</a:t>
            </a:r>
          </a:p>
        </p:txBody>
      </p:sp>
      <p:sp>
        <p:nvSpPr>
          <p:cNvPr id="19" name="Rectangle 18">
            <a:extLst>
              <a:ext uri="{FF2B5EF4-FFF2-40B4-BE49-F238E27FC236}">
                <a16:creationId xmlns:a16="http://schemas.microsoft.com/office/drawing/2014/main" id="{706C3942-F66A-4619-8C2B-65CCD08AD3C2}"/>
              </a:ext>
            </a:extLst>
          </p:cNvPr>
          <p:cNvSpPr>
            <a:spLocks noGrp="1"/>
          </p:cNvSpPr>
          <p:nvPr/>
        </p:nvSpPr>
        <p:spPr>
          <a:xfrm>
            <a:off x="4667250" y="2933700"/>
            <a:ext cx="1524000" cy="266700"/>
          </a:xfrm>
          <a:prstGeom prst="rect">
            <a:avLst/>
          </a:prstGeom>
          <a:noFill/>
          <a:ln w="0">
            <a:noFill/>
            <a:prstDash val="solid"/>
          </a:ln>
        </p:spPr>
        <p:txBody>
          <a:bodyPr/>
          <a:lstStyle/>
          <a:p>
            <a:pPr algn="r">
              <a:defRPr sz="1350" b="0">
                <a:solidFill>
                  <a:srgbClr val="F4F4F2"/>
                </a:solidFill>
              </a:defRPr>
            </a:pPr>
            <a:r>
              <a:rPr sz="1350" b="0">
                <a:solidFill>
                  <a:srgbClr val="F4F4F2"/>
                </a:solidFill>
              </a:rPr>
              <a:t>$0.0653</a:t>
            </a:r>
          </a:p>
        </p:txBody>
      </p:sp>
      <p:sp>
        <p:nvSpPr>
          <p:cNvPr id="20" name="Rectangle 19">
            <a:extLst>
              <a:ext uri="{FF2B5EF4-FFF2-40B4-BE49-F238E27FC236}">
                <a16:creationId xmlns:a16="http://schemas.microsoft.com/office/drawing/2014/main" id="{E5369900-D441-4E2D-8053-D51896E7C037}"/>
              </a:ext>
            </a:extLst>
          </p:cNvPr>
          <p:cNvSpPr>
            <a:spLocks noGrp="1"/>
          </p:cNvSpPr>
          <p:nvPr/>
        </p:nvSpPr>
        <p:spPr>
          <a:xfrm>
            <a:off x="6838950" y="2933700"/>
            <a:ext cx="1238250" cy="266700"/>
          </a:xfrm>
          <a:prstGeom prst="rect">
            <a:avLst/>
          </a:prstGeom>
          <a:noFill/>
          <a:ln w="0">
            <a:noFill/>
            <a:prstDash val="solid"/>
          </a:ln>
        </p:spPr>
        <p:txBody>
          <a:bodyPr/>
          <a:lstStyle/>
          <a:p>
            <a:pPr algn="l">
              <a:defRPr sz="1050" b="1">
                <a:solidFill>
                  <a:srgbClr val="9B9B96"/>
                </a:solidFill>
              </a:defRPr>
            </a:pPr>
            <a:r>
              <a:rPr sz="1050" b="1">
                <a:solidFill>
                  <a:srgbClr val="9B9B96"/>
                </a:solidFill>
              </a:rPr>
              <a:t>supported</a:t>
            </a:r>
          </a:p>
        </p:txBody>
      </p:sp>
      <p:sp>
        <p:nvSpPr>
          <p:cNvPr id="21" name="Straight Connector 20">
            <a:extLst>
              <a:ext uri="{FF2B5EF4-FFF2-40B4-BE49-F238E27FC236}">
                <a16:creationId xmlns:a16="http://schemas.microsoft.com/office/drawing/2014/main" id="{016634A2-BD7A-439D-A81E-3D3C6DFE639F}"/>
              </a:ext>
            </a:extLst>
          </p:cNvPr>
          <p:cNvSpPr>
            <a:spLocks noGrp="1"/>
          </p:cNvSpPr>
          <p:nvPr/>
        </p:nvSpPr>
        <p:spPr>
          <a:xfrm>
            <a:off x="552450" y="3295650"/>
            <a:ext cx="7524750" cy="0"/>
          </a:xfrm>
          <a:prstGeom prst="line">
            <a:avLst/>
          </a:prstGeom>
          <a:noFill/>
          <a:ln w="9525">
            <a:solidFill>
              <a:srgbClr val="2B2B29"/>
            </a:solidFill>
            <a:prstDash val="solid"/>
          </a:ln>
        </p:spPr>
        <p:txBody>
          <a:bodyPr/>
          <a:lstStyle/>
          <a:p>
            <a:endParaRPr lang="en-DE"/>
          </a:p>
        </p:txBody>
      </p:sp>
      <p:sp>
        <p:nvSpPr>
          <p:cNvPr id="22" name="Rectangle 21">
            <a:extLst>
              <a:ext uri="{FF2B5EF4-FFF2-40B4-BE49-F238E27FC236}">
                <a16:creationId xmlns:a16="http://schemas.microsoft.com/office/drawing/2014/main" id="{5D880874-FB6E-4FC7-9416-06632BF000E1}"/>
              </a:ext>
            </a:extLst>
          </p:cNvPr>
          <p:cNvSpPr>
            <a:spLocks noGrp="1"/>
          </p:cNvSpPr>
          <p:nvPr/>
        </p:nvSpPr>
        <p:spPr>
          <a:xfrm>
            <a:off x="552450" y="3448050"/>
            <a:ext cx="2095500" cy="266700"/>
          </a:xfrm>
          <a:prstGeom prst="rect">
            <a:avLst/>
          </a:prstGeom>
          <a:noFill/>
          <a:ln w="0">
            <a:noFill/>
            <a:prstDash val="solid"/>
          </a:ln>
        </p:spPr>
        <p:txBody>
          <a:bodyPr/>
          <a:lstStyle/>
          <a:p>
            <a:pPr algn="l">
              <a:defRPr sz="1350" b="0">
                <a:solidFill>
                  <a:srgbClr val="F4F4F2"/>
                </a:solidFill>
              </a:defRPr>
            </a:pPr>
            <a:r>
              <a:rPr sz="1350" b="0">
                <a:solidFill>
                  <a:srgbClr val="F4F4F2"/>
                </a:solidFill>
              </a:rPr>
              <a:t>Opus</a:t>
            </a:r>
          </a:p>
        </p:txBody>
      </p:sp>
      <p:sp>
        <p:nvSpPr>
          <p:cNvPr id="23" name="Rectangle 22">
            <a:extLst>
              <a:ext uri="{FF2B5EF4-FFF2-40B4-BE49-F238E27FC236}">
                <a16:creationId xmlns:a16="http://schemas.microsoft.com/office/drawing/2014/main" id="{03CE316E-9B09-40E7-BA2A-63D761A1484A}"/>
              </a:ext>
            </a:extLst>
          </p:cNvPr>
          <p:cNvSpPr>
            <a:spLocks noGrp="1"/>
          </p:cNvSpPr>
          <p:nvPr/>
        </p:nvSpPr>
        <p:spPr>
          <a:xfrm>
            <a:off x="2857500" y="3448050"/>
            <a:ext cx="1524000" cy="266700"/>
          </a:xfrm>
          <a:prstGeom prst="rect">
            <a:avLst/>
          </a:prstGeom>
          <a:noFill/>
          <a:ln w="0">
            <a:noFill/>
            <a:prstDash val="solid"/>
          </a:ln>
        </p:spPr>
        <p:txBody>
          <a:bodyPr/>
          <a:lstStyle/>
          <a:p>
            <a:pPr algn="r">
              <a:defRPr sz="1350" b="1">
                <a:solidFill>
                  <a:srgbClr val="F4F4F2"/>
                </a:solidFill>
              </a:defRPr>
            </a:pPr>
            <a:r>
              <a:rPr sz="1350" b="1">
                <a:solidFill>
                  <a:srgbClr val="F4F4F2"/>
                </a:solidFill>
              </a:rPr>
              <a:t>0.944</a:t>
            </a:r>
          </a:p>
        </p:txBody>
      </p:sp>
      <p:sp>
        <p:nvSpPr>
          <p:cNvPr id="24" name="Rectangle 23">
            <a:extLst>
              <a:ext uri="{FF2B5EF4-FFF2-40B4-BE49-F238E27FC236}">
                <a16:creationId xmlns:a16="http://schemas.microsoft.com/office/drawing/2014/main" id="{5CED31D3-0E44-4470-B043-8F566A4486C9}"/>
              </a:ext>
            </a:extLst>
          </p:cNvPr>
          <p:cNvSpPr>
            <a:spLocks noGrp="1"/>
          </p:cNvSpPr>
          <p:nvPr/>
        </p:nvSpPr>
        <p:spPr>
          <a:xfrm>
            <a:off x="4667250" y="3448050"/>
            <a:ext cx="1524000" cy="266700"/>
          </a:xfrm>
          <a:prstGeom prst="rect">
            <a:avLst/>
          </a:prstGeom>
          <a:noFill/>
          <a:ln w="0">
            <a:noFill/>
            <a:prstDash val="solid"/>
          </a:ln>
        </p:spPr>
        <p:txBody>
          <a:bodyPr/>
          <a:lstStyle/>
          <a:p>
            <a:pPr algn="r">
              <a:defRPr sz="1350" b="0">
                <a:solidFill>
                  <a:srgbClr val="F4F4F2"/>
                </a:solidFill>
              </a:defRPr>
            </a:pPr>
            <a:r>
              <a:rPr sz="1350" b="0">
                <a:solidFill>
                  <a:srgbClr val="F4F4F2"/>
                </a:solidFill>
              </a:rPr>
              <a:t>$0.0653</a:t>
            </a:r>
          </a:p>
        </p:txBody>
      </p:sp>
      <p:sp>
        <p:nvSpPr>
          <p:cNvPr id="25" name="Rectangle 24">
            <a:extLst>
              <a:ext uri="{FF2B5EF4-FFF2-40B4-BE49-F238E27FC236}">
                <a16:creationId xmlns:a16="http://schemas.microsoft.com/office/drawing/2014/main" id="{796D4DD8-476F-458C-A9E5-E3C8857787AD}"/>
              </a:ext>
            </a:extLst>
          </p:cNvPr>
          <p:cNvSpPr>
            <a:spLocks noGrp="1"/>
          </p:cNvSpPr>
          <p:nvPr/>
        </p:nvSpPr>
        <p:spPr>
          <a:xfrm>
            <a:off x="6838950" y="3448050"/>
            <a:ext cx="1238250" cy="266700"/>
          </a:xfrm>
          <a:prstGeom prst="rect">
            <a:avLst/>
          </a:prstGeom>
          <a:noFill/>
          <a:ln w="0">
            <a:noFill/>
            <a:prstDash val="solid"/>
          </a:ln>
        </p:spPr>
        <p:txBody>
          <a:bodyPr/>
          <a:lstStyle/>
          <a:p>
            <a:pPr algn="l">
              <a:defRPr sz="1050" b="1">
                <a:solidFill>
                  <a:srgbClr val="9B9B96"/>
                </a:solidFill>
              </a:defRPr>
            </a:pPr>
            <a:r>
              <a:rPr sz="1050" b="1">
                <a:solidFill>
                  <a:srgbClr val="9B9B96"/>
                </a:solidFill>
              </a:rPr>
              <a:t>supported</a:t>
            </a:r>
          </a:p>
        </p:txBody>
      </p:sp>
      <p:sp>
        <p:nvSpPr>
          <p:cNvPr id="26" name="Straight Connector 25">
            <a:extLst>
              <a:ext uri="{FF2B5EF4-FFF2-40B4-BE49-F238E27FC236}">
                <a16:creationId xmlns:a16="http://schemas.microsoft.com/office/drawing/2014/main" id="{8B42C336-DEFB-4E95-99BA-6A514A9CD901}"/>
              </a:ext>
            </a:extLst>
          </p:cNvPr>
          <p:cNvSpPr>
            <a:spLocks noGrp="1"/>
          </p:cNvSpPr>
          <p:nvPr/>
        </p:nvSpPr>
        <p:spPr>
          <a:xfrm>
            <a:off x="552450" y="3810000"/>
            <a:ext cx="7524750" cy="0"/>
          </a:xfrm>
          <a:prstGeom prst="line">
            <a:avLst/>
          </a:prstGeom>
          <a:noFill/>
          <a:ln w="9525">
            <a:solidFill>
              <a:srgbClr val="2B2B29"/>
            </a:solidFill>
            <a:prstDash val="solid"/>
          </a:ln>
        </p:spPr>
        <p:txBody>
          <a:bodyPr/>
          <a:lstStyle/>
          <a:p>
            <a:endParaRPr lang="en-DE"/>
          </a:p>
        </p:txBody>
      </p:sp>
      <p:sp>
        <p:nvSpPr>
          <p:cNvPr id="27" name="Rounded Rectangle 26">
            <a:extLst>
              <a:ext uri="{FF2B5EF4-FFF2-40B4-BE49-F238E27FC236}">
                <a16:creationId xmlns:a16="http://schemas.microsoft.com/office/drawing/2014/main" id="{DB7C12BD-7669-4CBD-9566-1C0C6D841113}"/>
              </a:ext>
            </a:extLst>
          </p:cNvPr>
          <p:cNvSpPr>
            <a:spLocks noGrp="1"/>
          </p:cNvSpPr>
          <p:nvPr/>
        </p:nvSpPr>
        <p:spPr>
          <a:xfrm>
            <a:off x="457200" y="3905250"/>
            <a:ext cx="6191250" cy="457200"/>
          </a:xfrm>
          <a:prstGeom prst="roundRect">
            <a:avLst>
              <a:gd name="adj" fmla="val 6250"/>
            </a:avLst>
          </a:prstGeom>
          <a:solidFill>
            <a:srgbClr val="F4F4F2"/>
          </a:solidFill>
          <a:ln w="9525">
            <a:solidFill>
              <a:srgbClr val="F4F4F2"/>
            </a:solidFill>
            <a:prstDash val="solid"/>
          </a:ln>
        </p:spPr>
        <p:txBody>
          <a:bodyPr/>
          <a:lstStyle/>
          <a:p>
            <a:endParaRPr lang="en-DE"/>
          </a:p>
        </p:txBody>
      </p:sp>
      <p:sp>
        <p:nvSpPr>
          <p:cNvPr id="28" name="Rectangle 27">
            <a:extLst>
              <a:ext uri="{FF2B5EF4-FFF2-40B4-BE49-F238E27FC236}">
                <a16:creationId xmlns:a16="http://schemas.microsoft.com/office/drawing/2014/main" id="{1CBB1E36-C2E0-4E17-B069-502EDA39D801}"/>
              </a:ext>
            </a:extLst>
          </p:cNvPr>
          <p:cNvSpPr>
            <a:spLocks noGrp="1"/>
          </p:cNvSpPr>
          <p:nvPr/>
        </p:nvSpPr>
        <p:spPr>
          <a:xfrm>
            <a:off x="552450" y="3962400"/>
            <a:ext cx="2095500" cy="266700"/>
          </a:xfrm>
          <a:prstGeom prst="rect">
            <a:avLst/>
          </a:prstGeom>
          <a:noFill/>
          <a:ln w="0">
            <a:noFill/>
            <a:prstDash val="solid"/>
          </a:ln>
        </p:spPr>
        <p:txBody>
          <a:bodyPr/>
          <a:lstStyle/>
          <a:p>
            <a:pPr algn="l">
              <a:defRPr sz="1350" b="1">
                <a:solidFill>
                  <a:srgbClr val="0B0B0B"/>
                </a:solidFill>
              </a:defRPr>
            </a:pPr>
            <a:r>
              <a:rPr sz="1350" b="1">
                <a:solidFill>
                  <a:srgbClr val="0B0B0B"/>
                </a:solidFill>
              </a:rPr>
              <a:t>Sonnet</a:t>
            </a:r>
          </a:p>
        </p:txBody>
      </p:sp>
      <p:sp>
        <p:nvSpPr>
          <p:cNvPr id="29" name="Rectangle 28">
            <a:extLst>
              <a:ext uri="{FF2B5EF4-FFF2-40B4-BE49-F238E27FC236}">
                <a16:creationId xmlns:a16="http://schemas.microsoft.com/office/drawing/2014/main" id="{8A7F5CDD-BF98-401E-A255-7643EA273E63}"/>
              </a:ext>
            </a:extLst>
          </p:cNvPr>
          <p:cNvSpPr>
            <a:spLocks noGrp="1"/>
          </p:cNvSpPr>
          <p:nvPr/>
        </p:nvSpPr>
        <p:spPr>
          <a:xfrm>
            <a:off x="2857500" y="3962400"/>
            <a:ext cx="1524000" cy="266700"/>
          </a:xfrm>
          <a:prstGeom prst="rect">
            <a:avLst/>
          </a:prstGeom>
          <a:noFill/>
          <a:ln w="0">
            <a:noFill/>
            <a:prstDash val="solid"/>
          </a:ln>
        </p:spPr>
        <p:txBody>
          <a:bodyPr/>
          <a:lstStyle/>
          <a:p>
            <a:pPr algn="r">
              <a:defRPr sz="1350" b="1">
                <a:solidFill>
                  <a:srgbClr val="0B0B0B"/>
                </a:solidFill>
              </a:defRPr>
            </a:pPr>
            <a:r>
              <a:rPr sz="1350" b="1">
                <a:solidFill>
                  <a:srgbClr val="0B0B0B"/>
                </a:solidFill>
              </a:rPr>
              <a:t>0.929</a:t>
            </a:r>
          </a:p>
        </p:txBody>
      </p:sp>
      <p:sp>
        <p:nvSpPr>
          <p:cNvPr id="30" name="Rectangle 29">
            <a:extLst>
              <a:ext uri="{FF2B5EF4-FFF2-40B4-BE49-F238E27FC236}">
                <a16:creationId xmlns:a16="http://schemas.microsoft.com/office/drawing/2014/main" id="{F01A159C-9E7D-4D4B-94ED-088C2846C59A}"/>
              </a:ext>
            </a:extLst>
          </p:cNvPr>
          <p:cNvSpPr>
            <a:spLocks noGrp="1"/>
          </p:cNvSpPr>
          <p:nvPr/>
        </p:nvSpPr>
        <p:spPr>
          <a:xfrm>
            <a:off x="4667250" y="3962400"/>
            <a:ext cx="1524000" cy="266700"/>
          </a:xfrm>
          <a:prstGeom prst="rect">
            <a:avLst/>
          </a:prstGeom>
          <a:noFill/>
          <a:ln w="0">
            <a:noFill/>
            <a:prstDash val="solid"/>
          </a:ln>
        </p:spPr>
        <p:txBody>
          <a:bodyPr/>
          <a:lstStyle/>
          <a:p>
            <a:pPr algn="r">
              <a:defRPr sz="1350" b="0">
                <a:solidFill>
                  <a:srgbClr val="0B0B0B"/>
                </a:solidFill>
              </a:defRPr>
            </a:pPr>
            <a:r>
              <a:rPr sz="1350" b="0">
                <a:solidFill>
                  <a:srgbClr val="0B0B0B"/>
                </a:solidFill>
              </a:rPr>
              <a:t>$0.0261</a:t>
            </a:r>
          </a:p>
        </p:txBody>
      </p:sp>
      <p:sp>
        <p:nvSpPr>
          <p:cNvPr id="31" name="Rectangle 30">
            <a:extLst>
              <a:ext uri="{FF2B5EF4-FFF2-40B4-BE49-F238E27FC236}">
                <a16:creationId xmlns:a16="http://schemas.microsoft.com/office/drawing/2014/main" id="{96B44986-D8C7-419A-B5FA-D8E56093FAF6}"/>
              </a:ext>
            </a:extLst>
          </p:cNvPr>
          <p:cNvSpPr>
            <a:spLocks noGrp="1"/>
          </p:cNvSpPr>
          <p:nvPr/>
        </p:nvSpPr>
        <p:spPr>
          <a:xfrm>
            <a:off x="6838950" y="3962400"/>
            <a:ext cx="1238250" cy="266700"/>
          </a:xfrm>
          <a:prstGeom prst="rect">
            <a:avLst/>
          </a:prstGeom>
          <a:noFill/>
          <a:ln w="0">
            <a:noFill/>
            <a:prstDash val="solid"/>
          </a:ln>
        </p:spPr>
        <p:txBody>
          <a:bodyPr/>
          <a:lstStyle/>
          <a:p>
            <a:pPr algn="l">
              <a:defRPr sz="1050" b="1">
                <a:solidFill>
                  <a:srgbClr val="F4F4F2"/>
                </a:solidFill>
              </a:defRPr>
            </a:pPr>
            <a:r>
              <a:rPr sz="1050" b="1">
                <a:solidFill>
                  <a:srgbClr val="F4F4F2"/>
                </a:solidFill>
              </a:rPr>
              <a:t>selected</a:t>
            </a:r>
          </a:p>
        </p:txBody>
      </p:sp>
      <p:sp>
        <p:nvSpPr>
          <p:cNvPr id="32" name="Straight Connector 31">
            <a:extLst>
              <a:ext uri="{FF2B5EF4-FFF2-40B4-BE49-F238E27FC236}">
                <a16:creationId xmlns:a16="http://schemas.microsoft.com/office/drawing/2014/main" id="{7E40C3DC-4547-491E-8961-F9EEE169B3C3}"/>
              </a:ext>
            </a:extLst>
          </p:cNvPr>
          <p:cNvSpPr>
            <a:spLocks noGrp="1"/>
          </p:cNvSpPr>
          <p:nvPr/>
        </p:nvSpPr>
        <p:spPr>
          <a:xfrm>
            <a:off x="552450" y="4324350"/>
            <a:ext cx="7524750" cy="0"/>
          </a:xfrm>
          <a:prstGeom prst="line">
            <a:avLst/>
          </a:prstGeom>
          <a:noFill/>
          <a:ln w="9525">
            <a:solidFill>
              <a:srgbClr val="2B2B29"/>
            </a:solidFill>
            <a:prstDash val="solid"/>
          </a:ln>
        </p:spPr>
        <p:txBody>
          <a:bodyPr/>
          <a:lstStyle/>
          <a:p>
            <a:endParaRPr lang="en-DE"/>
          </a:p>
        </p:txBody>
      </p:sp>
      <p:sp>
        <p:nvSpPr>
          <p:cNvPr id="33" name="Rectangle 32">
            <a:extLst>
              <a:ext uri="{FF2B5EF4-FFF2-40B4-BE49-F238E27FC236}">
                <a16:creationId xmlns:a16="http://schemas.microsoft.com/office/drawing/2014/main" id="{6E4A9ECD-8862-476D-B389-3952179C4529}"/>
              </a:ext>
            </a:extLst>
          </p:cNvPr>
          <p:cNvSpPr>
            <a:spLocks noGrp="1"/>
          </p:cNvSpPr>
          <p:nvPr/>
        </p:nvSpPr>
        <p:spPr>
          <a:xfrm>
            <a:off x="552450" y="4476750"/>
            <a:ext cx="2095500" cy="266700"/>
          </a:xfrm>
          <a:prstGeom prst="rect">
            <a:avLst/>
          </a:prstGeom>
          <a:noFill/>
          <a:ln w="0">
            <a:noFill/>
            <a:prstDash val="solid"/>
          </a:ln>
        </p:spPr>
        <p:txBody>
          <a:bodyPr/>
          <a:lstStyle/>
          <a:p>
            <a:pPr algn="l">
              <a:defRPr sz="1350" b="0">
                <a:solidFill>
                  <a:srgbClr val="F4F4F2"/>
                </a:solidFill>
              </a:defRPr>
            </a:pPr>
            <a:r>
              <a:rPr sz="1350" b="0">
                <a:solidFill>
                  <a:srgbClr val="F4F4F2"/>
                </a:solidFill>
              </a:rPr>
              <a:t>Terra</a:t>
            </a:r>
          </a:p>
        </p:txBody>
      </p:sp>
      <p:sp>
        <p:nvSpPr>
          <p:cNvPr id="34" name="Rectangle 33">
            <a:extLst>
              <a:ext uri="{FF2B5EF4-FFF2-40B4-BE49-F238E27FC236}">
                <a16:creationId xmlns:a16="http://schemas.microsoft.com/office/drawing/2014/main" id="{A1DA9048-9C43-4B17-9FD8-3D4A7EAE11AD}"/>
              </a:ext>
            </a:extLst>
          </p:cNvPr>
          <p:cNvSpPr>
            <a:spLocks noGrp="1"/>
          </p:cNvSpPr>
          <p:nvPr/>
        </p:nvSpPr>
        <p:spPr>
          <a:xfrm>
            <a:off x="2857500" y="4476750"/>
            <a:ext cx="1524000" cy="266700"/>
          </a:xfrm>
          <a:prstGeom prst="rect">
            <a:avLst/>
          </a:prstGeom>
          <a:noFill/>
          <a:ln w="0">
            <a:noFill/>
            <a:prstDash val="solid"/>
          </a:ln>
        </p:spPr>
        <p:txBody>
          <a:bodyPr/>
          <a:lstStyle/>
          <a:p>
            <a:pPr algn="r">
              <a:defRPr sz="1350" b="1">
                <a:solidFill>
                  <a:srgbClr val="F4F4F2"/>
                </a:solidFill>
              </a:defRPr>
            </a:pPr>
            <a:r>
              <a:rPr sz="1350" b="1">
                <a:solidFill>
                  <a:srgbClr val="F4F4F2"/>
                </a:solidFill>
              </a:rPr>
              <a:t>0.920</a:t>
            </a:r>
          </a:p>
        </p:txBody>
      </p:sp>
      <p:sp>
        <p:nvSpPr>
          <p:cNvPr id="35" name="Rectangle 34">
            <a:extLst>
              <a:ext uri="{FF2B5EF4-FFF2-40B4-BE49-F238E27FC236}">
                <a16:creationId xmlns:a16="http://schemas.microsoft.com/office/drawing/2014/main" id="{EAEE933A-B145-42C3-957B-FB06D624B3EB}"/>
              </a:ext>
            </a:extLst>
          </p:cNvPr>
          <p:cNvSpPr>
            <a:spLocks noGrp="1"/>
          </p:cNvSpPr>
          <p:nvPr/>
        </p:nvSpPr>
        <p:spPr>
          <a:xfrm>
            <a:off x="4667250" y="4476750"/>
            <a:ext cx="1524000" cy="266700"/>
          </a:xfrm>
          <a:prstGeom prst="rect">
            <a:avLst/>
          </a:prstGeom>
          <a:noFill/>
          <a:ln w="0">
            <a:noFill/>
            <a:prstDash val="solid"/>
          </a:ln>
        </p:spPr>
        <p:txBody>
          <a:bodyPr/>
          <a:lstStyle/>
          <a:p>
            <a:pPr algn="r">
              <a:defRPr sz="1350" b="0">
                <a:solidFill>
                  <a:srgbClr val="F4F4F2"/>
                </a:solidFill>
              </a:defRPr>
            </a:pPr>
            <a:r>
              <a:rPr sz="1350" b="0">
                <a:solidFill>
                  <a:srgbClr val="F4F4F2"/>
                </a:solidFill>
              </a:rPr>
              <a:t>$0.0261</a:t>
            </a:r>
          </a:p>
        </p:txBody>
      </p:sp>
      <p:sp>
        <p:nvSpPr>
          <p:cNvPr id="36" name="Rectangle 35">
            <a:extLst>
              <a:ext uri="{FF2B5EF4-FFF2-40B4-BE49-F238E27FC236}">
                <a16:creationId xmlns:a16="http://schemas.microsoft.com/office/drawing/2014/main" id="{B27D087F-8FEC-444B-9C98-FACDA03A310B}"/>
              </a:ext>
            </a:extLst>
          </p:cNvPr>
          <p:cNvSpPr>
            <a:spLocks noGrp="1"/>
          </p:cNvSpPr>
          <p:nvPr/>
        </p:nvSpPr>
        <p:spPr>
          <a:xfrm>
            <a:off x="6838950" y="4476750"/>
            <a:ext cx="1238250" cy="266700"/>
          </a:xfrm>
          <a:prstGeom prst="rect">
            <a:avLst/>
          </a:prstGeom>
          <a:noFill/>
          <a:ln w="0">
            <a:noFill/>
            <a:prstDash val="solid"/>
          </a:ln>
        </p:spPr>
        <p:txBody>
          <a:bodyPr/>
          <a:lstStyle/>
          <a:p>
            <a:pPr algn="l">
              <a:defRPr sz="1050" b="1">
                <a:solidFill>
                  <a:srgbClr val="9B9B96"/>
                </a:solidFill>
              </a:defRPr>
            </a:pPr>
            <a:r>
              <a:rPr sz="1050" b="1">
                <a:solidFill>
                  <a:srgbClr val="9B9B96"/>
                </a:solidFill>
              </a:rPr>
              <a:t>unsupported</a:t>
            </a:r>
          </a:p>
        </p:txBody>
      </p:sp>
      <p:sp>
        <p:nvSpPr>
          <p:cNvPr id="37" name="Straight Connector 36">
            <a:extLst>
              <a:ext uri="{FF2B5EF4-FFF2-40B4-BE49-F238E27FC236}">
                <a16:creationId xmlns:a16="http://schemas.microsoft.com/office/drawing/2014/main" id="{E0C71A5E-A58B-4A33-B2BA-D89C109CB957}"/>
              </a:ext>
            </a:extLst>
          </p:cNvPr>
          <p:cNvSpPr>
            <a:spLocks noGrp="1"/>
          </p:cNvSpPr>
          <p:nvPr/>
        </p:nvSpPr>
        <p:spPr>
          <a:xfrm>
            <a:off x="552450" y="4838700"/>
            <a:ext cx="7524750" cy="0"/>
          </a:xfrm>
          <a:prstGeom prst="line">
            <a:avLst/>
          </a:prstGeom>
          <a:noFill/>
          <a:ln w="9525">
            <a:solidFill>
              <a:srgbClr val="2B2B29"/>
            </a:solidFill>
            <a:prstDash val="solid"/>
          </a:ln>
        </p:spPr>
        <p:txBody>
          <a:bodyPr/>
          <a:lstStyle/>
          <a:p>
            <a:endParaRPr lang="en-DE"/>
          </a:p>
        </p:txBody>
      </p:sp>
      <p:sp>
        <p:nvSpPr>
          <p:cNvPr id="38" name="Rectangle 37">
            <a:extLst>
              <a:ext uri="{FF2B5EF4-FFF2-40B4-BE49-F238E27FC236}">
                <a16:creationId xmlns:a16="http://schemas.microsoft.com/office/drawing/2014/main" id="{8C08ADF5-833E-46E4-9899-E6146464CA32}"/>
              </a:ext>
            </a:extLst>
          </p:cNvPr>
          <p:cNvSpPr>
            <a:spLocks noGrp="1"/>
          </p:cNvSpPr>
          <p:nvPr/>
        </p:nvSpPr>
        <p:spPr>
          <a:xfrm>
            <a:off x="552450" y="4991100"/>
            <a:ext cx="2095500" cy="266700"/>
          </a:xfrm>
          <a:prstGeom prst="rect">
            <a:avLst/>
          </a:prstGeom>
          <a:noFill/>
          <a:ln w="0">
            <a:noFill/>
            <a:prstDash val="solid"/>
          </a:ln>
        </p:spPr>
        <p:txBody>
          <a:bodyPr/>
          <a:lstStyle/>
          <a:p>
            <a:pPr algn="l">
              <a:defRPr sz="1350" b="0">
                <a:solidFill>
                  <a:srgbClr val="F4F4F2"/>
                </a:solidFill>
              </a:defRPr>
            </a:pPr>
            <a:r>
              <a:rPr sz="1350" b="0">
                <a:solidFill>
                  <a:srgbClr val="F4F4F2"/>
                </a:solidFill>
              </a:rPr>
              <a:t>Luna</a:t>
            </a:r>
          </a:p>
        </p:txBody>
      </p:sp>
      <p:sp>
        <p:nvSpPr>
          <p:cNvPr id="39" name="Rectangle 38">
            <a:extLst>
              <a:ext uri="{FF2B5EF4-FFF2-40B4-BE49-F238E27FC236}">
                <a16:creationId xmlns:a16="http://schemas.microsoft.com/office/drawing/2014/main" id="{784C2B80-D8BF-4934-A1A3-84EBBD203A3E}"/>
              </a:ext>
            </a:extLst>
          </p:cNvPr>
          <p:cNvSpPr>
            <a:spLocks noGrp="1"/>
          </p:cNvSpPr>
          <p:nvPr/>
        </p:nvSpPr>
        <p:spPr>
          <a:xfrm>
            <a:off x="2857500" y="4991100"/>
            <a:ext cx="1524000" cy="266700"/>
          </a:xfrm>
          <a:prstGeom prst="rect">
            <a:avLst/>
          </a:prstGeom>
          <a:noFill/>
          <a:ln w="0">
            <a:noFill/>
            <a:prstDash val="solid"/>
          </a:ln>
        </p:spPr>
        <p:txBody>
          <a:bodyPr/>
          <a:lstStyle/>
          <a:p>
            <a:pPr algn="r">
              <a:defRPr sz="1350" b="1">
                <a:solidFill>
                  <a:srgbClr val="F4F4F2"/>
                </a:solidFill>
              </a:defRPr>
            </a:pPr>
            <a:r>
              <a:rPr sz="1350" b="1">
                <a:solidFill>
                  <a:srgbClr val="F4F4F2"/>
                </a:solidFill>
              </a:rPr>
              <a:t>0.893</a:t>
            </a:r>
          </a:p>
        </p:txBody>
      </p:sp>
      <p:sp>
        <p:nvSpPr>
          <p:cNvPr id="40" name="Rectangle 39">
            <a:extLst>
              <a:ext uri="{FF2B5EF4-FFF2-40B4-BE49-F238E27FC236}">
                <a16:creationId xmlns:a16="http://schemas.microsoft.com/office/drawing/2014/main" id="{94D717DF-9BB2-4BC3-8684-3574DBC18F69}"/>
              </a:ext>
            </a:extLst>
          </p:cNvPr>
          <p:cNvSpPr>
            <a:spLocks noGrp="1"/>
          </p:cNvSpPr>
          <p:nvPr/>
        </p:nvSpPr>
        <p:spPr>
          <a:xfrm>
            <a:off x="4667250" y="4991100"/>
            <a:ext cx="1524000" cy="266700"/>
          </a:xfrm>
          <a:prstGeom prst="rect">
            <a:avLst/>
          </a:prstGeom>
          <a:noFill/>
          <a:ln w="0">
            <a:noFill/>
            <a:prstDash val="solid"/>
          </a:ln>
        </p:spPr>
        <p:txBody>
          <a:bodyPr/>
          <a:lstStyle/>
          <a:p>
            <a:pPr algn="r">
              <a:defRPr sz="1350" b="0">
                <a:solidFill>
                  <a:srgbClr val="F4F4F2"/>
                </a:solidFill>
              </a:defRPr>
            </a:pPr>
            <a:r>
              <a:rPr sz="1350" b="0">
                <a:solidFill>
                  <a:srgbClr val="F4F4F2"/>
                </a:solidFill>
              </a:rPr>
              <a:t>$0.0026</a:t>
            </a:r>
          </a:p>
        </p:txBody>
      </p:sp>
      <p:sp>
        <p:nvSpPr>
          <p:cNvPr id="41" name="Rectangle 40">
            <a:extLst>
              <a:ext uri="{FF2B5EF4-FFF2-40B4-BE49-F238E27FC236}">
                <a16:creationId xmlns:a16="http://schemas.microsoft.com/office/drawing/2014/main" id="{9ADC46EF-03F8-4B7D-8741-88F36DAB3B71}"/>
              </a:ext>
            </a:extLst>
          </p:cNvPr>
          <p:cNvSpPr>
            <a:spLocks noGrp="1"/>
          </p:cNvSpPr>
          <p:nvPr/>
        </p:nvSpPr>
        <p:spPr>
          <a:xfrm>
            <a:off x="6838950" y="4991100"/>
            <a:ext cx="1238250" cy="266700"/>
          </a:xfrm>
          <a:prstGeom prst="rect">
            <a:avLst/>
          </a:prstGeom>
          <a:noFill/>
          <a:ln w="0">
            <a:noFill/>
            <a:prstDash val="solid"/>
          </a:ln>
        </p:spPr>
        <p:txBody>
          <a:bodyPr/>
          <a:lstStyle/>
          <a:p>
            <a:pPr algn="l">
              <a:defRPr sz="1050" b="1">
                <a:solidFill>
                  <a:srgbClr val="9B9B96"/>
                </a:solidFill>
              </a:defRPr>
            </a:pPr>
            <a:r>
              <a:rPr sz="1050" b="1">
                <a:solidFill>
                  <a:srgbClr val="9B9B96"/>
                </a:solidFill>
              </a:rPr>
              <a:t>below ε</a:t>
            </a:r>
          </a:p>
        </p:txBody>
      </p:sp>
      <p:sp>
        <p:nvSpPr>
          <p:cNvPr id="42" name="Straight Connector 41">
            <a:extLst>
              <a:ext uri="{FF2B5EF4-FFF2-40B4-BE49-F238E27FC236}">
                <a16:creationId xmlns:a16="http://schemas.microsoft.com/office/drawing/2014/main" id="{6DC894C6-809B-44DA-A84E-EB79777C7EFD}"/>
              </a:ext>
            </a:extLst>
          </p:cNvPr>
          <p:cNvSpPr>
            <a:spLocks noGrp="1"/>
          </p:cNvSpPr>
          <p:nvPr/>
        </p:nvSpPr>
        <p:spPr>
          <a:xfrm>
            <a:off x="552450" y="5353050"/>
            <a:ext cx="7524750" cy="0"/>
          </a:xfrm>
          <a:prstGeom prst="line">
            <a:avLst/>
          </a:prstGeom>
          <a:noFill/>
          <a:ln w="9525">
            <a:solidFill>
              <a:srgbClr val="2B2B29"/>
            </a:solidFill>
            <a:prstDash val="solid"/>
          </a:ln>
        </p:spPr>
        <p:txBody>
          <a:bodyPr/>
          <a:lstStyle/>
          <a:p>
            <a:endParaRPr lang="en-DE"/>
          </a:p>
        </p:txBody>
      </p:sp>
      <p:sp>
        <p:nvSpPr>
          <p:cNvPr id="43" name="Rounded Rectangle 42">
            <a:extLst>
              <a:ext uri="{FF2B5EF4-FFF2-40B4-BE49-F238E27FC236}">
                <a16:creationId xmlns:a16="http://schemas.microsoft.com/office/drawing/2014/main" id="{657CD24E-5D8F-4C63-8145-DF6FC713B4E3}"/>
              </a:ext>
            </a:extLst>
          </p:cNvPr>
          <p:cNvSpPr>
            <a:spLocks noGrp="1"/>
          </p:cNvSpPr>
          <p:nvPr/>
        </p:nvSpPr>
        <p:spPr>
          <a:xfrm>
            <a:off x="8572500" y="2133600"/>
            <a:ext cx="3067050" cy="2857500"/>
          </a:xfrm>
          <a:prstGeom prst="roundRect">
            <a:avLst>
              <a:gd name="adj" fmla="val 2667"/>
            </a:avLst>
          </a:prstGeom>
          <a:solidFill>
            <a:srgbClr val="101010"/>
          </a:solidFill>
          <a:ln w="9525">
            <a:solidFill>
              <a:srgbClr val="2B2B29"/>
            </a:solidFill>
            <a:prstDash val="solid"/>
          </a:ln>
        </p:spPr>
        <p:txBody>
          <a:bodyPr/>
          <a:lstStyle/>
          <a:p>
            <a:endParaRPr lang="en-DE"/>
          </a:p>
        </p:txBody>
      </p:sp>
      <p:sp>
        <p:nvSpPr>
          <p:cNvPr id="44" name="Rectangle 43">
            <a:extLst>
              <a:ext uri="{FF2B5EF4-FFF2-40B4-BE49-F238E27FC236}">
                <a16:creationId xmlns:a16="http://schemas.microsoft.com/office/drawing/2014/main" id="{AE194F60-E1F4-4EFF-BC89-52710C4A9274}"/>
              </a:ext>
            </a:extLst>
          </p:cNvPr>
          <p:cNvSpPr>
            <a:spLocks noGrp="1"/>
          </p:cNvSpPr>
          <p:nvPr/>
        </p:nvSpPr>
        <p:spPr>
          <a:xfrm>
            <a:off x="8820150" y="2343150"/>
            <a:ext cx="1619250" cy="228600"/>
          </a:xfrm>
          <a:prstGeom prst="rect">
            <a:avLst/>
          </a:prstGeom>
          <a:noFill/>
          <a:ln w="0">
            <a:noFill/>
            <a:prstDash val="solid"/>
          </a:ln>
        </p:spPr>
        <p:txBody>
          <a:bodyPr/>
          <a:lstStyle/>
          <a:p>
            <a:pPr algn="l">
              <a:defRPr sz="975" b="1">
                <a:solidFill>
                  <a:srgbClr val="9B9B96"/>
                </a:solidFill>
              </a:defRPr>
            </a:pPr>
            <a:r>
              <a:rPr sz="975" b="1">
                <a:solidFill>
                  <a:srgbClr val="9B9B96"/>
                </a:solidFill>
              </a:rPr>
              <a:t>DECISION</a:t>
            </a:r>
          </a:p>
        </p:txBody>
      </p:sp>
      <p:sp>
        <p:nvSpPr>
          <p:cNvPr id="45" name="Rectangle 44">
            <a:extLst>
              <a:ext uri="{FF2B5EF4-FFF2-40B4-BE49-F238E27FC236}">
                <a16:creationId xmlns:a16="http://schemas.microsoft.com/office/drawing/2014/main" id="{93F4D62B-80C7-4B15-94B5-E3046F8B21F5}"/>
              </a:ext>
            </a:extLst>
          </p:cNvPr>
          <p:cNvSpPr>
            <a:spLocks noGrp="1"/>
          </p:cNvSpPr>
          <p:nvPr/>
        </p:nvSpPr>
        <p:spPr>
          <a:xfrm>
            <a:off x="8820150" y="2781300"/>
            <a:ext cx="2381250" cy="952500"/>
          </a:xfrm>
          <a:prstGeom prst="rect">
            <a:avLst/>
          </a:prstGeom>
          <a:noFill/>
          <a:ln w="0">
            <a:noFill/>
            <a:prstDash val="solid"/>
          </a:ln>
        </p:spPr>
        <p:txBody>
          <a:bodyPr/>
          <a:lstStyle/>
          <a:p>
            <a:pPr algn="l">
              <a:defRPr sz="3000" b="1">
                <a:solidFill>
                  <a:srgbClr val="F4F4F2"/>
                </a:solidFill>
              </a:defRPr>
            </a:pPr>
            <a:r>
              <a:rPr sz="3000" b="1">
                <a:solidFill>
                  <a:srgbClr val="F4F4F2"/>
                </a:solidFill>
              </a:rPr>
              <a:t>Opus →</a:t>
            </a:r>
          </a:p>
          <a:p>
            <a:pPr algn="l">
              <a:defRPr sz="3000" b="1">
                <a:solidFill>
                  <a:srgbClr val="F4F4F2"/>
                </a:solidFill>
              </a:defRPr>
            </a:pPr>
            <a:r>
              <a:rPr sz="3000" b="1">
                <a:solidFill>
                  <a:srgbClr val="F4F4F2"/>
                </a:solidFill>
              </a:rPr>
              <a:t>Sonnet</a:t>
            </a:r>
          </a:p>
        </p:txBody>
      </p:sp>
      <p:sp>
        <p:nvSpPr>
          <p:cNvPr id="46" name="Rectangle 45">
            <a:extLst>
              <a:ext uri="{FF2B5EF4-FFF2-40B4-BE49-F238E27FC236}">
                <a16:creationId xmlns:a16="http://schemas.microsoft.com/office/drawing/2014/main" id="{DC4F061D-1541-4E6E-BA1A-492D503D8662}"/>
              </a:ext>
            </a:extLst>
          </p:cNvPr>
          <p:cNvSpPr>
            <a:spLocks noGrp="1"/>
          </p:cNvSpPr>
          <p:nvPr/>
        </p:nvSpPr>
        <p:spPr>
          <a:xfrm>
            <a:off x="8820150" y="3905250"/>
            <a:ext cx="2095500" cy="457200"/>
          </a:xfrm>
          <a:prstGeom prst="rect">
            <a:avLst/>
          </a:prstGeom>
          <a:noFill/>
          <a:ln w="0">
            <a:noFill/>
            <a:prstDash val="solid"/>
          </a:ln>
        </p:spPr>
        <p:txBody>
          <a:bodyPr/>
          <a:lstStyle/>
          <a:p>
            <a:pPr algn="l">
              <a:defRPr sz="2550" b="1">
                <a:solidFill>
                  <a:srgbClr val="F4F4F2"/>
                </a:solidFill>
              </a:defRPr>
            </a:pPr>
            <a:r>
              <a:rPr sz="2550" b="1">
                <a:solidFill>
                  <a:srgbClr val="F4F4F2"/>
                </a:solidFill>
              </a:rPr>
              <a:t>−60.0%</a:t>
            </a:r>
          </a:p>
        </p:txBody>
      </p:sp>
      <p:sp>
        <p:nvSpPr>
          <p:cNvPr id="47" name="Rectangle 46">
            <a:extLst>
              <a:ext uri="{FF2B5EF4-FFF2-40B4-BE49-F238E27FC236}">
                <a16:creationId xmlns:a16="http://schemas.microsoft.com/office/drawing/2014/main" id="{FAD07E2D-8E76-48B4-B006-0C95E5DA2E50}"/>
              </a:ext>
            </a:extLst>
          </p:cNvPr>
          <p:cNvSpPr>
            <a:spLocks noGrp="1"/>
          </p:cNvSpPr>
          <p:nvPr/>
        </p:nvSpPr>
        <p:spPr>
          <a:xfrm>
            <a:off x="8820150" y="4362450"/>
            <a:ext cx="2286000" cy="266700"/>
          </a:xfrm>
          <a:prstGeom prst="rect">
            <a:avLst/>
          </a:prstGeom>
          <a:noFill/>
          <a:ln w="0">
            <a:noFill/>
            <a:prstDash val="solid"/>
          </a:ln>
        </p:spPr>
        <p:txBody>
          <a:bodyPr/>
          <a:lstStyle/>
          <a:p>
            <a:pPr algn="l">
              <a:defRPr sz="1200" b="0">
                <a:solidFill>
                  <a:srgbClr val="9B9B96"/>
                </a:solidFill>
              </a:defRPr>
            </a:pPr>
            <a:r>
              <a:rPr sz="1200" b="0">
                <a:solidFill>
                  <a:srgbClr val="9B9B96"/>
                </a:solidFill>
              </a:rPr>
              <a:t>assumed input cost</a:t>
            </a:r>
          </a:p>
        </p:txBody>
      </p:sp>
      <p:sp>
        <p:nvSpPr>
          <p:cNvPr id="48" name="Rectangle 47">
            <a:extLst>
              <a:ext uri="{FF2B5EF4-FFF2-40B4-BE49-F238E27FC236}">
                <a16:creationId xmlns:a16="http://schemas.microsoft.com/office/drawing/2014/main" id="{7F809181-80F4-484B-8D9C-2AD8CBAFC507}"/>
              </a:ext>
            </a:extLst>
          </p:cNvPr>
          <p:cNvSpPr>
            <a:spLocks noGrp="1"/>
          </p:cNvSpPr>
          <p:nvPr/>
        </p:nvSpPr>
        <p:spPr>
          <a:xfrm>
            <a:off x="8572500" y="5219700"/>
            <a:ext cx="3067050" cy="857250"/>
          </a:xfrm>
          <a:prstGeom prst="rect">
            <a:avLst/>
          </a:prstGeom>
          <a:noFill/>
          <a:ln w="0">
            <a:noFill/>
            <a:prstDash val="solid"/>
          </a:ln>
        </p:spPr>
        <p:txBody>
          <a:bodyPr/>
          <a:lstStyle/>
          <a:p>
            <a:pPr algn="l">
              <a:defRPr sz="1275" b="0">
                <a:solidFill>
                  <a:srgbClr val="D6D6D2"/>
                </a:solidFill>
              </a:defRPr>
            </a:pPr>
            <a:r>
              <a:rPr sz="1275" b="0">
                <a:solidFill>
                  <a:srgbClr val="D6D6D2"/>
                </a:solidFill>
              </a:rPr>
              <a:t>Best quality = 0.949</a:t>
            </a:r>
          </a:p>
          <a:p>
            <a:pPr algn="l">
              <a:defRPr sz="1275" b="0">
                <a:solidFill>
                  <a:srgbClr val="D6D6D2"/>
                </a:solidFill>
              </a:defRPr>
            </a:pPr>
            <a:r>
              <a:rPr sz="1275" b="0">
                <a:solidFill>
                  <a:srgbClr val="D6D6D2"/>
                </a:solidFill>
              </a:rPr>
              <a:t>ε = 0.025 → floor = 0.924</a:t>
            </a:r>
          </a:p>
          <a:p>
            <a:pPr algn="l">
              <a:defRPr sz="1275" b="0">
                <a:solidFill>
                  <a:srgbClr val="D6D6D2"/>
                </a:solidFill>
              </a:defRPr>
            </a:pPr>
            <a:r>
              <a:rPr sz="1275" b="0">
                <a:solidFill>
                  <a:srgbClr val="D6D6D2"/>
                </a:solidFill>
              </a:rPr>
              <a:t>Sonnet = 0.929 → eligible</a:t>
            </a:r>
          </a:p>
        </p:txBody>
      </p:sp>
    </p:spTree>
    <p:extLst>
      <p:ext uri="{BB962C8B-B14F-4D97-AF65-F5344CB8AC3E}">
        <p14:creationId xmlns:p14="http://schemas.microsoft.com/office/powerpoint/2010/main" val="675243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4F2"/>
        </a:solidFill>
        <a:effectLst/>
      </p:bgPr>
    </p:bg>
    <p:spTree>
      <p:nvGrpSpPr>
        <p:cNvPr id="1" name=""/>
        <p:cNvGrpSpPr/>
        <p:nvPr/>
      </p:nvGrpSpPr>
      <p:grpSpPr>
        <a:xfrm>
          <a:off x="0" y="0"/>
          <a:ext cx="0" cy="0"/>
          <a:chOff x="0" y="0"/>
          <a:chExt cx="0" cy="0"/>
        </a:xfrm>
      </p:grpSpPr>
      <p:sp>
        <p:nvSpPr>
          <p:cNvPr id="21" name="page-10">
            <a:extLst>
              <a:ext uri="{FF2B5EF4-FFF2-40B4-BE49-F238E27FC236}">
                <a16:creationId xmlns:a16="http://schemas.microsoft.com/office/drawing/2014/main" id="{DB3CE503-A15E-439C-B29F-1A9EC053FE92}"/>
              </a:ext>
            </a:extLst>
          </p:cNvPr>
          <p:cNvSpPr>
            <a:spLocks noGrp="1"/>
          </p:cNvSpPr>
          <p:nvPr/>
        </p:nvSpPr>
        <p:spPr>
          <a:xfrm>
            <a:off x="514350" y="285750"/>
            <a:ext cx="400050" cy="209550"/>
          </a:xfrm>
          <a:prstGeom prst="rect">
            <a:avLst/>
          </a:prstGeom>
          <a:noFill/>
          <a:ln w="0">
            <a:noFill/>
            <a:prstDash val="solid"/>
          </a:ln>
        </p:spPr>
        <p:txBody>
          <a:bodyPr/>
          <a:lstStyle/>
          <a:p>
            <a:pPr algn="l">
              <a:defRPr sz="900" b="1">
                <a:solidFill>
                  <a:srgbClr val="555552"/>
                </a:solidFill>
              </a:defRPr>
            </a:pPr>
            <a:r>
              <a:rPr sz="900" b="1">
                <a:solidFill>
                  <a:srgbClr val="555552"/>
                </a:solidFill>
              </a:rPr>
              <a:t>10</a:t>
            </a:r>
          </a:p>
        </p:txBody>
      </p:sp>
      <p:sp>
        <p:nvSpPr>
          <p:cNvPr id="2" name="Straight Connector 1">
            <a:extLst>
              <a:ext uri="{FF2B5EF4-FFF2-40B4-BE49-F238E27FC236}">
                <a16:creationId xmlns:a16="http://schemas.microsoft.com/office/drawing/2014/main" id="{82DCABDC-1042-4D54-A8A9-DDC56FB9180C}"/>
              </a:ext>
            </a:extLst>
          </p:cNvPr>
          <p:cNvSpPr>
            <a:spLocks noGrp="1"/>
          </p:cNvSpPr>
          <p:nvPr/>
        </p:nvSpPr>
        <p:spPr>
          <a:xfrm>
            <a:off x="1009650" y="381000"/>
            <a:ext cx="476250" cy="0"/>
          </a:xfrm>
          <a:prstGeom prst="line">
            <a:avLst/>
          </a:prstGeom>
          <a:noFill/>
          <a:ln w="19050">
            <a:solidFill>
              <a:srgbClr val="555552"/>
            </a:solidFill>
            <a:prstDash val="solid"/>
          </a:ln>
        </p:spPr>
        <p:txBody>
          <a:bodyPr/>
          <a:lstStyle/>
          <a:p>
            <a:endParaRPr lang="en-DE"/>
          </a:p>
        </p:txBody>
      </p:sp>
      <p:sp>
        <p:nvSpPr>
          <p:cNvPr id="3" name="section-10">
            <a:extLst>
              <a:ext uri="{FF2B5EF4-FFF2-40B4-BE49-F238E27FC236}">
                <a16:creationId xmlns:a16="http://schemas.microsoft.com/office/drawing/2014/main" id="{143D65CA-B30B-489A-A8DF-F80A21B61A38}"/>
              </a:ext>
            </a:extLst>
          </p:cNvPr>
          <p:cNvSpPr>
            <a:spLocks noGrp="1"/>
          </p:cNvSpPr>
          <p:nvPr/>
        </p:nvSpPr>
        <p:spPr>
          <a:xfrm>
            <a:off x="1676400" y="285750"/>
            <a:ext cx="4000500" cy="228600"/>
          </a:xfrm>
          <a:prstGeom prst="rect">
            <a:avLst/>
          </a:prstGeom>
          <a:noFill/>
          <a:ln w="0">
            <a:noFill/>
            <a:prstDash val="solid"/>
          </a:ln>
        </p:spPr>
        <p:txBody>
          <a:bodyPr/>
          <a:lstStyle/>
          <a:p>
            <a:pPr algn="l">
              <a:defRPr sz="900" b="1">
                <a:solidFill>
                  <a:srgbClr val="555552"/>
                </a:solidFill>
              </a:defRPr>
            </a:pPr>
            <a:r>
              <a:rPr sz="900" b="1">
                <a:solidFill>
                  <a:srgbClr val="555552"/>
                </a:solidFill>
              </a:rPr>
              <a:t>PROTOTYPE FRONTIER</a:t>
            </a:r>
          </a:p>
        </p:txBody>
      </p:sp>
      <p:sp>
        <p:nvSpPr>
          <p:cNvPr id="4" name="Straight Connector 3">
            <a:extLst>
              <a:ext uri="{FF2B5EF4-FFF2-40B4-BE49-F238E27FC236}">
                <a16:creationId xmlns:a16="http://schemas.microsoft.com/office/drawing/2014/main" id="{A2056DE0-75B7-4F24-B832-B85EBFBF1F1C}"/>
              </a:ext>
            </a:extLst>
          </p:cNvPr>
          <p:cNvSpPr>
            <a:spLocks noGrp="1"/>
          </p:cNvSpPr>
          <p:nvPr/>
        </p:nvSpPr>
        <p:spPr>
          <a:xfrm>
            <a:off x="514350" y="6496050"/>
            <a:ext cx="11163300" cy="0"/>
          </a:xfrm>
          <a:prstGeom prst="line">
            <a:avLst/>
          </a:prstGeom>
          <a:noFill/>
          <a:ln w="9525">
            <a:solidFill>
              <a:srgbClr val="BEBEB8"/>
            </a:solidFill>
            <a:prstDash val="solid"/>
          </a:ln>
        </p:spPr>
        <p:txBody>
          <a:bodyPr/>
          <a:lstStyle/>
          <a:p>
            <a:endParaRPr lang="en-DE"/>
          </a:p>
        </p:txBody>
      </p:sp>
      <p:sp>
        <p:nvSpPr>
          <p:cNvPr id="5" name="Rectangle 4">
            <a:extLst>
              <a:ext uri="{FF2B5EF4-FFF2-40B4-BE49-F238E27FC236}">
                <a16:creationId xmlns:a16="http://schemas.microsoft.com/office/drawing/2014/main" id="{615F796C-878F-4BBB-A3C4-B3C3BF9F3327}"/>
              </a:ext>
            </a:extLst>
          </p:cNvPr>
          <p:cNvSpPr>
            <a:spLocks noGrp="1"/>
          </p:cNvSpPr>
          <p:nvPr/>
        </p:nvSpPr>
        <p:spPr>
          <a:xfrm>
            <a:off x="514350" y="6572250"/>
            <a:ext cx="3619500" cy="171450"/>
          </a:xfrm>
          <a:prstGeom prst="rect">
            <a:avLst/>
          </a:prstGeom>
          <a:noFill/>
          <a:ln w="0">
            <a:noFill/>
            <a:prstDash val="solid"/>
          </a:ln>
        </p:spPr>
        <p:txBody>
          <a:bodyPr/>
          <a:lstStyle/>
          <a:p>
            <a:pPr algn="l">
              <a:defRPr sz="750" b="1">
                <a:solidFill>
                  <a:srgbClr val="555552"/>
                </a:solidFill>
              </a:defRPr>
            </a:pPr>
            <a:r>
              <a:rPr sz="750" b="1">
                <a:solidFill>
                  <a:srgbClr val="555552"/>
                </a:solidFill>
              </a:rPr>
              <a:t>VIKTOR ROUTER / TUM.AI 2026</a:t>
            </a:r>
          </a:p>
        </p:txBody>
      </p:sp>
      <p:sp>
        <p:nvSpPr>
          <p:cNvPr id="6" name="Rectangle 5">
            <a:extLst>
              <a:ext uri="{FF2B5EF4-FFF2-40B4-BE49-F238E27FC236}">
                <a16:creationId xmlns:a16="http://schemas.microsoft.com/office/drawing/2014/main" id="{3B7A5ADC-21E3-4895-8345-14B4BBBF3C65}"/>
              </a:ext>
            </a:extLst>
          </p:cNvPr>
          <p:cNvSpPr>
            <a:spLocks noGrp="1"/>
          </p:cNvSpPr>
          <p:nvPr/>
        </p:nvSpPr>
        <p:spPr>
          <a:xfrm>
            <a:off x="10191750" y="6572250"/>
            <a:ext cx="1485900" cy="171450"/>
          </a:xfrm>
          <a:prstGeom prst="rect">
            <a:avLst/>
          </a:prstGeom>
          <a:noFill/>
          <a:ln w="0">
            <a:noFill/>
            <a:prstDash val="solid"/>
          </a:ln>
        </p:spPr>
        <p:txBody>
          <a:bodyPr/>
          <a:lstStyle/>
          <a:p>
            <a:pPr algn="r">
              <a:defRPr sz="750" b="1">
                <a:solidFill>
                  <a:srgbClr val="555552"/>
                </a:solidFill>
              </a:defRPr>
            </a:pPr>
            <a:r>
              <a:rPr sz="750" b="1">
                <a:solidFill>
                  <a:srgbClr val="555552"/>
                </a:solidFill>
              </a:rPr>
              <a:t>10 / 14</a:t>
            </a:r>
          </a:p>
        </p:txBody>
      </p:sp>
      <p:sp>
        <p:nvSpPr>
          <p:cNvPr id="7" name="slide-title">
            <a:extLst>
              <a:ext uri="{FF2B5EF4-FFF2-40B4-BE49-F238E27FC236}">
                <a16:creationId xmlns:a16="http://schemas.microsoft.com/office/drawing/2014/main" id="{04D38084-B6C4-484B-A84F-B45E52AF0C08}"/>
              </a:ext>
            </a:extLst>
          </p:cNvPr>
          <p:cNvSpPr>
            <a:spLocks noGrp="1"/>
          </p:cNvSpPr>
          <p:nvPr/>
        </p:nvSpPr>
        <p:spPr>
          <a:xfrm>
            <a:off x="514350" y="704850"/>
            <a:ext cx="11163300" cy="685800"/>
          </a:xfrm>
          <a:prstGeom prst="rect">
            <a:avLst/>
          </a:prstGeom>
          <a:noFill/>
          <a:ln w="0">
            <a:noFill/>
            <a:prstDash val="solid"/>
          </a:ln>
        </p:spPr>
        <p:txBody>
          <a:bodyPr/>
          <a:lstStyle/>
          <a:p>
            <a:pPr algn="l">
              <a:defRPr sz="3000" b="1">
                <a:solidFill>
                  <a:srgbClr val="0B0B0B"/>
                </a:solidFill>
              </a:defRPr>
            </a:pPr>
            <a:r>
              <a:rPr sz="3000" b="1">
                <a:solidFill>
                  <a:srgbClr val="0B0B0B"/>
                </a:solidFill>
              </a:rPr>
              <a:t>The first sweep established the cost–quality trade-off.</a:t>
            </a:r>
          </a:p>
        </p:txBody>
      </p:sp>
      <p:sp>
        <p:nvSpPr>
          <p:cNvPr id="8" name="slide-subtitle">
            <a:extLst>
              <a:ext uri="{FF2B5EF4-FFF2-40B4-BE49-F238E27FC236}">
                <a16:creationId xmlns:a16="http://schemas.microsoft.com/office/drawing/2014/main" id="{FF8BB123-7CED-4FF1-92BE-B38F42E14E79}"/>
              </a:ext>
            </a:extLst>
          </p:cNvPr>
          <p:cNvSpPr>
            <a:spLocks noGrp="1"/>
          </p:cNvSpPr>
          <p:nvPr/>
        </p:nvSpPr>
        <p:spPr>
          <a:xfrm>
            <a:off x="533400" y="1371600"/>
            <a:ext cx="10668000" cy="342900"/>
          </a:xfrm>
          <a:prstGeom prst="rect">
            <a:avLst/>
          </a:prstGeom>
          <a:noFill/>
          <a:ln w="0">
            <a:noFill/>
            <a:prstDash val="solid"/>
          </a:ln>
        </p:spPr>
        <p:txBody>
          <a:bodyPr/>
          <a:lstStyle/>
          <a:p>
            <a:pPr algn="l">
              <a:defRPr sz="1350" b="0">
                <a:solidFill>
                  <a:srgbClr val="555552"/>
                </a:solidFill>
              </a:defRPr>
            </a:pPr>
            <a:r>
              <a:rPr sz="1350" b="0">
                <a:solidFill>
                  <a:srgbClr val="555552"/>
                </a:solidFill>
              </a:rPr>
              <a:t>Earlier test split · n=174 · deterministic complexity and quality mapping.</a:t>
            </a:r>
          </a:p>
        </p:txBody>
      </p:sp>
      <p:graphicFrame>
        <p:nvGraphicFramePr>
          <p:cNvPr id="29" name="Chart"/>
          <p:cNvGraphicFramePr/>
          <p:nvPr/>
        </p:nvGraphicFramePr>
        <p:xfrm>
          <a:off x="514350" y="1866900"/>
          <a:ext cx="7962900" cy="3943350"/>
        </p:xfrm>
        <a:graphic>
          <a:graphicData uri="http://schemas.openxmlformats.org/drawingml/2006/chart">
            <c:chart xmlns:c="http://schemas.openxmlformats.org/drawingml/2006/chart" xmlns:r="http://schemas.openxmlformats.org/officeDocument/2006/relationships" r:id="rId3"/>
          </a:graphicData>
        </a:graphic>
      </p:graphicFrame>
      <p:sp>
        <p:nvSpPr>
          <p:cNvPr id="10" name="Rectangle 9">
            <a:extLst>
              <a:ext uri="{FF2B5EF4-FFF2-40B4-BE49-F238E27FC236}">
                <a16:creationId xmlns:a16="http://schemas.microsoft.com/office/drawing/2014/main" id="{47F0EAE2-ED72-494D-B108-7090790F893B}"/>
              </a:ext>
            </a:extLst>
          </p:cNvPr>
          <p:cNvSpPr>
            <a:spLocks noGrp="1"/>
          </p:cNvSpPr>
          <p:nvPr/>
        </p:nvSpPr>
        <p:spPr>
          <a:xfrm>
            <a:off x="666750" y="5638800"/>
            <a:ext cx="2000250" cy="190500"/>
          </a:xfrm>
          <a:prstGeom prst="rect">
            <a:avLst/>
          </a:prstGeom>
          <a:noFill/>
          <a:ln w="0">
            <a:noFill/>
            <a:prstDash val="solid"/>
          </a:ln>
        </p:spPr>
        <p:txBody>
          <a:bodyPr/>
          <a:lstStyle/>
          <a:p>
            <a:pPr algn="l">
              <a:defRPr sz="900" b="1">
                <a:solidFill>
                  <a:srgbClr val="555552"/>
                </a:solidFill>
              </a:defRPr>
            </a:pPr>
            <a:r>
              <a:rPr sz="900" b="1">
                <a:solidFill>
                  <a:srgbClr val="555552"/>
                </a:solidFill>
              </a:rPr>
              <a:t>ε=.050 MAX SAVINGS</a:t>
            </a:r>
          </a:p>
        </p:txBody>
      </p:sp>
      <p:sp>
        <p:nvSpPr>
          <p:cNvPr id="11" name="Rectangle 10">
            <a:extLst>
              <a:ext uri="{FF2B5EF4-FFF2-40B4-BE49-F238E27FC236}">
                <a16:creationId xmlns:a16="http://schemas.microsoft.com/office/drawing/2014/main" id="{097D5AF0-6F47-4F34-B60A-83F4E5968D21}"/>
              </a:ext>
            </a:extLst>
          </p:cNvPr>
          <p:cNvSpPr>
            <a:spLocks noGrp="1"/>
          </p:cNvSpPr>
          <p:nvPr/>
        </p:nvSpPr>
        <p:spPr>
          <a:xfrm>
            <a:off x="6238875" y="1866900"/>
            <a:ext cx="1809750" cy="190500"/>
          </a:xfrm>
          <a:prstGeom prst="rect">
            <a:avLst/>
          </a:prstGeom>
          <a:noFill/>
          <a:ln w="0">
            <a:noFill/>
            <a:prstDash val="solid"/>
          </a:ln>
        </p:spPr>
        <p:txBody>
          <a:bodyPr/>
          <a:lstStyle/>
          <a:p>
            <a:pPr algn="r">
              <a:defRPr sz="900" b="1">
                <a:solidFill>
                  <a:srgbClr val="0B0B0B"/>
                </a:solidFill>
              </a:defRPr>
            </a:pPr>
            <a:r>
              <a:rPr sz="900" b="1">
                <a:solidFill>
                  <a:srgbClr val="0B0B0B"/>
                </a:solidFill>
              </a:rPr>
              <a:t>ε=.005 SELECTED</a:t>
            </a:r>
          </a:p>
        </p:txBody>
      </p:sp>
      <p:sp>
        <p:nvSpPr>
          <p:cNvPr id="12" name="Rounded Rectangle 11">
            <a:extLst>
              <a:ext uri="{FF2B5EF4-FFF2-40B4-BE49-F238E27FC236}">
                <a16:creationId xmlns:a16="http://schemas.microsoft.com/office/drawing/2014/main" id="{59FF2988-7886-4DC9-933D-8635F3B21F2F}"/>
              </a:ext>
            </a:extLst>
          </p:cNvPr>
          <p:cNvSpPr>
            <a:spLocks noGrp="1"/>
          </p:cNvSpPr>
          <p:nvPr/>
        </p:nvSpPr>
        <p:spPr>
          <a:xfrm>
            <a:off x="8763000" y="2000250"/>
            <a:ext cx="2876550" cy="3810000"/>
          </a:xfrm>
          <a:prstGeom prst="roundRect">
            <a:avLst>
              <a:gd name="adj" fmla="val 1987"/>
            </a:avLst>
          </a:prstGeom>
          <a:solidFill>
            <a:srgbClr val="0B0B0B"/>
          </a:solidFill>
          <a:ln w="9525">
            <a:solidFill>
              <a:srgbClr val="0B0B0B"/>
            </a:solidFill>
            <a:prstDash val="solid"/>
          </a:ln>
        </p:spPr>
        <p:txBody>
          <a:bodyPr/>
          <a:lstStyle/>
          <a:p>
            <a:endParaRPr lang="en-DE"/>
          </a:p>
        </p:txBody>
      </p:sp>
      <p:sp>
        <p:nvSpPr>
          <p:cNvPr id="13" name="Rectangle 12">
            <a:extLst>
              <a:ext uri="{FF2B5EF4-FFF2-40B4-BE49-F238E27FC236}">
                <a16:creationId xmlns:a16="http://schemas.microsoft.com/office/drawing/2014/main" id="{589B9AC9-8D87-44BE-A84F-E244C1414D27}"/>
              </a:ext>
            </a:extLst>
          </p:cNvPr>
          <p:cNvSpPr>
            <a:spLocks noGrp="1"/>
          </p:cNvSpPr>
          <p:nvPr/>
        </p:nvSpPr>
        <p:spPr>
          <a:xfrm>
            <a:off x="9010650" y="2247900"/>
            <a:ext cx="2095500" cy="228600"/>
          </a:xfrm>
          <a:prstGeom prst="rect">
            <a:avLst/>
          </a:prstGeom>
          <a:noFill/>
          <a:ln w="0">
            <a:noFill/>
            <a:prstDash val="solid"/>
          </a:ln>
        </p:spPr>
        <p:txBody>
          <a:bodyPr/>
          <a:lstStyle/>
          <a:p>
            <a:pPr algn="l">
              <a:defRPr sz="975" b="1">
                <a:solidFill>
                  <a:srgbClr val="9B9B96"/>
                </a:solidFill>
              </a:defRPr>
            </a:pPr>
            <a:r>
              <a:rPr sz="975" b="1">
                <a:solidFill>
                  <a:srgbClr val="9B9B96"/>
                </a:solidFill>
              </a:rPr>
              <a:t>ITERATION 1</a:t>
            </a:r>
          </a:p>
        </p:txBody>
      </p:sp>
      <p:sp>
        <p:nvSpPr>
          <p:cNvPr id="14" name="Rectangle 13">
            <a:extLst>
              <a:ext uri="{FF2B5EF4-FFF2-40B4-BE49-F238E27FC236}">
                <a16:creationId xmlns:a16="http://schemas.microsoft.com/office/drawing/2014/main" id="{57A01641-1018-41C5-9A28-BAD4B8D08253}"/>
              </a:ext>
            </a:extLst>
          </p:cNvPr>
          <p:cNvSpPr>
            <a:spLocks noGrp="1"/>
          </p:cNvSpPr>
          <p:nvPr/>
        </p:nvSpPr>
        <p:spPr>
          <a:xfrm>
            <a:off x="9010650" y="2628900"/>
            <a:ext cx="2247900" cy="495300"/>
          </a:xfrm>
          <a:prstGeom prst="rect">
            <a:avLst/>
          </a:prstGeom>
          <a:noFill/>
          <a:ln w="0">
            <a:noFill/>
            <a:prstDash val="solid"/>
          </a:ln>
        </p:spPr>
        <p:txBody>
          <a:bodyPr/>
          <a:lstStyle/>
          <a:p>
            <a:pPr algn="l">
              <a:defRPr sz="3000" b="1">
                <a:solidFill>
                  <a:srgbClr val="F4F4F2"/>
                </a:solidFill>
              </a:defRPr>
            </a:pPr>
            <a:r>
              <a:rPr sz="3000" b="1">
                <a:solidFill>
                  <a:srgbClr val="F4F4F2"/>
                </a:solidFill>
              </a:rPr>
              <a:t>ε=.005</a:t>
            </a:r>
          </a:p>
        </p:txBody>
      </p:sp>
      <p:sp>
        <p:nvSpPr>
          <p:cNvPr id="15" name="Rectangle 14">
            <a:extLst>
              <a:ext uri="{FF2B5EF4-FFF2-40B4-BE49-F238E27FC236}">
                <a16:creationId xmlns:a16="http://schemas.microsoft.com/office/drawing/2014/main" id="{7ACA3973-1B9A-4C69-A14A-7F036BDA174C}"/>
              </a:ext>
            </a:extLst>
          </p:cNvPr>
          <p:cNvSpPr>
            <a:spLocks noGrp="1"/>
          </p:cNvSpPr>
          <p:nvPr/>
        </p:nvSpPr>
        <p:spPr>
          <a:xfrm>
            <a:off x="9010650" y="3124200"/>
            <a:ext cx="2286000" cy="400050"/>
          </a:xfrm>
          <a:prstGeom prst="rect">
            <a:avLst/>
          </a:prstGeom>
          <a:noFill/>
          <a:ln w="0">
            <a:noFill/>
            <a:prstDash val="solid"/>
          </a:ln>
        </p:spPr>
        <p:txBody>
          <a:bodyPr/>
          <a:lstStyle/>
          <a:p>
            <a:pPr algn="l">
              <a:defRPr sz="1200" b="0">
                <a:solidFill>
                  <a:srgbClr val="D6D6D2"/>
                </a:solidFill>
              </a:defRPr>
            </a:pPr>
            <a:r>
              <a:rPr sz="1200" b="0">
                <a:solidFill>
                  <a:srgbClr val="D6D6D2"/>
                </a:solidFill>
              </a:rPr>
              <a:t>selected on the prototype split</a:t>
            </a:r>
          </a:p>
        </p:txBody>
      </p:sp>
      <p:sp>
        <p:nvSpPr>
          <p:cNvPr id="16" name="Straight Connector 15">
            <a:extLst>
              <a:ext uri="{FF2B5EF4-FFF2-40B4-BE49-F238E27FC236}">
                <a16:creationId xmlns:a16="http://schemas.microsoft.com/office/drawing/2014/main" id="{72DEDC5E-9C1E-4079-B0AE-AD3E139FE99E}"/>
              </a:ext>
            </a:extLst>
          </p:cNvPr>
          <p:cNvSpPr>
            <a:spLocks noGrp="1"/>
          </p:cNvSpPr>
          <p:nvPr/>
        </p:nvSpPr>
        <p:spPr>
          <a:xfrm>
            <a:off x="9010650" y="3733800"/>
            <a:ext cx="2286000" cy="0"/>
          </a:xfrm>
          <a:prstGeom prst="line">
            <a:avLst/>
          </a:prstGeom>
          <a:noFill/>
          <a:ln w="9525">
            <a:solidFill>
              <a:srgbClr val="555552"/>
            </a:solidFill>
            <a:prstDash val="solid"/>
          </a:ln>
        </p:spPr>
        <p:txBody>
          <a:bodyPr/>
          <a:lstStyle/>
          <a:p>
            <a:endParaRPr lang="en-DE"/>
          </a:p>
        </p:txBody>
      </p:sp>
      <p:sp>
        <p:nvSpPr>
          <p:cNvPr id="17" name="Rectangle 16">
            <a:extLst>
              <a:ext uri="{FF2B5EF4-FFF2-40B4-BE49-F238E27FC236}">
                <a16:creationId xmlns:a16="http://schemas.microsoft.com/office/drawing/2014/main" id="{6E157B33-8BFA-4A85-BF7F-9FB3586E7707}"/>
              </a:ext>
            </a:extLst>
          </p:cNvPr>
          <p:cNvSpPr>
            <a:spLocks noGrp="1"/>
          </p:cNvSpPr>
          <p:nvPr/>
        </p:nvSpPr>
        <p:spPr>
          <a:xfrm>
            <a:off x="9010650" y="3943350"/>
            <a:ext cx="2095500" cy="228600"/>
          </a:xfrm>
          <a:prstGeom prst="rect">
            <a:avLst/>
          </a:prstGeom>
          <a:noFill/>
          <a:ln w="0">
            <a:noFill/>
            <a:prstDash val="solid"/>
          </a:ln>
        </p:spPr>
        <p:txBody>
          <a:bodyPr/>
          <a:lstStyle/>
          <a:p>
            <a:pPr algn="l">
              <a:defRPr sz="975" b="1">
                <a:solidFill>
                  <a:srgbClr val="9B9B96"/>
                </a:solidFill>
              </a:defRPr>
            </a:pPr>
            <a:r>
              <a:rPr sz="975" b="1">
                <a:solidFill>
                  <a:srgbClr val="9B9B96"/>
                </a:solidFill>
              </a:rPr>
              <a:t>REFERENCE POINTS</a:t>
            </a:r>
          </a:p>
        </p:txBody>
      </p:sp>
      <p:sp>
        <p:nvSpPr>
          <p:cNvPr id="18" name="Rectangle 17">
            <a:extLst>
              <a:ext uri="{FF2B5EF4-FFF2-40B4-BE49-F238E27FC236}">
                <a16:creationId xmlns:a16="http://schemas.microsoft.com/office/drawing/2014/main" id="{BE5F64D5-1A26-4929-B70B-EB5208F1C126}"/>
              </a:ext>
            </a:extLst>
          </p:cNvPr>
          <p:cNvSpPr>
            <a:spLocks noGrp="1"/>
          </p:cNvSpPr>
          <p:nvPr/>
        </p:nvSpPr>
        <p:spPr>
          <a:xfrm>
            <a:off x="9010650" y="4286250"/>
            <a:ext cx="2286000" cy="800100"/>
          </a:xfrm>
          <a:prstGeom prst="rect">
            <a:avLst/>
          </a:prstGeom>
          <a:noFill/>
          <a:ln w="0">
            <a:noFill/>
            <a:prstDash val="solid"/>
          </a:ln>
        </p:spPr>
        <p:txBody>
          <a:bodyPr/>
          <a:lstStyle/>
          <a:p>
            <a:pPr algn="l">
              <a:defRPr sz="1125" b="1">
                <a:solidFill>
                  <a:srgbClr val="F4F4F2"/>
                </a:solidFill>
              </a:defRPr>
            </a:pPr>
            <a:r>
              <a:rPr sz="1125" b="1">
                <a:solidFill>
                  <a:srgbClr val="F4F4F2"/>
                </a:solidFill>
              </a:rPr>
              <a:t>Logged route   $11.65  |  0.912</a:t>
            </a:r>
          </a:p>
          <a:p>
            <a:pPr algn="l">
              <a:defRPr sz="1125" b="1">
                <a:solidFill>
                  <a:srgbClr val="F4F4F2"/>
                </a:solidFill>
              </a:defRPr>
            </a:pPr>
            <a:r>
              <a:rPr sz="1125" b="1">
                <a:solidFill>
                  <a:srgbClr val="F4F4F2"/>
                </a:solidFill>
              </a:rPr>
              <a:t>15k heuristic   $9.00  |  0.900</a:t>
            </a:r>
          </a:p>
          <a:p>
            <a:pPr algn="l">
              <a:defRPr sz="1125" b="1">
                <a:solidFill>
                  <a:srgbClr val="F4F4F2"/>
                </a:solidFill>
              </a:defRPr>
            </a:pPr>
            <a:r>
              <a:rPr sz="1125" b="1">
                <a:solidFill>
                  <a:srgbClr val="F4F4F2"/>
                </a:solidFill>
              </a:rPr>
              <a:t>Selected       $13.70  |  0.939</a:t>
            </a:r>
          </a:p>
        </p:txBody>
      </p:sp>
      <p:sp>
        <p:nvSpPr>
          <p:cNvPr id="19" name="Rectangle 18">
            <a:extLst>
              <a:ext uri="{FF2B5EF4-FFF2-40B4-BE49-F238E27FC236}">
                <a16:creationId xmlns:a16="http://schemas.microsoft.com/office/drawing/2014/main" id="{C0A235D6-35A6-4769-8E8A-9F3896C1A8EF}"/>
              </a:ext>
            </a:extLst>
          </p:cNvPr>
          <p:cNvSpPr>
            <a:spLocks noGrp="1"/>
          </p:cNvSpPr>
          <p:nvPr/>
        </p:nvSpPr>
        <p:spPr>
          <a:xfrm>
            <a:off x="9010650" y="5257800"/>
            <a:ext cx="2286000" cy="438150"/>
          </a:xfrm>
          <a:prstGeom prst="rect">
            <a:avLst/>
          </a:prstGeom>
          <a:noFill/>
          <a:ln w="0">
            <a:noFill/>
            <a:prstDash val="solid"/>
          </a:ln>
        </p:spPr>
        <p:txBody>
          <a:bodyPr/>
          <a:lstStyle/>
          <a:p>
            <a:pPr algn="l">
              <a:defRPr sz="1050" b="0">
                <a:solidFill>
                  <a:srgbClr val="9B9B96"/>
                </a:solidFill>
              </a:defRPr>
            </a:pPr>
            <a:r>
              <a:rPr sz="1050" b="0">
                <a:solidFill>
                  <a:srgbClr val="9B9B96"/>
                </a:solidFill>
              </a:rPr>
              <a:t>Prototype result. The later frozen split is reported separately.</a:t>
            </a:r>
          </a:p>
        </p:txBody>
      </p:sp>
      <p:sp>
        <p:nvSpPr>
          <p:cNvPr id="20" name="Rectangle 19">
            <a:extLst>
              <a:ext uri="{FF2B5EF4-FFF2-40B4-BE49-F238E27FC236}">
                <a16:creationId xmlns:a16="http://schemas.microsoft.com/office/drawing/2014/main" id="{337D0FD9-AF0D-4337-A8A1-90B3D1A01962}"/>
              </a:ext>
            </a:extLst>
          </p:cNvPr>
          <p:cNvSpPr>
            <a:spLocks noGrp="1"/>
          </p:cNvSpPr>
          <p:nvPr/>
        </p:nvSpPr>
        <p:spPr>
          <a:xfrm>
            <a:off x="552450" y="6019800"/>
            <a:ext cx="10763250" cy="228600"/>
          </a:xfrm>
          <a:prstGeom prst="rect">
            <a:avLst/>
          </a:prstGeom>
          <a:noFill/>
          <a:ln w="0">
            <a:noFill/>
            <a:prstDash val="solid"/>
          </a:ln>
        </p:spPr>
        <p:txBody>
          <a:bodyPr/>
          <a:lstStyle/>
          <a:p>
            <a:pPr algn="l">
              <a:defRPr sz="900" b="0">
                <a:solidFill>
                  <a:srgbClr val="555552"/>
                </a:solidFill>
              </a:defRPr>
            </a:pPr>
            <a:r>
              <a:rPr sz="900" b="0">
                <a:solidFill>
                  <a:srgbClr val="555552"/>
                </a:solidFill>
              </a:rPr>
              <a:t>Values reproduced from the supplied prototype chart; underlying point data were not provided.</a:t>
            </a:r>
          </a:p>
        </p:txBody>
      </p:sp>
    </p:spTree>
    <p:extLst>
      <p:ext uri="{BB962C8B-B14F-4D97-AF65-F5344CB8AC3E}">
        <p14:creationId xmlns:p14="http://schemas.microsoft.com/office/powerpoint/2010/main" val="743696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6" name="page-11">
            <a:extLst>
              <a:ext uri="{FF2B5EF4-FFF2-40B4-BE49-F238E27FC236}">
                <a16:creationId xmlns:a16="http://schemas.microsoft.com/office/drawing/2014/main" id="{7B952F86-4405-4174-8BBE-E4C33C00EFDD}"/>
              </a:ext>
            </a:extLst>
          </p:cNvPr>
          <p:cNvSpPr>
            <a:spLocks noGrp="1"/>
          </p:cNvSpPr>
          <p:nvPr/>
        </p:nvSpPr>
        <p:spPr>
          <a:xfrm>
            <a:off x="514350" y="285750"/>
            <a:ext cx="400050" cy="209550"/>
          </a:xfrm>
          <a:prstGeom prst="rect">
            <a:avLst/>
          </a:prstGeom>
          <a:noFill/>
          <a:ln w="0">
            <a:noFill/>
            <a:prstDash val="solid"/>
          </a:ln>
        </p:spPr>
        <p:txBody>
          <a:bodyPr/>
          <a:lstStyle/>
          <a:p>
            <a:pPr algn="l">
              <a:defRPr sz="900" b="1">
                <a:solidFill>
                  <a:srgbClr val="9B9B96"/>
                </a:solidFill>
              </a:defRPr>
            </a:pPr>
            <a:r>
              <a:rPr sz="900" b="1">
                <a:solidFill>
                  <a:srgbClr val="9B9B96"/>
                </a:solidFill>
              </a:rPr>
              <a:t>11</a:t>
            </a:r>
          </a:p>
        </p:txBody>
      </p:sp>
      <p:sp>
        <p:nvSpPr>
          <p:cNvPr id="2" name="Straight Connector 1">
            <a:extLst>
              <a:ext uri="{FF2B5EF4-FFF2-40B4-BE49-F238E27FC236}">
                <a16:creationId xmlns:a16="http://schemas.microsoft.com/office/drawing/2014/main" id="{627346BF-53CA-4437-8DED-96877B29B457}"/>
              </a:ext>
            </a:extLst>
          </p:cNvPr>
          <p:cNvSpPr>
            <a:spLocks noGrp="1"/>
          </p:cNvSpPr>
          <p:nvPr/>
        </p:nvSpPr>
        <p:spPr>
          <a:xfrm>
            <a:off x="1009650" y="381000"/>
            <a:ext cx="476250" cy="0"/>
          </a:xfrm>
          <a:prstGeom prst="line">
            <a:avLst/>
          </a:prstGeom>
          <a:noFill/>
          <a:ln w="19050">
            <a:solidFill>
              <a:srgbClr val="9B9B96"/>
            </a:solidFill>
            <a:prstDash val="solid"/>
          </a:ln>
        </p:spPr>
        <p:txBody>
          <a:bodyPr/>
          <a:lstStyle/>
          <a:p>
            <a:endParaRPr lang="en-DE"/>
          </a:p>
        </p:txBody>
      </p:sp>
      <p:sp>
        <p:nvSpPr>
          <p:cNvPr id="3" name="section-11">
            <a:extLst>
              <a:ext uri="{FF2B5EF4-FFF2-40B4-BE49-F238E27FC236}">
                <a16:creationId xmlns:a16="http://schemas.microsoft.com/office/drawing/2014/main" id="{DBE7B067-6381-4E11-AD6E-5B87E6BB22E6}"/>
              </a:ext>
            </a:extLst>
          </p:cNvPr>
          <p:cNvSpPr>
            <a:spLocks noGrp="1"/>
          </p:cNvSpPr>
          <p:nvPr/>
        </p:nvSpPr>
        <p:spPr>
          <a:xfrm>
            <a:off x="1676400" y="285750"/>
            <a:ext cx="4000500" cy="228600"/>
          </a:xfrm>
          <a:prstGeom prst="rect">
            <a:avLst/>
          </a:prstGeom>
          <a:noFill/>
          <a:ln w="0">
            <a:noFill/>
            <a:prstDash val="solid"/>
          </a:ln>
        </p:spPr>
        <p:txBody>
          <a:bodyPr/>
          <a:lstStyle/>
          <a:p>
            <a:pPr algn="l">
              <a:defRPr sz="900" b="1">
                <a:solidFill>
                  <a:srgbClr val="9B9B96"/>
                </a:solidFill>
              </a:defRPr>
            </a:pPr>
            <a:r>
              <a:rPr sz="900" b="1">
                <a:solidFill>
                  <a:srgbClr val="9B9B96"/>
                </a:solidFill>
              </a:rPr>
              <a:t>OUTPUTS AND RETRAINING</a:t>
            </a:r>
          </a:p>
        </p:txBody>
      </p:sp>
      <p:sp>
        <p:nvSpPr>
          <p:cNvPr id="4" name="Straight Connector 3">
            <a:extLst>
              <a:ext uri="{FF2B5EF4-FFF2-40B4-BE49-F238E27FC236}">
                <a16:creationId xmlns:a16="http://schemas.microsoft.com/office/drawing/2014/main" id="{FD00356C-FC16-4E6E-BBE6-0BB611A7E9A0}"/>
              </a:ext>
            </a:extLst>
          </p:cNvPr>
          <p:cNvSpPr>
            <a:spLocks noGrp="1"/>
          </p:cNvSpPr>
          <p:nvPr/>
        </p:nvSpPr>
        <p:spPr>
          <a:xfrm>
            <a:off x="514350" y="6496050"/>
            <a:ext cx="11163300" cy="0"/>
          </a:xfrm>
          <a:prstGeom prst="line">
            <a:avLst/>
          </a:prstGeom>
          <a:noFill/>
          <a:ln w="9525">
            <a:solidFill>
              <a:srgbClr val="2B2B29"/>
            </a:solidFill>
            <a:prstDash val="solid"/>
          </a:ln>
        </p:spPr>
        <p:txBody>
          <a:bodyPr/>
          <a:lstStyle/>
          <a:p>
            <a:endParaRPr lang="en-DE"/>
          </a:p>
        </p:txBody>
      </p:sp>
      <p:sp>
        <p:nvSpPr>
          <p:cNvPr id="5" name="Rectangle 4">
            <a:extLst>
              <a:ext uri="{FF2B5EF4-FFF2-40B4-BE49-F238E27FC236}">
                <a16:creationId xmlns:a16="http://schemas.microsoft.com/office/drawing/2014/main" id="{827465A3-63FC-471B-B68D-57CFD88B917E}"/>
              </a:ext>
            </a:extLst>
          </p:cNvPr>
          <p:cNvSpPr>
            <a:spLocks noGrp="1"/>
          </p:cNvSpPr>
          <p:nvPr/>
        </p:nvSpPr>
        <p:spPr>
          <a:xfrm>
            <a:off x="514350" y="6572250"/>
            <a:ext cx="3619500" cy="171450"/>
          </a:xfrm>
          <a:prstGeom prst="rect">
            <a:avLst/>
          </a:prstGeom>
          <a:noFill/>
          <a:ln w="0">
            <a:noFill/>
            <a:prstDash val="solid"/>
          </a:ln>
        </p:spPr>
        <p:txBody>
          <a:bodyPr/>
          <a:lstStyle/>
          <a:p>
            <a:pPr algn="l">
              <a:defRPr sz="750" b="1">
                <a:solidFill>
                  <a:srgbClr val="9B9B96"/>
                </a:solidFill>
              </a:defRPr>
            </a:pPr>
            <a:r>
              <a:rPr sz="750" b="1">
                <a:solidFill>
                  <a:srgbClr val="9B9B96"/>
                </a:solidFill>
              </a:rPr>
              <a:t>VIKTOR ROUTER / TUM.AI 2026</a:t>
            </a:r>
          </a:p>
        </p:txBody>
      </p:sp>
      <p:sp>
        <p:nvSpPr>
          <p:cNvPr id="6" name="Rectangle 5">
            <a:extLst>
              <a:ext uri="{FF2B5EF4-FFF2-40B4-BE49-F238E27FC236}">
                <a16:creationId xmlns:a16="http://schemas.microsoft.com/office/drawing/2014/main" id="{4AEFFC21-D1AB-42E6-AB0D-7B102CE2FC34}"/>
              </a:ext>
            </a:extLst>
          </p:cNvPr>
          <p:cNvSpPr>
            <a:spLocks noGrp="1"/>
          </p:cNvSpPr>
          <p:nvPr/>
        </p:nvSpPr>
        <p:spPr>
          <a:xfrm>
            <a:off x="10191750" y="6572250"/>
            <a:ext cx="1485900" cy="171450"/>
          </a:xfrm>
          <a:prstGeom prst="rect">
            <a:avLst/>
          </a:prstGeom>
          <a:noFill/>
          <a:ln w="0">
            <a:noFill/>
            <a:prstDash val="solid"/>
          </a:ln>
        </p:spPr>
        <p:txBody>
          <a:bodyPr/>
          <a:lstStyle/>
          <a:p>
            <a:pPr algn="r">
              <a:defRPr sz="750" b="1">
                <a:solidFill>
                  <a:srgbClr val="9B9B96"/>
                </a:solidFill>
              </a:defRPr>
            </a:pPr>
            <a:r>
              <a:rPr sz="750" b="1">
                <a:solidFill>
                  <a:srgbClr val="9B9B96"/>
                </a:solidFill>
              </a:rPr>
              <a:t>11 / 14</a:t>
            </a:r>
          </a:p>
        </p:txBody>
      </p:sp>
      <p:sp>
        <p:nvSpPr>
          <p:cNvPr id="7" name="slide-title">
            <a:extLst>
              <a:ext uri="{FF2B5EF4-FFF2-40B4-BE49-F238E27FC236}">
                <a16:creationId xmlns:a16="http://schemas.microsoft.com/office/drawing/2014/main" id="{1B993220-278D-43BE-A1D8-49D613315C77}"/>
              </a:ext>
            </a:extLst>
          </p:cNvPr>
          <p:cNvSpPr>
            <a:spLocks noGrp="1"/>
          </p:cNvSpPr>
          <p:nvPr/>
        </p:nvSpPr>
        <p:spPr>
          <a:xfrm>
            <a:off x="514350" y="704850"/>
            <a:ext cx="11163300" cy="685800"/>
          </a:xfrm>
          <a:prstGeom prst="rect">
            <a:avLst/>
          </a:prstGeom>
          <a:noFill/>
          <a:ln w="0">
            <a:noFill/>
            <a:prstDash val="solid"/>
          </a:ln>
        </p:spPr>
        <p:txBody>
          <a:bodyPr/>
          <a:lstStyle/>
          <a:p>
            <a:pPr algn="l">
              <a:defRPr sz="3000" b="1">
                <a:solidFill>
                  <a:srgbClr val="F4F4F2"/>
                </a:solidFill>
              </a:defRPr>
            </a:pPr>
            <a:r>
              <a:rPr sz="3000" b="1">
                <a:solidFill>
                  <a:srgbClr val="F4F4F2"/>
                </a:solidFill>
              </a:rPr>
              <a:t>Chunk 02 confirmed the pattern.</a:t>
            </a:r>
          </a:p>
        </p:txBody>
      </p:sp>
      <p:sp>
        <p:nvSpPr>
          <p:cNvPr id="8" name="slide-subtitle">
            <a:extLst>
              <a:ext uri="{FF2B5EF4-FFF2-40B4-BE49-F238E27FC236}">
                <a16:creationId xmlns:a16="http://schemas.microsoft.com/office/drawing/2014/main" id="{633B5136-B11E-47D5-BD90-302D3B973D98}"/>
              </a:ext>
            </a:extLst>
          </p:cNvPr>
          <p:cNvSpPr>
            <a:spLocks noGrp="1"/>
          </p:cNvSpPr>
          <p:nvPr/>
        </p:nvSpPr>
        <p:spPr>
          <a:xfrm>
            <a:off x="533400" y="1371600"/>
            <a:ext cx="10668000" cy="342900"/>
          </a:xfrm>
          <a:prstGeom prst="rect">
            <a:avLst/>
          </a:prstGeom>
          <a:noFill/>
          <a:ln w="0">
            <a:noFill/>
            <a:prstDash val="solid"/>
          </a:ln>
        </p:spPr>
        <p:txBody>
          <a:bodyPr/>
          <a:lstStyle/>
          <a:p>
            <a:pPr algn="l">
              <a:defRPr sz="1350" b="0">
                <a:solidFill>
                  <a:srgbClr val="9B9B96"/>
                </a:solidFill>
              </a:defRPr>
            </a:pPr>
            <a:r>
              <a:rPr sz="1350" b="0">
                <a:solidFill>
                  <a:srgbClr val="9B9B96"/>
                </a:solidFill>
              </a:rPr>
              <a:t>Both chunks then informed the final deployment model.</a:t>
            </a:r>
          </a:p>
        </p:txBody>
      </p:sp>
      <p:sp>
        <p:nvSpPr>
          <p:cNvPr id="9" name="Straight Connector 8">
            <a:extLst>
              <a:ext uri="{FF2B5EF4-FFF2-40B4-BE49-F238E27FC236}">
                <a16:creationId xmlns:a16="http://schemas.microsoft.com/office/drawing/2014/main" id="{DBAF7496-ECCA-46B2-A081-8FEAE4CD4493}"/>
              </a:ext>
            </a:extLst>
          </p:cNvPr>
          <p:cNvSpPr>
            <a:spLocks noGrp="1"/>
          </p:cNvSpPr>
          <p:nvPr/>
        </p:nvSpPr>
        <p:spPr>
          <a:xfrm>
            <a:off x="723900" y="2743200"/>
            <a:ext cx="4476750" cy="0"/>
          </a:xfrm>
          <a:prstGeom prst="line">
            <a:avLst/>
          </a:prstGeom>
          <a:noFill/>
          <a:ln w="19050">
            <a:solidFill>
              <a:srgbClr val="555552"/>
            </a:solidFill>
            <a:prstDash val="solid"/>
          </a:ln>
        </p:spPr>
        <p:txBody>
          <a:bodyPr/>
          <a:lstStyle/>
          <a:p>
            <a:endParaRPr lang="en-DE"/>
          </a:p>
        </p:txBody>
      </p:sp>
      <p:sp>
        <p:nvSpPr>
          <p:cNvPr id="10" name="Straight Connector 9">
            <a:extLst>
              <a:ext uri="{FF2B5EF4-FFF2-40B4-BE49-F238E27FC236}">
                <a16:creationId xmlns:a16="http://schemas.microsoft.com/office/drawing/2014/main" id="{B36F9700-6198-4C8F-AD5B-8CAD59C72C09}"/>
              </a:ext>
            </a:extLst>
          </p:cNvPr>
          <p:cNvSpPr>
            <a:spLocks noGrp="1"/>
          </p:cNvSpPr>
          <p:nvPr/>
        </p:nvSpPr>
        <p:spPr>
          <a:xfrm>
            <a:off x="3733800" y="2743200"/>
            <a:ext cx="4476750" cy="0"/>
          </a:xfrm>
          <a:prstGeom prst="line">
            <a:avLst/>
          </a:prstGeom>
          <a:noFill/>
          <a:ln w="19050">
            <a:solidFill>
              <a:srgbClr val="555552"/>
            </a:solidFill>
            <a:prstDash val="solid"/>
          </a:ln>
        </p:spPr>
        <p:txBody>
          <a:bodyPr/>
          <a:lstStyle/>
          <a:p>
            <a:endParaRPr lang="en-DE"/>
          </a:p>
        </p:txBody>
      </p:sp>
      <p:sp>
        <p:nvSpPr>
          <p:cNvPr id="11" name="Rounded Rectangle 10">
            <a:extLst>
              <a:ext uri="{FF2B5EF4-FFF2-40B4-BE49-F238E27FC236}">
                <a16:creationId xmlns:a16="http://schemas.microsoft.com/office/drawing/2014/main" id="{07F5800A-2F7E-4389-9A2F-8BC8514DAAC5}"/>
              </a:ext>
            </a:extLst>
          </p:cNvPr>
          <p:cNvSpPr>
            <a:spLocks noGrp="1"/>
          </p:cNvSpPr>
          <p:nvPr/>
        </p:nvSpPr>
        <p:spPr>
          <a:xfrm>
            <a:off x="723900" y="2247900"/>
            <a:ext cx="2266950" cy="1104900"/>
          </a:xfrm>
          <a:prstGeom prst="roundRect">
            <a:avLst>
              <a:gd name="adj" fmla="val 3448"/>
            </a:avLst>
          </a:prstGeom>
          <a:solidFill>
            <a:srgbClr val="101010"/>
          </a:solidFill>
          <a:ln w="9525">
            <a:solidFill>
              <a:srgbClr val="555552"/>
            </a:solidFill>
            <a:prstDash val="solid"/>
          </a:ln>
        </p:spPr>
        <p:txBody>
          <a:bodyPr/>
          <a:lstStyle/>
          <a:p>
            <a:endParaRPr lang="en-DE"/>
          </a:p>
        </p:txBody>
      </p:sp>
      <p:sp>
        <p:nvSpPr>
          <p:cNvPr id="12" name="Rectangle 11">
            <a:extLst>
              <a:ext uri="{FF2B5EF4-FFF2-40B4-BE49-F238E27FC236}">
                <a16:creationId xmlns:a16="http://schemas.microsoft.com/office/drawing/2014/main" id="{C00FC713-89AC-4169-95D7-EB5D7AA2F958}"/>
              </a:ext>
            </a:extLst>
          </p:cNvPr>
          <p:cNvSpPr>
            <a:spLocks noGrp="1"/>
          </p:cNvSpPr>
          <p:nvPr/>
        </p:nvSpPr>
        <p:spPr>
          <a:xfrm>
            <a:off x="895350" y="2400300"/>
            <a:ext cx="1809750" cy="190500"/>
          </a:xfrm>
          <a:prstGeom prst="rect">
            <a:avLst/>
          </a:prstGeom>
          <a:noFill/>
          <a:ln w="0">
            <a:noFill/>
            <a:prstDash val="solid"/>
          </a:ln>
        </p:spPr>
        <p:txBody>
          <a:bodyPr/>
          <a:lstStyle/>
          <a:p>
            <a:pPr algn="l">
              <a:defRPr sz="900" b="1">
                <a:solidFill>
                  <a:srgbClr val="9B9B96"/>
                </a:solidFill>
              </a:defRPr>
            </a:pPr>
            <a:r>
              <a:rPr sz="900" b="1">
                <a:solidFill>
                  <a:srgbClr val="9B9B96"/>
                </a:solidFill>
              </a:rPr>
              <a:t>TRAIN</a:t>
            </a:r>
          </a:p>
        </p:txBody>
      </p:sp>
      <p:sp>
        <p:nvSpPr>
          <p:cNvPr id="13" name="Rectangle 12">
            <a:extLst>
              <a:ext uri="{FF2B5EF4-FFF2-40B4-BE49-F238E27FC236}">
                <a16:creationId xmlns:a16="http://schemas.microsoft.com/office/drawing/2014/main" id="{4C8BF0EB-3E70-40CA-827D-8BA823D60C1E}"/>
              </a:ext>
            </a:extLst>
          </p:cNvPr>
          <p:cNvSpPr>
            <a:spLocks noGrp="1"/>
          </p:cNvSpPr>
          <p:nvPr/>
        </p:nvSpPr>
        <p:spPr>
          <a:xfrm>
            <a:off x="895350" y="2667000"/>
            <a:ext cx="1905000" cy="285750"/>
          </a:xfrm>
          <a:prstGeom prst="rect">
            <a:avLst/>
          </a:prstGeom>
          <a:noFill/>
          <a:ln w="0">
            <a:noFill/>
            <a:prstDash val="solid"/>
          </a:ln>
        </p:spPr>
        <p:txBody>
          <a:bodyPr/>
          <a:lstStyle/>
          <a:p>
            <a:pPr algn="l">
              <a:defRPr sz="1650" b="1">
                <a:solidFill>
                  <a:srgbClr val="F4F4F2"/>
                </a:solidFill>
              </a:defRPr>
            </a:pPr>
            <a:r>
              <a:rPr sz="1650" b="1">
                <a:solidFill>
                  <a:srgbClr val="F4F4F2"/>
                </a:solidFill>
              </a:rPr>
              <a:t>chunk 01</a:t>
            </a:r>
          </a:p>
        </p:txBody>
      </p:sp>
      <p:sp>
        <p:nvSpPr>
          <p:cNvPr id="14" name="Rectangle 13">
            <a:extLst>
              <a:ext uri="{FF2B5EF4-FFF2-40B4-BE49-F238E27FC236}">
                <a16:creationId xmlns:a16="http://schemas.microsoft.com/office/drawing/2014/main" id="{88358D76-5504-453A-BAD9-2C30F2FC1260}"/>
              </a:ext>
            </a:extLst>
          </p:cNvPr>
          <p:cNvSpPr>
            <a:spLocks noGrp="1"/>
          </p:cNvSpPr>
          <p:nvPr/>
        </p:nvSpPr>
        <p:spPr>
          <a:xfrm>
            <a:off x="895350" y="3009900"/>
            <a:ext cx="1809750" cy="209550"/>
          </a:xfrm>
          <a:prstGeom prst="rect">
            <a:avLst/>
          </a:prstGeom>
          <a:noFill/>
          <a:ln w="0">
            <a:noFill/>
            <a:prstDash val="solid"/>
          </a:ln>
        </p:spPr>
        <p:txBody>
          <a:bodyPr/>
          <a:lstStyle/>
          <a:p>
            <a:pPr algn="l">
              <a:defRPr sz="1125" b="0">
                <a:solidFill>
                  <a:srgbClr val="9B9B96"/>
                </a:solidFill>
              </a:defRPr>
            </a:pPr>
            <a:r>
              <a:rPr sz="1125" b="0">
                <a:solidFill>
                  <a:srgbClr val="9B9B96"/>
                </a:solidFill>
              </a:rPr>
              <a:t>991 usable</a:t>
            </a:r>
          </a:p>
        </p:txBody>
      </p:sp>
      <p:sp>
        <p:nvSpPr>
          <p:cNvPr id="15" name="Rounded Rectangle 14">
            <a:extLst>
              <a:ext uri="{FF2B5EF4-FFF2-40B4-BE49-F238E27FC236}">
                <a16:creationId xmlns:a16="http://schemas.microsoft.com/office/drawing/2014/main" id="{4C6940A1-CAD5-4CD2-A926-725447641BA8}"/>
              </a:ext>
            </a:extLst>
          </p:cNvPr>
          <p:cNvSpPr>
            <a:spLocks noGrp="1"/>
          </p:cNvSpPr>
          <p:nvPr/>
        </p:nvSpPr>
        <p:spPr>
          <a:xfrm>
            <a:off x="3733800" y="2247900"/>
            <a:ext cx="2266950" cy="1104900"/>
          </a:xfrm>
          <a:prstGeom prst="roundRect">
            <a:avLst>
              <a:gd name="adj" fmla="val 3448"/>
            </a:avLst>
          </a:prstGeom>
          <a:solidFill>
            <a:srgbClr val="101010"/>
          </a:solidFill>
          <a:ln w="9525">
            <a:solidFill>
              <a:srgbClr val="555552"/>
            </a:solidFill>
            <a:prstDash val="solid"/>
          </a:ln>
        </p:spPr>
        <p:txBody>
          <a:bodyPr/>
          <a:lstStyle/>
          <a:p>
            <a:endParaRPr lang="en-DE"/>
          </a:p>
        </p:txBody>
      </p:sp>
      <p:sp>
        <p:nvSpPr>
          <p:cNvPr id="16" name="Rectangle 15">
            <a:extLst>
              <a:ext uri="{FF2B5EF4-FFF2-40B4-BE49-F238E27FC236}">
                <a16:creationId xmlns:a16="http://schemas.microsoft.com/office/drawing/2014/main" id="{5CD900C1-62A3-4BAA-BC17-03B613F33C9A}"/>
              </a:ext>
            </a:extLst>
          </p:cNvPr>
          <p:cNvSpPr>
            <a:spLocks noGrp="1"/>
          </p:cNvSpPr>
          <p:nvPr/>
        </p:nvSpPr>
        <p:spPr>
          <a:xfrm>
            <a:off x="3905250" y="2400300"/>
            <a:ext cx="1809750" cy="190500"/>
          </a:xfrm>
          <a:prstGeom prst="rect">
            <a:avLst/>
          </a:prstGeom>
          <a:noFill/>
          <a:ln w="0">
            <a:noFill/>
            <a:prstDash val="solid"/>
          </a:ln>
        </p:spPr>
        <p:txBody>
          <a:bodyPr/>
          <a:lstStyle/>
          <a:p>
            <a:pPr algn="l">
              <a:defRPr sz="900" b="1">
                <a:solidFill>
                  <a:srgbClr val="9B9B96"/>
                </a:solidFill>
              </a:defRPr>
            </a:pPr>
            <a:r>
              <a:rPr sz="900" b="1">
                <a:solidFill>
                  <a:srgbClr val="9B9B96"/>
                </a:solidFill>
              </a:rPr>
              <a:t>TEST ONCE</a:t>
            </a:r>
          </a:p>
        </p:txBody>
      </p:sp>
      <p:sp>
        <p:nvSpPr>
          <p:cNvPr id="17" name="Rectangle 16">
            <a:extLst>
              <a:ext uri="{FF2B5EF4-FFF2-40B4-BE49-F238E27FC236}">
                <a16:creationId xmlns:a16="http://schemas.microsoft.com/office/drawing/2014/main" id="{821FA6AC-4296-4EEE-B523-1D8D4DE3F10F}"/>
              </a:ext>
            </a:extLst>
          </p:cNvPr>
          <p:cNvSpPr>
            <a:spLocks noGrp="1"/>
          </p:cNvSpPr>
          <p:nvPr/>
        </p:nvSpPr>
        <p:spPr>
          <a:xfrm>
            <a:off x="3905250" y="2667000"/>
            <a:ext cx="1905000" cy="285750"/>
          </a:xfrm>
          <a:prstGeom prst="rect">
            <a:avLst/>
          </a:prstGeom>
          <a:noFill/>
          <a:ln w="0">
            <a:noFill/>
            <a:prstDash val="solid"/>
          </a:ln>
        </p:spPr>
        <p:txBody>
          <a:bodyPr/>
          <a:lstStyle/>
          <a:p>
            <a:pPr algn="l">
              <a:defRPr sz="1650" b="1">
                <a:solidFill>
                  <a:srgbClr val="F4F4F2"/>
                </a:solidFill>
              </a:defRPr>
            </a:pPr>
            <a:r>
              <a:rPr sz="1650" b="1">
                <a:solidFill>
                  <a:srgbClr val="F4F4F2"/>
                </a:solidFill>
              </a:rPr>
              <a:t>chunk 02</a:t>
            </a:r>
          </a:p>
        </p:txBody>
      </p:sp>
      <p:sp>
        <p:nvSpPr>
          <p:cNvPr id="18" name="Rectangle 17">
            <a:extLst>
              <a:ext uri="{FF2B5EF4-FFF2-40B4-BE49-F238E27FC236}">
                <a16:creationId xmlns:a16="http://schemas.microsoft.com/office/drawing/2014/main" id="{086B8C6B-A76A-4E9F-A0E0-F046349D57A0}"/>
              </a:ext>
            </a:extLst>
          </p:cNvPr>
          <p:cNvSpPr>
            <a:spLocks noGrp="1"/>
          </p:cNvSpPr>
          <p:nvPr/>
        </p:nvSpPr>
        <p:spPr>
          <a:xfrm>
            <a:off x="3905250" y="3009900"/>
            <a:ext cx="1809750" cy="209550"/>
          </a:xfrm>
          <a:prstGeom prst="rect">
            <a:avLst/>
          </a:prstGeom>
          <a:noFill/>
          <a:ln w="0">
            <a:noFill/>
            <a:prstDash val="solid"/>
          </a:ln>
        </p:spPr>
        <p:txBody>
          <a:bodyPr/>
          <a:lstStyle/>
          <a:p>
            <a:pPr algn="l">
              <a:defRPr sz="1125" b="0">
                <a:solidFill>
                  <a:srgbClr val="9B9B96"/>
                </a:solidFill>
              </a:defRPr>
            </a:pPr>
            <a:r>
              <a:rPr sz="1125" b="0">
                <a:solidFill>
                  <a:srgbClr val="9B9B96"/>
                </a:solidFill>
              </a:rPr>
              <a:t>901 usable</a:t>
            </a:r>
          </a:p>
        </p:txBody>
      </p:sp>
      <p:sp>
        <p:nvSpPr>
          <p:cNvPr id="19" name="Rounded Rectangle 18">
            <a:extLst>
              <a:ext uri="{FF2B5EF4-FFF2-40B4-BE49-F238E27FC236}">
                <a16:creationId xmlns:a16="http://schemas.microsoft.com/office/drawing/2014/main" id="{6298D698-D297-4246-9CA4-C28F258DEEFA}"/>
              </a:ext>
            </a:extLst>
          </p:cNvPr>
          <p:cNvSpPr>
            <a:spLocks noGrp="1"/>
          </p:cNvSpPr>
          <p:nvPr/>
        </p:nvSpPr>
        <p:spPr>
          <a:xfrm>
            <a:off x="6743700" y="2247900"/>
            <a:ext cx="2266950" cy="1104900"/>
          </a:xfrm>
          <a:prstGeom prst="roundRect">
            <a:avLst>
              <a:gd name="adj" fmla="val 3448"/>
            </a:avLst>
          </a:prstGeom>
          <a:solidFill>
            <a:srgbClr val="101010"/>
          </a:solidFill>
          <a:ln w="9525">
            <a:solidFill>
              <a:srgbClr val="555552"/>
            </a:solidFill>
            <a:prstDash val="solid"/>
          </a:ln>
        </p:spPr>
        <p:txBody>
          <a:bodyPr/>
          <a:lstStyle/>
          <a:p>
            <a:endParaRPr lang="en-DE"/>
          </a:p>
        </p:txBody>
      </p:sp>
      <p:sp>
        <p:nvSpPr>
          <p:cNvPr id="20" name="Rectangle 19">
            <a:extLst>
              <a:ext uri="{FF2B5EF4-FFF2-40B4-BE49-F238E27FC236}">
                <a16:creationId xmlns:a16="http://schemas.microsoft.com/office/drawing/2014/main" id="{0FC5C033-2DC8-4CD2-810D-AEB6028780C1}"/>
              </a:ext>
            </a:extLst>
          </p:cNvPr>
          <p:cNvSpPr>
            <a:spLocks noGrp="1"/>
          </p:cNvSpPr>
          <p:nvPr/>
        </p:nvSpPr>
        <p:spPr>
          <a:xfrm>
            <a:off x="6915150" y="2400300"/>
            <a:ext cx="1809750" cy="190500"/>
          </a:xfrm>
          <a:prstGeom prst="rect">
            <a:avLst/>
          </a:prstGeom>
          <a:noFill/>
          <a:ln w="0">
            <a:noFill/>
            <a:prstDash val="solid"/>
          </a:ln>
        </p:spPr>
        <p:txBody>
          <a:bodyPr/>
          <a:lstStyle/>
          <a:p>
            <a:pPr algn="l">
              <a:defRPr sz="900" b="1">
                <a:solidFill>
                  <a:srgbClr val="9B9B96"/>
                </a:solidFill>
              </a:defRPr>
            </a:pPr>
            <a:r>
              <a:rPr sz="900" b="1">
                <a:solidFill>
                  <a:srgbClr val="9B9B96"/>
                </a:solidFill>
              </a:rPr>
              <a:t>REFIT</a:t>
            </a:r>
          </a:p>
        </p:txBody>
      </p:sp>
      <p:sp>
        <p:nvSpPr>
          <p:cNvPr id="21" name="Rectangle 20">
            <a:extLst>
              <a:ext uri="{FF2B5EF4-FFF2-40B4-BE49-F238E27FC236}">
                <a16:creationId xmlns:a16="http://schemas.microsoft.com/office/drawing/2014/main" id="{023EC185-EB44-4C50-9058-A334DF6A2769}"/>
              </a:ext>
            </a:extLst>
          </p:cNvPr>
          <p:cNvSpPr>
            <a:spLocks noGrp="1"/>
          </p:cNvSpPr>
          <p:nvPr/>
        </p:nvSpPr>
        <p:spPr>
          <a:xfrm>
            <a:off x="6915150" y="2667000"/>
            <a:ext cx="1905000" cy="285750"/>
          </a:xfrm>
          <a:prstGeom prst="rect">
            <a:avLst/>
          </a:prstGeom>
          <a:noFill/>
          <a:ln w="0">
            <a:noFill/>
            <a:prstDash val="solid"/>
          </a:ln>
        </p:spPr>
        <p:txBody>
          <a:bodyPr/>
          <a:lstStyle/>
          <a:p>
            <a:pPr algn="l">
              <a:defRPr sz="1650" b="1">
                <a:solidFill>
                  <a:srgbClr val="F4F4F2"/>
                </a:solidFill>
              </a:defRPr>
            </a:pPr>
            <a:r>
              <a:rPr sz="1650" b="1">
                <a:solidFill>
                  <a:srgbClr val="F4F4F2"/>
                </a:solidFill>
              </a:rPr>
              <a:t>chunks 01 + 02</a:t>
            </a:r>
          </a:p>
        </p:txBody>
      </p:sp>
      <p:sp>
        <p:nvSpPr>
          <p:cNvPr id="22" name="Rectangle 21">
            <a:extLst>
              <a:ext uri="{FF2B5EF4-FFF2-40B4-BE49-F238E27FC236}">
                <a16:creationId xmlns:a16="http://schemas.microsoft.com/office/drawing/2014/main" id="{026D8062-DBF8-4B54-8FDA-B3130C36C426}"/>
              </a:ext>
            </a:extLst>
          </p:cNvPr>
          <p:cNvSpPr>
            <a:spLocks noGrp="1"/>
          </p:cNvSpPr>
          <p:nvPr/>
        </p:nvSpPr>
        <p:spPr>
          <a:xfrm>
            <a:off x="6915150" y="3009900"/>
            <a:ext cx="1809750" cy="209550"/>
          </a:xfrm>
          <a:prstGeom prst="rect">
            <a:avLst/>
          </a:prstGeom>
          <a:noFill/>
          <a:ln w="0">
            <a:noFill/>
            <a:prstDash val="solid"/>
          </a:ln>
        </p:spPr>
        <p:txBody>
          <a:bodyPr/>
          <a:lstStyle/>
          <a:p>
            <a:pPr algn="l">
              <a:defRPr sz="1125" b="0">
                <a:solidFill>
                  <a:srgbClr val="9B9B96"/>
                </a:solidFill>
              </a:defRPr>
            </a:pPr>
            <a:r>
              <a:rPr sz="1125" b="0">
                <a:solidFill>
                  <a:srgbClr val="9B9B96"/>
                </a:solidFill>
              </a:rPr>
              <a:t>1,892 usable</a:t>
            </a:r>
          </a:p>
        </p:txBody>
      </p:sp>
      <p:sp>
        <p:nvSpPr>
          <p:cNvPr id="23" name="Rectangle 22">
            <a:extLst>
              <a:ext uri="{FF2B5EF4-FFF2-40B4-BE49-F238E27FC236}">
                <a16:creationId xmlns:a16="http://schemas.microsoft.com/office/drawing/2014/main" id="{B81AA43B-6C50-4CEC-B545-9CC88EFAA3ED}"/>
              </a:ext>
            </a:extLst>
          </p:cNvPr>
          <p:cNvSpPr>
            <a:spLocks noGrp="1"/>
          </p:cNvSpPr>
          <p:nvPr/>
        </p:nvSpPr>
        <p:spPr>
          <a:xfrm>
            <a:off x="3333750" y="3562350"/>
            <a:ext cx="5905500" cy="285750"/>
          </a:xfrm>
          <a:prstGeom prst="rect">
            <a:avLst/>
          </a:prstGeom>
          <a:noFill/>
          <a:ln w="0">
            <a:noFill/>
            <a:prstDash val="solid"/>
          </a:ln>
        </p:spPr>
        <p:txBody>
          <a:bodyPr/>
          <a:lstStyle/>
          <a:p>
            <a:pPr algn="ctr">
              <a:defRPr sz="1500" b="1">
                <a:solidFill>
                  <a:srgbClr val="F4F4F2"/>
                </a:solidFill>
              </a:defRPr>
            </a:pPr>
            <a:r>
              <a:rPr sz="1500" b="1">
                <a:solidFill>
                  <a:srgbClr val="F4F4F2"/>
                </a:solidFill>
              </a:rPr>
              <a:t>43.4% saving · quality Δ +0.010 [−0.005, +0.025]</a:t>
            </a:r>
          </a:p>
        </p:txBody>
      </p:sp>
      <p:sp>
        <p:nvSpPr>
          <p:cNvPr id="24" name="Rectangle 23">
            <a:extLst>
              <a:ext uri="{FF2B5EF4-FFF2-40B4-BE49-F238E27FC236}">
                <a16:creationId xmlns:a16="http://schemas.microsoft.com/office/drawing/2014/main" id="{AD8569B7-05C6-4F8D-812E-73B13C75EFF4}"/>
              </a:ext>
            </a:extLst>
          </p:cNvPr>
          <p:cNvSpPr>
            <a:spLocks noGrp="1"/>
          </p:cNvSpPr>
          <p:nvPr/>
        </p:nvSpPr>
        <p:spPr>
          <a:xfrm>
            <a:off x="552450" y="4171950"/>
            <a:ext cx="4953000" cy="228600"/>
          </a:xfrm>
          <a:prstGeom prst="rect">
            <a:avLst/>
          </a:prstGeom>
          <a:noFill/>
          <a:ln w="0">
            <a:noFill/>
            <a:prstDash val="solid"/>
          </a:ln>
        </p:spPr>
        <p:txBody>
          <a:bodyPr/>
          <a:lstStyle/>
          <a:p>
            <a:pPr algn="l">
              <a:defRPr sz="975" b="1">
                <a:solidFill>
                  <a:srgbClr val="9B9B96"/>
                </a:solidFill>
              </a:defRPr>
            </a:pPr>
            <a:r>
              <a:rPr sz="975" b="1">
                <a:solidFill>
                  <a:srgbClr val="9B9B96"/>
                </a:solidFill>
              </a:rPr>
              <a:t>FINAL ROUTE MIX / 2,000 TRAJECTORIES</a:t>
            </a:r>
          </a:p>
        </p:txBody>
      </p:sp>
      <p:graphicFrame>
        <p:nvGraphicFramePr>
          <p:cNvPr id="50" name="Chart"/>
          <p:cNvGraphicFramePr/>
          <p:nvPr/>
        </p:nvGraphicFramePr>
        <p:xfrm>
          <a:off x="495300" y="4476750"/>
          <a:ext cx="10763250" cy="16573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871593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4F2"/>
        </a:solidFill>
        <a:effectLst/>
      </p:bgPr>
    </p:bg>
    <p:spTree>
      <p:nvGrpSpPr>
        <p:cNvPr id="1" name=""/>
        <p:cNvGrpSpPr/>
        <p:nvPr/>
      </p:nvGrpSpPr>
      <p:grpSpPr>
        <a:xfrm>
          <a:off x="0" y="0"/>
          <a:ext cx="0" cy="0"/>
          <a:chOff x="0" y="0"/>
          <a:chExt cx="0" cy="0"/>
        </a:xfrm>
      </p:grpSpPr>
      <p:sp>
        <p:nvSpPr>
          <p:cNvPr id="18" name="page-12">
            <a:extLst>
              <a:ext uri="{FF2B5EF4-FFF2-40B4-BE49-F238E27FC236}">
                <a16:creationId xmlns:a16="http://schemas.microsoft.com/office/drawing/2014/main" id="{4CC40D2F-C4DD-4630-B0A8-3ED1A7051542}"/>
              </a:ext>
            </a:extLst>
          </p:cNvPr>
          <p:cNvSpPr>
            <a:spLocks noGrp="1"/>
          </p:cNvSpPr>
          <p:nvPr/>
        </p:nvSpPr>
        <p:spPr>
          <a:xfrm>
            <a:off x="514350" y="285750"/>
            <a:ext cx="400050" cy="209550"/>
          </a:xfrm>
          <a:prstGeom prst="rect">
            <a:avLst/>
          </a:prstGeom>
          <a:noFill/>
          <a:ln w="0">
            <a:noFill/>
            <a:prstDash val="solid"/>
          </a:ln>
        </p:spPr>
        <p:txBody>
          <a:bodyPr/>
          <a:lstStyle/>
          <a:p>
            <a:pPr algn="l">
              <a:defRPr sz="900" b="1">
                <a:solidFill>
                  <a:srgbClr val="555552"/>
                </a:solidFill>
              </a:defRPr>
            </a:pPr>
            <a:r>
              <a:rPr sz="900" b="1">
                <a:solidFill>
                  <a:srgbClr val="555552"/>
                </a:solidFill>
              </a:rPr>
              <a:t>12</a:t>
            </a:r>
          </a:p>
        </p:txBody>
      </p:sp>
      <p:sp>
        <p:nvSpPr>
          <p:cNvPr id="2" name="Straight Connector 1">
            <a:extLst>
              <a:ext uri="{FF2B5EF4-FFF2-40B4-BE49-F238E27FC236}">
                <a16:creationId xmlns:a16="http://schemas.microsoft.com/office/drawing/2014/main" id="{A9BE88DF-2AEF-4A6D-873A-E44671E2734B}"/>
              </a:ext>
            </a:extLst>
          </p:cNvPr>
          <p:cNvSpPr>
            <a:spLocks noGrp="1"/>
          </p:cNvSpPr>
          <p:nvPr/>
        </p:nvSpPr>
        <p:spPr>
          <a:xfrm>
            <a:off x="1009650" y="381000"/>
            <a:ext cx="476250" cy="0"/>
          </a:xfrm>
          <a:prstGeom prst="line">
            <a:avLst/>
          </a:prstGeom>
          <a:noFill/>
          <a:ln w="19050">
            <a:solidFill>
              <a:srgbClr val="555552"/>
            </a:solidFill>
            <a:prstDash val="solid"/>
          </a:ln>
        </p:spPr>
        <p:txBody>
          <a:bodyPr/>
          <a:lstStyle/>
          <a:p>
            <a:endParaRPr lang="en-DE"/>
          </a:p>
        </p:txBody>
      </p:sp>
      <p:sp>
        <p:nvSpPr>
          <p:cNvPr id="3" name="section-12">
            <a:extLst>
              <a:ext uri="{FF2B5EF4-FFF2-40B4-BE49-F238E27FC236}">
                <a16:creationId xmlns:a16="http://schemas.microsoft.com/office/drawing/2014/main" id="{6EA6C830-E60E-4D87-AAB1-1E79C27DB82E}"/>
              </a:ext>
            </a:extLst>
          </p:cNvPr>
          <p:cNvSpPr>
            <a:spLocks noGrp="1"/>
          </p:cNvSpPr>
          <p:nvPr/>
        </p:nvSpPr>
        <p:spPr>
          <a:xfrm>
            <a:off x="1676400" y="285750"/>
            <a:ext cx="4000500" cy="228600"/>
          </a:xfrm>
          <a:prstGeom prst="rect">
            <a:avLst/>
          </a:prstGeom>
          <a:noFill/>
          <a:ln w="0">
            <a:noFill/>
            <a:prstDash val="solid"/>
          </a:ln>
        </p:spPr>
        <p:txBody>
          <a:bodyPr/>
          <a:lstStyle/>
          <a:p>
            <a:pPr algn="l">
              <a:defRPr sz="900" b="1">
                <a:solidFill>
                  <a:srgbClr val="555552"/>
                </a:solidFill>
              </a:defRPr>
            </a:pPr>
            <a:r>
              <a:rPr sz="900" b="1">
                <a:solidFill>
                  <a:srgbClr val="555552"/>
                </a:solidFill>
              </a:rPr>
              <a:t>OBSERVED SUPPORT</a:t>
            </a:r>
          </a:p>
        </p:txBody>
      </p:sp>
      <p:sp>
        <p:nvSpPr>
          <p:cNvPr id="4" name="Straight Connector 3">
            <a:extLst>
              <a:ext uri="{FF2B5EF4-FFF2-40B4-BE49-F238E27FC236}">
                <a16:creationId xmlns:a16="http://schemas.microsoft.com/office/drawing/2014/main" id="{F946B342-03FE-4080-B6D9-B000F439CBBA}"/>
              </a:ext>
            </a:extLst>
          </p:cNvPr>
          <p:cNvSpPr>
            <a:spLocks noGrp="1"/>
          </p:cNvSpPr>
          <p:nvPr/>
        </p:nvSpPr>
        <p:spPr>
          <a:xfrm>
            <a:off x="514350" y="6496050"/>
            <a:ext cx="11163300" cy="0"/>
          </a:xfrm>
          <a:prstGeom prst="line">
            <a:avLst/>
          </a:prstGeom>
          <a:noFill/>
          <a:ln w="9525">
            <a:solidFill>
              <a:srgbClr val="BEBEB8"/>
            </a:solidFill>
            <a:prstDash val="solid"/>
          </a:ln>
        </p:spPr>
        <p:txBody>
          <a:bodyPr/>
          <a:lstStyle/>
          <a:p>
            <a:endParaRPr lang="en-DE"/>
          </a:p>
        </p:txBody>
      </p:sp>
      <p:sp>
        <p:nvSpPr>
          <p:cNvPr id="5" name="Rectangle 4">
            <a:extLst>
              <a:ext uri="{FF2B5EF4-FFF2-40B4-BE49-F238E27FC236}">
                <a16:creationId xmlns:a16="http://schemas.microsoft.com/office/drawing/2014/main" id="{03B49A06-6E86-42DC-9B4C-95702BCD702F}"/>
              </a:ext>
            </a:extLst>
          </p:cNvPr>
          <p:cNvSpPr>
            <a:spLocks noGrp="1"/>
          </p:cNvSpPr>
          <p:nvPr/>
        </p:nvSpPr>
        <p:spPr>
          <a:xfrm>
            <a:off x="514350" y="6572250"/>
            <a:ext cx="3619500" cy="171450"/>
          </a:xfrm>
          <a:prstGeom prst="rect">
            <a:avLst/>
          </a:prstGeom>
          <a:noFill/>
          <a:ln w="0">
            <a:noFill/>
            <a:prstDash val="solid"/>
          </a:ln>
        </p:spPr>
        <p:txBody>
          <a:bodyPr/>
          <a:lstStyle/>
          <a:p>
            <a:pPr algn="l">
              <a:defRPr sz="750" b="1">
                <a:solidFill>
                  <a:srgbClr val="555552"/>
                </a:solidFill>
              </a:defRPr>
            </a:pPr>
            <a:r>
              <a:rPr sz="750" b="1">
                <a:solidFill>
                  <a:srgbClr val="555552"/>
                </a:solidFill>
              </a:rPr>
              <a:t>VIKTOR ROUTER / TUM.AI 2026</a:t>
            </a:r>
          </a:p>
        </p:txBody>
      </p:sp>
      <p:sp>
        <p:nvSpPr>
          <p:cNvPr id="6" name="Rectangle 5">
            <a:extLst>
              <a:ext uri="{FF2B5EF4-FFF2-40B4-BE49-F238E27FC236}">
                <a16:creationId xmlns:a16="http://schemas.microsoft.com/office/drawing/2014/main" id="{0318089F-B5AF-4B29-83C1-2362D05F4EF0}"/>
              </a:ext>
            </a:extLst>
          </p:cNvPr>
          <p:cNvSpPr>
            <a:spLocks noGrp="1"/>
          </p:cNvSpPr>
          <p:nvPr/>
        </p:nvSpPr>
        <p:spPr>
          <a:xfrm>
            <a:off x="10191750" y="6572250"/>
            <a:ext cx="1485900" cy="171450"/>
          </a:xfrm>
          <a:prstGeom prst="rect">
            <a:avLst/>
          </a:prstGeom>
          <a:noFill/>
          <a:ln w="0">
            <a:noFill/>
            <a:prstDash val="solid"/>
          </a:ln>
        </p:spPr>
        <p:txBody>
          <a:bodyPr/>
          <a:lstStyle/>
          <a:p>
            <a:pPr algn="r">
              <a:defRPr sz="750" b="1">
                <a:solidFill>
                  <a:srgbClr val="555552"/>
                </a:solidFill>
              </a:defRPr>
            </a:pPr>
            <a:r>
              <a:rPr sz="750" b="1">
                <a:solidFill>
                  <a:srgbClr val="555552"/>
                </a:solidFill>
              </a:rPr>
              <a:t>12 / 14</a:t>
            </a:r>
          </a:p>
        </p:txBody>
      </p:sp>
      <p:sp>
        <p:nvSpPr>
          <p:cNvPr id="7" name="slide-title">
            <a:extLst>
              <a:ext uri="{FF2B5EF4-FFF2-40B4-BE49-F238E27FC236}">
                <a16:creationId xmlns:a16="http://schemas.microsoft.com/office/drawing/2014/main" id="{044C8B04-BFC0-4AB1-90F0-D001E079E048}"/>
              </a:ext>
            </a:extLst>
          </p:cNvPr>
          <p:cNvSpPr>
            <a:spLocks noGrp="1"/>
          </p:cNvSpPr>
          <p:nvPr/>
        </p:nvSpPr>
        <p:spPr>
          <a:xfrm>
            <a:off x="514350" y="704850"/>
            <a:ext cx="11163300" cy="685800"/>
          </a:xfrm>
          <a:prstGeom prst="rect">
            <a:avLst/>
          </a:prstGeom>
          <a:noFill/>
          <a:ln w="0">
            <a:noFill/>
            <a:prstDash val="solid"/>
          </a:ln>
        </p:spPr>
        <p:txBody>
          <a:bodyPr/>
          <a:lstStyle/>
          <a:p>
            <a:pPr algn="l">
              <a:defRPr sz="3000" b="1">
                <a:solidFill>
                  <a:srgbClr val="0B0B0B"/>
                </a:solidFill>
              </a:defRPr>
            </a:pPr>
            <a:r>
              <a:rPr sz="3000" b="1">
                <a:solidFill>
                  <a:srgbClr val="0B0B0B"/>
                </a:solidFill>
              </a:rPr>
              <a:t>Only 17 Luna outcomes support its apparent upside.</a:t>
            </a:r>
          </a:p>
        </p:txBody>
      </p:sp>
      <p:sp>
        <p:nvSpPr>
          <p:cNvPr id="8" name="slide-subtitle">
            <a:extLst>
              <a:ext uri="{FF2B5EF4-FFF2-40B4-BE49-F238E27FC236}">
                <a16:creationId xmlns:a16="http://schemas.microsoft.com/office/drawing/2014/main" id="{61694218-159F-4C1C-A061-0AE96B4A671B}"/>
              </a:ext>
            </a:extLst>
          </p:cNvPr>
          <p:cNvSpPr>
            <a:spLocks noGrp="1"/>
          </p:cNvSpPr>
          <p:nvPr/>
        </p:nvSpPr>
        <p:spPr>
          <a:xfrm>
            <a:off x="533400" y="1371600"/>
            <a:ext cx="10668000" cy="342900"/>
          </a:xfrm>
          <a:prstGeom prst="rect">
            <a:avLst/>
          </a:prstGeom>
          <a:noFill/>
          <a:ln w="0">
            <a:noFill/>
            <a:prstDash val="solid"/>
          </a:ln>
        </p:spPr>
        <p:txBody>
          <a:bodyPr/>
          <a:lstStyle/>
          <a:p>
            <a:pPr algn="l">
              <a:defRPr sz="1350" b="0">
                <a:solidFill>
                  <a:srgbClr val="555552"/>
                </a:solidFill>
              </a:defRPr>
            </a:pPr>
            <a:r>
              <a:rPr sz="1350" b="0">
                <a:solidFill>
                  <a:srgbClr val="555552"/>
                </a:solidFill>
              </a:rPr>
              <a:t>Logged assignment is highly uneven. Frequency shows coverage; capability is estimated separately.</a:t>
            </a:r>
          </a:p>
        </p:txBody>
      </p:sp>
      <p:sp>
        <p:nvSpPr>
          <p:cNvPr id="9" name="Rectangle 8">
            <a:extLst>
              <a:ext uri="{FF2B5EF4-FFF2-40B4-BE49-F238E27FC236}">
                <a16:creationId xmlns:a16="http://schemas.microsoft.com/office/drawing/2014/main" id="{84D8A3BF-3337-4A0A-A8D3-CCADF9A5B171}"/>
              </a:ext>
            </a:extLst>
          </p:cNvPr>
          <p:cNvSpPr>
            <a:spLocks noGrp="1"/>
          </p:cNvSpPr>
          <p:nvPr/>
        </p:nvSpPr>
        <p:spPr>
          <a:xfrm>
            <a:off x="552450" y="1866900"/>
            <a:ext cx="6000750" cy="228600"/>
          </a:xfrm>
          <a:prstGeom prst="rect">
            <a:avLst/>
          </a:prstGeom>
          <a:noFill/>
          <a:ln w="0">
            <a:noFill/>
            <a:prstDash val="solid"/>
          </a:ln>
        </p:spPr>
        <p:txBody>
          <a:bodyPr/>
          <a:lstStyle/>
          <a:p>
            <a:pPr algn="l">
              <a:defRPr sz="975" b="1">
                <a:solidFill>
                  <a:srgbClr val="555552"/>
                </a:solidFill>
              </a:defRPr>
            </a:pPr>
            <a:r>
              <a:rPr sz="975" b="1">
                <a:solidFill>
                  <a:srgbClr val="555552"/>
                </a:solidFill>
              </a:rPr>
              <a:t>LOGGED TRAJECTORIES / CHUNK 01 / 991 USABLE</a:t>
            </a:r>
          </a:p>
        </p:txBody>
      </p:sp>
      <p:graphicFrame>
        <p:nvGraphicFramePr>
          <p:cNvPr id="27" name="Chart"/>
          <p:cNvGraphicFramePr/>
          <p:nvPr/>
        </p:nvGraphicFramePr>
        <p:xfrm>
          <a:off x="419100" y="2114550"/>
          <a:ext cx="7239000" cy="3886200"/>
        </p:xfrm>
        <a:graphic>
          <a:graphicData uri="http://schemas.openxmlformats.org/drawingml/2006/chart">
            <c:chart xmlns:c="http://schemas.openxmlformats.org/drawingml/2006/chart" xmlns:r="http://schemas.openxmlformats.org/officeDocument/2006/relationships" r:id="rId3"/>
          </a:graphicData>
        </a:graphic>
      </p:graphicFrame>
      <p:sp>
        <p:nvSpPr>
          <p:cNvPr id="11" name="Rounded Rectangle 10">
            <a:extLst>
              <a:ext uri="{FF2B5EF4-FFF2-40B4-BE49-F238E27FC236}">
                <a16:creationId xmlns:a16="http://schemas.microsoft.com/office/drawing/2014/main" id="{0D59110B-67BD-43FC-AE86-5FA25818B7EB}"/>
              </a:ext>
            </a:extLst>
          </p:cNvPr>
          <p:cNvSpPr>
            <a:spLocks noGrp="1"/>
          </p:cNvSpPr>
          <p:nvPr/>
        </p:nvSpPr>
        <p:spPr>
          <a:xfrm>
            <a:off x="8096250" y="2095500"/>
            <a:ext cx="3543300" cy="3295650"/>
          </a:xfrm>
          <a:prstGeom prst="roundRect">
            <a:avLst>
              <a:gd name="adj" fmla="val 1734"/>
            </a:avLst>
          </a:prstGeom>
          <a:solidFill>
            <a:srgbClr val="0B0B0B"/>
          </a:solidFill>
          <a:ln w="9525">
            <a:solidFill>
              <a:srgbClr val="0B0B0B"/>
            </a:solidFill>
            <a:prstDash val="solid"/>
          </a:ln>
        </p:spPr>
        <p:txBody>
          <a:bodyPr/>
          <a:lstStyle/>
          <a:p>
            <a:endParaRPr lang="en-DE"/>
          </a:p>
        </p:txBody>
      </p:sp>
      <p:sp>
        <p:nvSpPr>
          <p:cNvPr id="12" name="Rectangle 11">
            <a:extLst>
              <a:ext uri="{FF2B5EF4-FFF2-40B4-BE49-F238E27FC236}">
                <a16:creationId xmlns:a16="http://schemas.microsoft.com/office/drawing/2014/main" id="{D890D49F-61CB-4142-9220-B479A855FCDE}"/>
              </a:ext>
            </a:extLst>
          </p:cNvPr>
          <p:cNvSpPr>
            <a:spLocks noGrp="1"/>
          </p:cNvSpPr>
          <p:nvPr/>
        </p:nvSpPr>
        <p:spPr>
          <a:xfrm>
            <a:off x="8362950" y="2362200"/>
            <a:ext cx="2381250" cy="228600"/>
          </a:xfrm>
          <a:prstGeom prst="rect">
            <a:avLst/>
          </a:prstGeom>
          <a:noFill/>
          <a:ln w="0">
            <a:noFill/>
            <a:prstDash val="solid"/>
          </a:ln>
        </p:spPr>
        <p:txBody>
          <a:bodyPr/>
          <a:lstStyle/>
          <a:p>
            <a:pPr algn="l">
              <a:defRPr sz="975" b="1">
                <a:solidFill>
                  <a:srgbClr val="9B9B96"/>
                </a:solidFill>
              </a:defRPr>
            </a:pPr>
            <a:r>
              <a:rPr sz="975" b="1">
                <a:solidFill>
                  <a:srgbClr val="9B9B96"/>
                </a:solidFill>
              </a:rPr>
              <a:t>LUNA COVERAGE</a:t>
            </a:r>
          </a:p>
        </p:txBody>
      </p:sp>
      <p:sp>
        <p:nvSpPr>
          <p:cNvPr id="13" name="Rectangle 12">
            <a:extLst>
              <a:ext uri="{FF2B5EF4-FFF2-40B4-BE49-F238E27FC236}">
                <a16:creationId xmlns:a16="http://schemas.microsoft.com/office/drawing/2014/main" id="{0B555982-89B0-4DAA-9BFD-44726BCEEC03}"/>
              </a:ext>
            </a:extLst>
          </p:cNvPr>
          <p:cNvSpPr>
            <a:spLocks noGrp="1"/>
          </p:cNvSpPr>
          <p:nvPr/>
        </p:nvSpPr>
        <p:spPr>
          <a:xfrm>
            <a:off x="8362950" y="2762250"/>
            <a:ext cx="2724150" cy="476250"/>
          </a:xfrm>
          <a:prstGeom prst="rect">
            <a:avLst/>
          </a:prstGeom>
          <a:noFill/>
          <a:ln w="0">
            <a:noFill/>
            <a:prstDash val="solid"/>
          </a:ln>
        </p:spPr>
        <p:txBody>
          <a:bodyPr/>
          <a:lstStyle/>
          <a:p>
            <a:pPr algn="l">
              <a:defRPr sz="2925" b="1">
                <a:solidFill>
                  <a:srgbClr val="F4F4F2"/>
                </a:solidFill>
              </a:defRPr>
            </a:pPr>
            <a:r>
              <a:rPr sz="2925" b="1">
                <a:solidFill>
                  <a:srgbClr val="F4F4F2"/>
                </a:solidFill>
              </a:rPr>
              <a:t>17 / 991</a:t>
            </a:r>
          </a:p>
        </p:txBody>
      </p:sp>
      <p:sp>
        <p:nvSpPr>
          <p:cNvPr id="14" name="Rectangle 13">
            <a:extLst>
              <a:ext uri="{FF2B5EF4-FFF2-40B4-BE49-F238E27FC236}">
                <a16:creationId xmlns:a16="http://schemas.microsoft.com/office/drawing/2014/main" id="{3B2F1A61-485F-42D0-82C5-AFD0102CF63F}"/>
              </a:ext>
            </a:extLst>
          </p:cNvPr>
          <p:cNvSpPr>
            <a:spLocks noGrp="1"/>
          </p:cNvSpPr>
          <p:nvPr/>
        </p:nvSpPr>
        <p:spPr>
          <a:xfrm>
            <a:off x="8362950" y="3238500"/>
            <a:ext cx="2724150" cy="285750"/>
          </a:xfrm>
          <a:prstGeom prst="rect">
            <a:avLst/>
          </a:prstGeom>
          <a:noFill/>
          <a:ln w="0">
            <a:noFill/>
            <a:prstDash val="solid"/>
          </a:ln>
        </p:spPr>
        <p:txBody>
          <a:bodyPr/>
          <a:lstStyle/>
          <a:p>
            <a:pPr algn="l">
              <a:defRPr sz="1350" b="0">
                <a:solidFill>
                  <a:srgbClr val="D6D6D2"/>
                </a:solidFill>
              </a:defRPr>
            </a:pPr>
            <a:r>
              <a:rPr sz="1350" b="0">
                <a:solidFill>
                  <a:srgbClr val="D6D6D2"/>
                </a:solidFill>
              </a:rPr>
              <a:t>1.7% of factual outcomes</a:t>
            </a:r>
          </a:p>
        </p:txBody>
      </p:sp>
      <p:sp>
        <p:nvSpPr>
          <p:cNvPr id="15" name="Straight Connector 14">
            <a:extLst>
              <a:ext uri="{FF2B5EF4-FFF2-40B4-BE49-F238E27FC236}">
                <a16:creationId xmlns:a16="http://schemas.microsoft.com/office/drawing/2014/main" id="{5A1C3A0F-EA04-49B7-9AC0-25257560637D}"/>
              </a:ext>
            </a:extLst>
          </p:cNvPr>
          <p:cNvSpPr>
            <a:spLocks noGrp="1"/>
          </p:cNvSpPr>
          <p:nvPr/>
        </p:nvSpPr>
        <p:spPr>
          <a:xfrm>
            <a:off x="8362950" y="3752850"/>
            <a:ext cx="2762250" cy="0"/>
          </a:xfrm>
          <a:prstGeom prst="line">
            <a:avLst/>
          </a:prstGeom>
          <a:noFill/>
          <a:ln w="9525">
            <a:solidFill>
              <a:srgbClr val="555552"/>
            </a:solidFill>
            <a:prstDash val="solid"/>
          </a:ln>
        </p:spPr>
        <p:txBody>
          <a:bodyPr/>
          <a:lstStyle/>
          <a:p>
            <a:endParaRPr lang="en-DE"/>
          </a:p>
        </p:txBody>
      </p:sp>
      <p:sp>
        <p:nvSpPr>
          <p:cNvPr id="16" name="Rectangle 15">
            <a:extLst>
              <a:ext uri="{FF2B5EF4-FFF2-40B4-BE49-F238E27FC236}">
                <a16:creationId xmlns:a16="http://schemas.microsoft.com/office/drawing/2014/main" id="{CDC87169-7956-4698-9B55-9ADB3E08A59E}"/>
              </a:ext>
            </a:extLst>
          </p:cNvPr>
          <p:cNvSpPr>
            <a:spLocks noGrp="1"/>
          </p:cNvSpPr>
          <p:nvPr/>
        </p:nvSpPr>
        <p:spPr>
          <a:xfrm>
            <a:off x="8362950" y="4000500"/>
            <a:ext cx="2762250" cy="876300"/>
          </a:xfrm>
          <a:prstGeom prst="rect">
            <a:avLst/>
          </a:prstGeom>
          <a:noFill/>
          <a:ln w="0">
            <a:noFill/>
            <a:prstDash val="solid"/>
          </a:ln>
        </p:spPr>
        <p:txBody>
          <a:bodyPr/>
          <a:lstStyle/>
          <a:p>
            <a:pPr algn="l">
              <a:defRPr sz="1350" b="1">
                <a:solidFill>
                  <a:srgbClr val="F4F4F2"/>
                </a:solidFill>
              </a:defRPr>
            </a:pPr>
            <a:r>
              <a:rPr sz="1350" b="1">
                <a:solidFill>
                  <a:srgbClr val="F4F4F2"/>
                </a:solidFill>
              </a:rPr>
              <a:t>The 81.9% sensitivity case swaps the assumed Sol/Luna priors. Quality for an all-Luna policy remains untested.</a:t>
            </a:r>
          </a:p>
        </p:txBody>
      </p:sp>
      <p:sp>
        <p:nvSpPr>
          <p:cNvPr id="17" name="Rectangle 16">
            <a:extLst>
              <a:ext uri="{FF2B5EF4-FFF2-40B4-BE49-F238E27FC236}">
                <a16:creationId xmlns:a16="http://schemas.microsoft.com/office/drawing/2014/main" id="{073C56CA-6ED1-4D9B-828D-2DB61D044628}"/>
              </a:ext>
            </a:extLst>
          </p:cNvPr>
          <p:cNvSpPr>
            <a:spLocks noGrp="1"/>
          </p:cNvSpPr>
          <p:nvPr/>
        </p:nvSpPr>
        <p:spPr>
          <a:xfrm>
            <a:off x="8096250" y="5638800"/>
            <a:ext cx="3543300" cy="628650"/>
          </a:xfrm>
          <a:prstGeom prst="rect">
            <a:avLst/>
          </a:prstGeom>
          <a:noFill/>
          <a:ln w="0">
            <a:noFill/>
            <a:prstDash val="solid"/>
          </a:ln>
        </p:spPr>
        <p:txBody>
          <a:bodyPr/>
          <a:lstStyle/>
          <a:p>
            <a:pPr algn="l">
              <a:defRPr sz="1275" b="1">
                <a:solidFill>
                  <a:srgbClr val="0B0B0B"/>
                </a:solidFill>
              </a:defRPr>
            </a:pPr>
            <a:r>
              <a:rPr sz="1275" b="1">
                <a:solidFill>
                  <a:srgbClr val="0B0B0B"/>
                </a:solidFill>
              </a:rPr>
              <a:t>Implication: use Luna only where overlap supports its predicted quality—or collect new controlled evidence.</a:t>
            </a:r>
          </a:p>
        </p:txBody>
      </p:sp>
    </p:spTree>
    <p:extLst>
      <p:ext uri="{BB962C8B-B14F-4D97-AF65-F5344CB8AC3E}">
        <p14:creationId xmlns:p14="http://schemas.microsoft.com/office/powerpoint/2010/main" val="1825828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4F2"/>
        </a:solidFill>
        <a:effectLst/>
      </p:bgPr>
    </p:bg>
    <p:spTree>
      <p:nvGrpSpPr>
        <p:cNvPr id="1" name=""/>
        <p:cNvGrpSpPr/>
        <p:nvPr/>
      </p:nvGrpSpPr>
      <p:grpSpPr>
        <a:xfrm>
          <a:off x="0" y="0"/>
          <a:ext cx="0" cy="0"/>
          <a:chOff x="0" y="0"/>
          <a:chExt cx="0" cy="0"/>
        </a:xfrm>
      </p:grpSpPr>
      <p:sp>
        <p:nvSpPr>
          <p:cNvPr id="21" name="page-13">
            <a:extLst>
              <a:ext uri="{FF2B5EF4-FFF2-40B4-BE49-F238E27FC236}">
                <a16:creationId xmlns:a16="http://schemas.microsoft.com/office/drawing/2014/main" id="{DD40A222-15F8-44F7-B2BA-84530F2D7891}"/>
              </a:ext>
            </a:extLst>
          </p:cNvPr>
          <p:cNvSpPr>
            <a:spLocks noGrp="1"/>
          </p:cNvSpPr>
          <p:nvPr/>
        </p:nvSpPr>
        <p:spPr>
          <a:xfrm>
            <a:off x="514350" y="285750"/>
            <a:ext cx="400050" cy="209550"/>
          </a:xfrm>
          <a:prstGeom prst="rect">
            <a:avLst/>
          </a:prstGeom>
          <a:noFill/>
          <a:ln w="0">
            <a:noFill/>
            <a:prstDash val="solid"/>
          </a:ln>
        </p:spPr>
        <p:txBody>
          <a:bodyPr/>
          <a:lstStyle/>
          <a:p>
            <a:pPr algn="l">
              <a:defRPr sz="900" b="1">
                <a:solidFill>
                  <a:srgbClr val="555552"/>
                </a:solidFill>
              </a:defRPr>
            </a:pPr>
            <a:r>
              <a:rPr sz="900" b="1">
                <a:solidFill>
                  <a:srgbClr val="555552"/>
                </a:solidFill>
              </a:rPr>
              <a:t>13</a:t>
            </a:r>
          </a:p>
        </p:txBody>
      </p:sp>
      <p:sp>
        <p:nvSpPr>
          <p:cNvPr id="2" name="Straight Connector 1">
            <a:extLst>
              <a:ext uri="{FF2B5EF4-FFF2-40B4-BE49-F238E27FC236}">
                <a16:creationId xmlns:a16="http://schemas.microsoft.com/office/drawing/2014/main" id="{383B6FE3-5944-4190-B745-7486FBEC77AB}"/>
              </a:ext>
            </a:extLst>
          </p:cNvPr>
          <p:cNvSpPr>
            <a:spLocks noGrp="1"/>
          </p:cNvSpPr>
          <p:nvPr/>
        </p:nvSpPr>
        <p:spPr>
          <a:xfrm>
            <a:off x="1009650" y="381000"/>
            <a:ext cx="476250" cy="0"/>
          </a:xfrm>
          <a:prstGeom prst="line">
            <a:avLst/>
          </a:prstGeom>
          <a:noFill/>
          <a:ln w="19050">
            <a:solidFill>
              <a:srgbClr val="555552"/>
            </a:solidFill>
            <a:prstDash val="solid"/>
          </a:ln>
        </p:spPr>
        <p:txBody>
          <a:bodyPr/>
          <a:lstStyle/>
          <a:p>
            <a:endParaRPr lang="en-DE"/>
          </a:p>
        </p:txBody>
      </p:sp>
      <p:sp>
        <p:nvSpPr>
          <p:cNvPr id="3" name="section-13">
            <a:extLst>
              <a:ext uri="{FF2B5EF4-FFF2-40B4-BE49-F238E27FC236}">
                <a16:creationId xmlns:a16="http://schemas.microsoft.com/office/drawing/2014/main" id="{0E2DF708-C947-43F5-B401-FB4450DE14B2}"/>
              </a:ext>
            </a:extLst>
          </p:cNvPr>
          <p:cNvSpPr>
            <a:spLocks noGrp="1"/>
          </p:cNvSpPr>
          <p:nvPr/>
        </p:nvSpPr>
        <p:spPr>
          <a:xfrm>
            <a:off x="1676400" y="285750"/>
            <a:ext cx="4000500" cy="228600"/>
          </a:xfrm>
          <a:prstGeom prst="rect">
            <a:avLst/>
          </a:prstGeom>
          <a:noFill/>
          <a:ln w="0">
            <a:noFill/>
            <a:prstDash val="solid"/>
          </a:ln>
        </p:spPr>
        <p:txBody>
          <a:bodyPr/>
          <a:lstStyle/>
          <a:p>
            <a:pPr algn="l">
              <a:defRPr sz="900" b="1">
                <a:solidFill>
                  <a:srgbClr val="555552"/>
                </a:solidFill>
              </a:defRPr>
            </a:pPr>
            <a:r>
              <a:rPr sz="900" b="1">
                <a:solidFill>
                  <a:srgbClr val="555552"/>
                </a:solidFill>
              </a:rPr>
              <a:t>KNOWN WEAKNESS</a:t>
            </a:r>
          </a:p>
        </p:txBody>
      </p:sp>
      <p:sp>
        <p:nvSpPr>
          <p:cNvPr id="4" name="Straight Connector 3">
            <a:extLst>
              <a:ext uri="{FF2B5EF4-FFF2-40B4-BE49-F238E27FC236}">
                <a16:creationId xmlns:a16="http://schemas.microsoft.com/office/drawing/2014/main" id="{4F2E9E54-6581-4BB0-94D2-5915DD346D63}"/>
              </a:ext>
            </a:extLst>
          </p:cNvPr>
          <p:cNvSpPr>
            <a:spLocks noGrp="1"/>
          </p:cNvSpPr>
          <p:nvPr/>
        </p:nvSpPr>
        <p:spPr>
          <a:xfrm>
            <a:off x="514350" y="6496050"/>
            <a:ext cx="11163300" cy="0"/>
          </a:xfrm>
          <a:prstGeom prst="line">
            <a:avLst/>
          </a:prstGeom>
          <a:noFill/>
          <a:ln w="9525">
            <a:solidFill>
              <a:srgbClr val="BEBEB8"/>
            </a:solidFill>
            <a:prstDash val="solid"/>
          </a:ln>
        </p:spPr>
        <p:txBody>
          <a:bodyPr/>
          <a:lstStyle/>
          <a:p>
            <a:endParaRPr lang="en-DE"/>
          </a:p>
        </p:txBody>
      </p:sp>
      <p:sp>
        <p:nvSpPr>
          <p:cNvPr id="5" name="Rectangle 4">
            <a:extLst>
              <a:ext uri="{FF2B5EF4-FFF2-40B4-BE49-F238E27FC236}">
                <a16:creationId xmlns:a16="http://schemas.microsoft.com/office/drawing/2014/main" id="{1FA19B7C-0517-4466-A7B3-E89C2BF55DBD}"/>
              </a:ext>
            </a:extLst>
          </p:cNvPr>
          <p:cNvSpPr>
            <a:spLocks noGrp="1"/>
          </p:cNvSpPr>
          <p:nvPr/>
        </p:nvSpPr>
        <p:spPr>
          <a:xfrm>
            <a:off x="514350" y="6572250"/>
            <a:ext cx="3619500" cy="171450"/>
          </a:xfrm>
          <a:prstGeom prst="rect">
            <a:avLst/>
          </a:prstGeom>
          <a:noFill/>
          <a:ln w="0">
            <a:noFill/>
            <a:prstDash val="solid"/>
          </a:ln>
        </p:spPr>
        <p:txBody>
          <a:bodyPr/>
          <a:lstStyle/>
          <a:p>
            <a:pPr algn="l">
              <a:defRPr sz="750" b="1">
                <a:solidFill>
                  <a:srgbClr val="555552"/>
                </a:solidFill>
              </a:defRPr>
            </a:pPr>
            <a:r>
              <a:rPr sz="750" b="1">
                <a:solidFill>
                  <a:srgbClr val="555552"/>
                </a:solidFill>
              </a:rPr>
              <a:t>VIKTOR ROUTER / TUM.AI 2026</a:t>
            </a:r>
          </a:p>
        </p:txBody>
      </p:sp>
      <p:sp>
        <p:nvSpPr>
          <p:cNvPr id="6" name="Rectangle 5">
            <a:extLst>
              <a:ext uri="{FF2B5EF4-FFF2-40B4-BE49-F238E27FC236}">
                <a16:creationId xmlns:a16="http://schemas.microsoft.com/office/drawing/2014/main" id="{0C63C4B4-7C4A-46E4-8836-A5C3E059B695}"/>
              </a:ext>
            </a:extLst>
          </p:cNvPr>
          <p:cNvSpPr>
            <a:spLocks noGrp="1"/>
          </p:cNvSpPr>
          <p:nvPr/>
        </p:nvSpPr>
        <p:spPr>
          <a:xfrm>
            <a:off x="10191750" y="6572250"/>
            <a:ext cx="1485900" cy="171450"/>
          </a:xfrm>
          <a:prstGeom prst="rect">
            <a:avLst/>
          </a:prstGeom>
          <a:noFill/>
          <a:ln w="0">
            <a:noFill/>
            <a:prstDash val="solid"/>
          </a:ln>
        </p:spPr>
        <p:txBody>
          <a:bodyPr/>
          <a:lstStyle/>
          <a:p>
            <a:pPr algn="r">
              <a:defRPr sz="750" b="1">
                <a:solidFill>
                  <a:srgbClr val="555552"/>
                </a:solidFill>
              </a:defRPr>
            </a:pPr>
            <a:r>
              <a:rPr sz="750" b="1">
                <a:solidFill>
                  <a:srgbClr val="555552"/>
                </a:solidFill>
              </a:rPr>
              <a:t>13 / 14</a:t>
            </a:r>
          </a:p>
        </p:txBody>
      </p:sp>
      <p:sp>
        <p:nvSpPr>
          <p:cNvPr id="7" name="slide-title">
            <a:extLst>
              <a:ext uri="{FF2B5EF4-FFF2-40B4-BE49-F238E27FC236}">
                <a16:creationId xmlns:a16="http://schemas.microsoft.com/office/drawing/2014/main" id="{2862D809-899E-477F-8F02-167D2370927D}"/>
              </a:ext>
            </a:extLst>
          </p:cNvPr>
          <p:cNvSpPr>
            <a:spLocks noGrp="1"/>
          </p:cNvSpPr>
          <p:nvPr/>
        </p:nvSpPr>
        <p:spPr>
          <a:xfrm>
            <a:off x="514350" y="704850"/>
            <a:ext cx="11163300" cy="685800"/>
          </a:xfrm>
          <a:prstGeom prst="rect">
            <a:avLst/>
          </a:prstGeom>
          <a:noFill/>
          <a:ln w="0">
            <a:noFill/>
            <a:prstDash val="solid"/>
          </a:ln>
        </p:spPr>
        <p:txBody>
          <a:bodyPr/>
          <a:lstStyle/>
          <a:p>
            <a:pPr algn="l">
              <a:defRPr sz="3000" b="1">
                <a:solidFill>
                  <a:srgbClr val="0B0B0B"/>
                </a:solidFill>
              </a:defRPr>
            </a:pPr>
            <a:r>
              <a:rPr sz="3000" b="1">
                <a:solidFill>
                  <a:srgbClr val="0B0B0B"/>
                </a:solidFill>
              </a:rPr>
              <a:t>The support gate protects quality and limits exploration.</a:t>
            </a:r>
          </a:p>
        </p:txBody>
      </p:sp>
      <p:sp>
        <p:nvSpPr>
          <p:cNvPr id="8" name="slide-subtitle">
            <a:extLst>
              <a:ext uri="{FF2B5EF4-FFF2-40B4-BE49-F238E27FC236}">
                <a16:creationId xmlns:a16="http://schemas.microsoft.com/office/drawing/2014/main" id="{EAA8A718-26BA-4F20-A825-94A1F805B754}"/>
              </a:ext>
            </a:extLst>
          </p:cNvPr>
          <p:cNvSpPr>
            <a:spLocks noGrp="1"/>
          </p:cNvSpPr>
          <p:nvPr/>
        </p:nvSpPr>
        <p:spPr>
          <a:xfrm>
            <a:off x="533400" y="1371600"/>
            <a:ext cx="10668000" cy="342900"/>
          </a:xfrm>
          <a:prstGeom prst="rect">
            <a:avLst/>
          </a:prstGeom>
          <a:noFill/>
          <a:ln w="0">
            <a:noFill/>
            <a:prstDash val="solid"/>
          </a:ln>
        </p:spPr>
        <p:txBody>
          <a:bodyPr/>
          <a:lstStyle/>
          <a:p>
            <a:pPr algn="l">
              <a:defRPr sz="1350" b="0">
                <a:solidFill>
                  <a:srgbClr val="555552"/>
                </a:solidFill>
              </a:defRPr>
            </a:pPr>
            <a:r>
              <a:rPr sz="1350" b="0">
                <a:solidFill>
                  <a:srgbClr val="555552"/>
                </a:solidFill>
              </a:rPr>
              <a:t>Rarely used models carry wider uncertainty for similar tasks.</a:t>
            </a:r>
          </a:p>
        </p:txBody>
      </p:sp>
      <p:sp>
        <p:nvSpPr>
          <p:cNvPr id="9" name="Rounded Rectangle 8">
            <a:extLst>
              <a:ext uri="{FF2B5EF4-FFF2-40B4-BE49-F238E27FC236}">
                <a16:creationId xmlns:a16="http://schemas.microsoft.com/office/drawing/2014/main" id="{512A698C-E38F-47EF-AA97-97703368F491}"/>
              </a:ext>
            </a:extLst>
          </p:cNvPr>
          <p:cNvSpPr>
            <a:spLocks noGrp="1"/>
          </p:cNvSpPr>
          <p:nvPr/>
        </p:nvSpPr>
        <p:spPr>
          <a:xfrm>
            <a:off x="552450" y="2095500"/>
            <a:ext cx="5105400" cy="3143250"/>
          </a:xfrm>
          <a:prstGeom prst="roundRect">
            <a:avLst>
              <a:gd name="adj" fmla="val 1818"/>
            </a:avLst>
          </a:prstGeom>
          <a:solidFill>
            <a:srgbClr val="0B0B0B"/>
          </a:solidFill>
          <a:ln w="9525">
            <a:solidFill>
              <a:srgbClr val="0B0B0B"/>
            </a:solidFill>
            <a:prstDash val="solid"/>
          </a:ln>
        </p:spPr>
        <p:txBody>
          <a:bodyPr/>
          <a:lstStyle/>
          <a:p>
            <a:endParaRPr lang="en-DE"/>
          </a:p>
        </p:txBody>
      </p:sp>
      <p:sp>
        <p:nvSpPr>
          <p:cNvPr id="10" name="Rounded Rectangle 9">
            <a:extLst>
              <a:ext uri="{FF2B5EF4-FFF2-40B4-BE49-F238E27FC236}">
                <a16:creationId xmlns:a16="http://schemas.microsoft.com/office/drawing/2014/main" id="{EBB590FE-2B21-447B-9A79-3D65574552FB}"/>
              </a:ext>
            </a:extLst>
          </p:cNvPr>
          <p:cNvSpPr>
            <a:spLocks noGrp="1"/>
          </p:cNvSpPr>
          <p:nvPr/>
        </p:nvSpPr>
        <p:spPr>
          <a:xfrm>
            <a:off x="5962650" y="2095500"/>
            <a:ext cx="5676900" cy="3143250"/>
          </a:xfrm>
          <a:prstGeom prst="roundRect">
            <a:avLst>
              <a:gd name="adj" fmla="val 1818"/>
            </a:avLst>
          </a:prstGeom>
          <a:solidFill>
            <a:srgbClr val="EEEEEA"/>
          </a:solidFill>
          <a:ln w="9525">
            <a:solidFill>
              <a:srgbClr val="A4A49F"/>
            </a:solidFill>
            <a:prstDash val="solid"/>
          </a:ln>
        </p:spPr>
        <p:txBody>
          <a:bodyPr/>
          <a:lstStyle/>
          <a:p>
            <a:endParaRPr lang="en-DE"/>
          </a:p>
        </p:txBody>
      </p:sp>
      <p:sp>
        <p:nvSpPr>
          <p:cNvPr id="11" name="Rectangle 10">
            <a:extLst>
              <a:ext uri="{FF2B5EF4-FFF2-40B4-BE49-F238E27FC236}">
                <a16:creationId xmlns:a16="http://schemas.microsoft.com/office/drawing/2014/main" id="{0D5DCBCC-90CF-4BB4-BFD7-17394627073D}"/>
              </a:ext>
            </a:extLst>
          </p:cNvPr>
          <p:cNvSpPr>
            <a:spLocks noGrp="1"/>
          </p:cNvSpPr>
          <p:nvPr/>
        </p:nvSpPr>
        <p:spPr>
          <a:xfrm>
            <a:off x="800100" y="2324100"/>
            <a:ext cx="2095500" cy="228600"/>
          </a:xfrm>
          <a:prstGeom prst="rect">
            <a:avLst/>
          </a:prstGeom>
          <a:noFill/>
          <a:ln w="0">
            <a:noFill/>
            <a:prstDash val="solid"/>
          </a:ln>
        </p:spPr>
        <p:txBody>
          <a:bodyPr/>
          <a:lstStyle/>
          <a:p>
            <a:pPr algn="l">
              <a:defRPr sz="975" b="1">
                <a:solidFill>
                  <a:srgbClr val="9B9B96"/>
                </a:solidFill>
              </a:defRPr>
            </a:pPr>
            <a:r>
              <a:rPr sz="975" b="1">
                <a:solidFill>
                  <a:srgbClr val="9B9B96"/>
                </a:solidFill>
              </a:rPr>
              <a:t>PROTECTION</a:t>
            </a:r>
          </a:p>
        </p:txBody>
      </p:sp>
      <p:sp>
        <p:nvSpPr>
          <p:cNvPr id="12" name="Rectangle 11">
            <a:extLst>
              <a:ext uri="{FF2B5EF4-FFF2-40B4-BE49-F238E27FC236}">
                <a16:creationId xmlns:a16="http://schemas.microsoft.com/office/drawing/2014/main" id="{67D5C923-4A3D-4905-84F3-F44E5A6DCE6B}"/>
              </a:ext>
            </a:extLst>
          </p:cNvPr>
          <p:cNvSpPr>
            <a:spLocks noGrp="1"/>
          </p:cNvSpPr>
          <p:nvPr/>
        </p:nvSpPr>
        <p:spPr>
          <a:xfrm>
            <a:off x="800100" y="2800350"/>
            <a:ext cx="4286250" cy="819150"/>
          </a:xfrm>
          <a:prstGeom prst="rect">
            <a:avLst/>
          </a:prstGeom>
          <a:noFill/>
          <a:ln w="0">
            <a:noFill/>
            <a:prstDash val="solid"/>
          </a:ln>
        </p:spPr>
        <p:txBody>
          <a:bodyPr/>
          <a:lstStyle/>
          <a:p>
            <a:pPr algn="l">
              <a:defRPr sz="2325" b="1">
                <a:solidFill>
                  <a:srgbClr val="F4F4F2"/>
                </a:solidFill>
              </a:defRPr>
            </a:pPr>
            <a:r>
              <a:rPr sz="2325" b="1">
                <a:solidFill>
                  <a:srgbClr val="F4F4F2"/>
                </a:solidFill>
              </a:rPr>
              <a:t>Unsupported candidates</a:t>
            </a:r>
          </a:p>
          <a:p>
            <a:pPr algn="l">
              <a:defRPr sz="2325" b="1">
                <a:solidFill>
                  <a:srgbClr val="F4F4F2"/>
                </a:solidFill>
              </a:defRPr>
            </a:pPr>
            <a:r>
              <a:rPr sz="2325" b="1">
                <a:solidFill>
                  <a:srgbClr val="F4F4F2"/>
                </a:solidFill>
              </a:rPr>
              <a:t>are filtered out.</a:t>
            </a:r>
          </a:p>
        </p:txBody>
      </p:sp>
      <p:sp>
        <p:nvSpPr>
          <p:cNvPr id="13" name="Rectangle 12">
            <a:extLst>
              <a:ext uri="{FF2B5EF4-FFF2-40B4-BE49-F238E27FC236}">
                <a16:creationId xmlns:a16="http://schemas.microsoft.com/office/drawing/2014/main" id="{40EA332E-0BD4-4DFA-96FA-84FAFC49644C}"/>
              </a:ext>
            </a:extLst>
          </p:cNvPr>
          <p:cNvSpPr>
            <a:spLocks noGrp="1"/>
          </p:cNvSpPr>
          <p:nvPr/>
        </p:nvSpPr>
        <p:spPr>
          <a:xfrm>
            <a:off x="800100" y="3924300"/>
            <a:ext cx="4286250" cy="723900"/>
          </a:xfrm>
          <a:prstGeom prst="rect">
            <a:avLst/>
          </a:prstGeom>
          <a:noFill/>
          <a:ln w="0">
            <a:noFill/>
            <a:prstDash val="solid"/>
          </a:ln>
        </p:spPr>
        <p:txBody>
          <a:bodyPr/>
          <a:lstStyle/>
          <a:p>
            <a:pPr algn="l">
              <a:defRPr sz="1350" b="0">
                <a:solidFill>
                  <a:srgbClr val="D6D6D2"/>
                </a:solidFill>
              </a:defRPr>
            </a:pPr>
            <a:r>
              <a:rPr sz="1350" b="0">
                <a:solidFill>
                  <a:srgbClr val="D6D6D2"/>
                </a:solidFill>
              </a:rPr>
              <a:t>Sparse comparable history → candidate excluded.</a:t>
            </a:r>
          </a:p>
          <a:p>
            <a:pPr algn="l">
              <a:defRPr sz="1350" b="0">
                <a:solidFill>
                  <a:srgbClr val="D6D6D2"/>
                </a:solidFill>
              </a:defRPr>
            </a:pPr>
            <a:r>
              <a:rPr sz="1350" b="0">
                <a:solidFill>
                  <a:srgbClr val="D6D6D2"/>
                </a:solidFill>
              </a:rPr>
              <a:t>Empty supported set → fixed Sonnet fallback.</a:t>
            </a:r>
          </a:p>
        </p:txBody>
      </p:sp>
      <p:sp>
        <p:nvSpPr>
          <p:cNvPr id="14" name="Rectangle 13">
            <a:extLst>
              <a:ext uri="{FF2B5EF4-FFF2-40B4-BE49-F238E27FC236}">
                <a16:creationId xmlns:a16="http://schemas.microsoft.com/office/drawing/2014/main" id="{223A88E6-7C2C-4DD9-93A2-4F20A9108C7F}"/>
              </a:ext>
            </a:extLst>
          </p:cNvPr>
          <p:cNvSpPr>
            <a:spLocks noGrp="1"/>
          </p:cNvSpPr>
          <p:nvPr/>
        </p:nvSpPr>
        <p:spPr>
          <a:xfrm>
            <a:off x="6229350" y="2324100"/>
            <a:ext cx="2095500" cy="228600"/>
          </a:xfrm>
          <a:prstGeom prst="rect">
            <a:avLst/>
          </a:prstGeom>
          <a:noFill/>
          <a:ln w="0">
            <a:noFill/>
            <a:prstDash val="solid"/>
          </a:ln>
        </p:spPr>
        <p:txBody>
          <a:bodyPr/>
          <a:lstStyle/>
          <a:p>
            <a:pPr algn="l">
              <a:defRPr sz="975" b="1">
                <a:solidFill>
                  <a:srgbClr val="555552"/>
                </a:solidFill>
              </a:defRPr>
            </a:pPr>
            <a:r>
              <a:rPr sz="975" b="1">
                <a:solidFill>
                  <a:srgbClr val="555552"/>
                </a:solidFill>
              </a:rPr>
              <a:t>BLIND SPOT</a:t>
            </a:r>
          </a:p>
        </p:txBody>
      </p:sp>
      <p:sp>
        <p:nvSpPr>
          <p:cNvPr id="15" name="Rectangle 14">
            <a:extLst>
              <a:ext uri="{FF2B5EF4-FFF2-40B4-BE49-F238E27FC236}">
                <a16:creationId xmlns:a16="http://schemas.microsoft.com/office/drawing/2014/main" id="{CE27E32B-0C48-449A-A89B-6D41425D1403}"/>
              </a:ext>
            </a:extLst>
          </p:cNvPr>
          <p:cNvSpPr>
            <a:spLocks noGrp="1"/>
          </p:cNvSpPr>
          <p:nvPr/>
        </p:nvSpPr>
        <p:spPr>
          <a:xfrm>
            <a:off x="6229350" y="2800350"/>
            <a:ext cx="4762500" cy="819150"/>
          </a:xfrm>
          <a:prstGeom prst="rect">
            <a:avLst/>
          </a:prstGeom>
          <a:noFill/>
          <a:ln w="0">
            <a:noFill/>
            <a:prstDash val="solid"/>
          </a:ln>
        </p:spPr>
        <p:txBody>
          <a:bodyPr/>
          <a:lstStyle/>
          <a:p>
            <a:pPr algn="l">
              <a:defRPr sz="2325" b="1">
                <a:solidFill>
                  <a:srgbClr val="0B0B0B"/>
                </a:solidFill>
              </a:defRPr>
            </a:pPr>
            <a:r>
              <a:rPr sz="2325" b="1">
                <a:solidFill>
                  <a:srgbClr val="0B0B0B"/>
                </a:solidFill>
              </a:rPr>
              <a:t>A good model can remain</a:t>
            </a:r>
          </a:p>
          <a:p>
            <a:pPr algn="l">
              <a:defRPr sz="2325" b="1">
                <a:solidFill>
                  <a:srgbClr val="0B0B0B"/>
                </a:solidFill>
              </a:defRPr>
            </a:pPr>
            <a:r>
              <a:rPr sz="2325" b="1">
                <a:solidFill>
                  <a:srgbClr val="0B0B0B"/>
                </a:solidFill>
              </a:rPr>
              <a:t>invisible to the router.</a:t>
            </a:r>
          </a:p>
        </p:txBody>
      </p:sp>
      <p:sp>
        <p:nvSpPr>
          <p:cNvPr id="16" name="Rectangle 15">
            <a:extLst>
              <a:ext uri="{FF2B5EF4-FFF2-40B4-BE49-F238E27FC236}">
                <a16:creationId xmlns:a16="http://schemas.microsoft.com/office/drawing/2014/main" id="{85DE003C-2468-40FF-9F5E-4F10BDB1FA2A}"/>
              </a:ext>
            </a:extLst>
          </p:cNvPr>
          <p:cNvSpPr>
            <a:spLocks noGrp="1"/>
          </p:cNvSpPr>
          <p:nvPr/>
        </p:nvSpPr>
        <p:spPr>
          <a:xfrm>
            <a:off x="6229350" y="3924300"/>
            <a:ext cx="4953000" cy="723900"/>
          </a:xfrm>
          <a:prstGeom prst="rect">
            <a:avLst/>
          </a:prstGeom>
          <a:noFill/>
          <a:ln w="0">
            <a:noFill/>
            <a:prstDash val="solid"/>
          </a:ln>
        </p:spPr>
        <p:txBody>
          <a:bodyPr/>
          <a:lstStyle/>
          <a:p>
            <a:pPr algn="l">
              <a:defRPr sz="1350" b="0">
                <a:solidFill>
                  <a:srgbClr val="555552"/>
                </a:solidFill>
              </a:defRPr>
            </a:pPr>
            <a:r>
              <a:rPr sz="1350" b="0">
                <a:solidFill>
                  <a:srgbClr val="555552"/>
                </a:solidFill>
              </a:rPr>
              <a:t>Non-representative logs → weak overlap → uncertain quality → less exploration → weak overlap persists.</a:t>
            </a:r>
          </a:p>
        </p:txBody>
      </p:sp>
      <p:sp>
        <p:nvSpPr>
          <p:cNvPr id="17" name="Straight Connector 16">
            <a:extLst>
              <a:ext uri="{FF2B5EF4-FFF2-40B4-BE49-F238E27FC236}">
                <a16:creationId xmlns:a16="http://schemas.microsoft.com/office/drawing/2014/main" id="{FAECB91A-BB6D-47F4-950C-DF0A2933CACD}"/>
              </a:ext>
            </a:extLst>
          </p:cNvPr>
          <p:cNvSpPr>
            <a:spLocks noGrp="1"/>
          </p:cNvSpPr>
          <p:nvPr/>
        </p:nvSpPr>
        <p:spPr>
          <a:xfrm>
            <a:off x="552450" y="5562600"/>
            <a:ext cx="11087100" cy="0"/>
          </a:xfrm>
          <a:prstGeom prst="line">
            <a:avLst/>
          </a:prstGeom>
          <a:noFill/>
          <a:ln w="19050">
            <a:solidFill>
              <a:srgbClr val="0B0B0B"/>
            </a:solidFill>
            <a:prstDash val="solid"/>
          </a:ln>
        </p:spPr>
        <p:txBody>
          <a:bodyPr/>
          <a:lstStyle/>
          <a:p>
            <a:endParaRPr lang="en-DE"/>
          </a:p>
        </p:txBody>
      </p:sp>
      <p:sp>
        <p:nvSpPr>
          <p:cNvPr id="18" name="Rectangle 17">
            <a:extLst>
              <a:ext uri="{FF2B5EF4-FFF2-40B4-BE49-F238E27FC236}">
                <a16:creationId xmlns:a16="http://schemas.microsoft.com/office/drawing/2014/main" id="{5CF60E0C-40D2-4149-B2DA-8A4855961CA5}"/>
              </a:ext>
            </a:extLst>
          </p:cNvPr>
          <p:cNvSpPr>
            <a:spLocks noGrp="1"/>
          </p:cNvSpPr>
          <p:nvPr/>
        </p:nvSpPr>
        <p:spPr>
          <a:xfrm>
            <a:off x="552450" y="5772150"/>
            <a:ext cx="762000" cy="209550"/>
          </a:xfrm>
          <a:prstGeom prst="rect">
            <a:avLst/>
          </a:prstGeom>
          <a:noFill/>
          <a:ln w="0">
            <a:noFill/>
            <a:prstDash val="solid"/>
          </a:ln>
        </p:spPr>
        <p:txBody>
          <a:bodyPr/>
          <a:lstStyle/>
          <a:p>
            <a:pPr algn="l">
              <a:defRPr sz="900" b="1">
                <a:solidFill>
                  <a:srgbClr val="555552"/>
                </a:solidFill>
              </a:defRPr>
            </a:pPr>
            <a:r>
              <a:rPr sz="900" b="1">
                <a:solidFill>
                  <a:srgbClr val="555552"/>
                </a:solidFill>
              </a:rPr>
              <a:t>ALSO</a:t>
            </a:r>
          </a:p>
        </p:txBody>
      </p:sp>
      <p:sp>
        <p:nvSpPr>
          <p:cNvPr id="19" name="Rectangle 18">
            <a:extLst>
              <a:ext uri="{FF2B5EF4-FFF2-40B4-BE49-F238E27FC236}">
                <a16:creationId xmlns:a16="http://schemas.microsoft.com/office/drawing/2014/main" id="{D1F54226-B42B-41A3-AFB1-FA5D67ACCD91}"/>
              </a:ext>
            </a:extLst>
          </p:cNvPr>
          <p:cNvSpPr>
            <a:spLocks noGrp="1"/>
          </p:cNvSpPr>
          <p:nvPr/>
        </p:nvSpPr>
        <p:spPr>
          <a:xfrm>
            <a:off x="1390650" y="5715000"/>
            <a:ext cx="10248900" cy="323850"/>
          </a:xfrm>
          <a:prstGeom prst="rect">
            <a:avLst/>
          </a:prstGeom>
          <a:noFill/>
          <a:ln w="0">
            <a:noFill/>
            <a:prstDash val="solid"/>
          </a:ln>
        </p:spPr>
        <p:txBody>
          <a:bodyPr/>
          <a:lstStyle/>
          <a:p>
            <a:pPr algn="l">
              <a:defRPr sz="1275" b="0">
                <a:solidFill>
                  <a:srgbClr val="0B0B0B"/>
                </a:solidFill>
              </a:defRPr>
            </a:pPr>
            <a:r>
              <a:rPr sz="1275" b="0">
                <a:solidFill>
                  <a:srgbClr val="0B0B0B"/>
                </a:solidFill>
              </a:rPr>
              <a:t>final responses missing  ·  benchmark/model mapping assumed  ·  prices assumed  ·  off-policy confounding remains</a:t>
            </a:r>
          </a:p>
        </p:txBody>
      </p:sp>
      <p:sp>
        <p:nvSpPr>
          <p:cNvPr id="20" name="Rectangle 19">
            <a:extLst>
              <a:ext uri="{FF2B5EF4-FFF2-40B4-BE49-F238E27FC236}">
                <a16:creationId xmlns:a16="http://schemas.microsoft.com/office/drawing/2014/main" id="{46A9504E-7FF7-4FE5-B787-FD0B3D5668E7}"/>
              </a:ext>
            </a:extLst>
          </p:cNvPr>
          <p:cNvSpPr>
            <a:spLocks noGrp="1"/>
          </p:cNvSpPr>
          <p:nvPr/>
        </p:nvSpPr>
        <p:spPr>
          <a:xfrm>
            <a:off x="552450" y="6172200"/>
            <a:ext cx="11087100" cy="266700"/>
          </a:xfrm>
          <a:prstGeom prst="rect">
            <a:avLst/>
          </a:prstGeom>
          <a:noFill/>
          <a:ln w="0">
            <a:noFill/>
            <a:prstDash val="solid"/>
          </a:ln>
        </p:spPr>
        <p:txBody>
          <a:bodyPr/>
          <a:lstStyle/>
          <a:p>
            <a:pPr algn="l">
              <a:defRPr sz="1350" b="1">
                <a:solidFill>
                  <a:srgbClr val="0B0B0B"/>
                </a:solidFill>
              </a:defRPr>
            </a:pPr>
            <a:r>
              <a:rPr sz="1350" b="1">
                <a:solidFill>
                  <a:srgbClr val="0B0B0B"/>
                </a:solidFill>
              </a:rPr>
              <a:t>Next: controlled exploration or judge-scored outputs to create evidence where overlap is weak.</a:t>
            </a:r>
          </a:p>
        </p:txBody>
      </p:sp>
    </p:spTree>
    <p:extLst>
      <p:ext uri="{BB962C8B-B14F-4D97-AF65-F5344CB8AC3E}">
        <p14:creationId xmlns:p14="http://schemas.microsoft.com/office/powerpoint/2010/main" val="1437526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40" name="page-14">
            <a:extLst>
              <a:ext uri="{FF2B5EF4-FFF2-40B4-BE49-F238E27FC236}">
                <a16:creationId xmlns:a16="http://schemas.microsoft.com/office/drawing/2014/main" id="{E26267C3-25AB-4D95-A5A5-DF91D0269534}"/>
              </a:ext>
            </a:extLst>
          </p:cNvPr>
          <p:cNvSpPr>
            <a:spLocks noGrp="1"/>
          </p:cNvSpPr>
          <p:nvPr/>
        </p:nvSpPr>
        <p:spPr>
          <a:xfrm>
            <a:off x="514350" y="285750"/>
            <a:ext cx="400050" cy="209550"/>
          </a:xfrm>
          <a:prstGeom prst="rect">
            <a:avLst/>
          </a:prstGeom>
          <a:noFill/>
          <a:ln w="0">
            <a:noFill/>
            <a:prstDash val="solid"/>
          </a:ln>
        </p:spPr>
        <p:txBody>
          <a:bodyPr/>
          <a:lstStyle/>
          <a:p>
            <a:pPr algn="l">
              <a:defRPr sz="900" b="1">
                <a:solidFill>
                  <a:srgbClr val="9B9B96"/>
                </a:solidFill>
              </a:defRPr>
            </a:pPr>
            <a:r>
              <a:rPr sz="900" b="1">
                <a:solidFill>
                  <a:srgbClr val="9B9B96"/>
                </a:solidFill>
              </a:rPr>
              <a:t>14</a:t>
            </a:r>
          </a:p>
        </p:txBody>
      </p:sp>
      <p:sp>
        <p:nvSpPr>
          <p:cNvPr id="2" name="Straight Connector 1">
            <a:extLst>
              <a:ext uri="{FF2B5EF4-FFF2-40B4-BE49-F238E27FC236}">
                <a16:creationId xmlns:a16="http://schemas.microsoft.com/office/drawing/2014/main" id="{1E814521-E993-4F28-A7F5-B53382147DCE}"/>
              </a:ext>
            </a:extLst>
          </p:cNvPr>
          <p:cNvSpPr>
            <a:spLocks noGrp="1"/>
          </p:cNvSpPr>
          <p:nvPr/>
        </p:nvSpPr>
        <p:spPr>
          <a:xfrm>
            <a:off x="1009650" y="381000"/>
            <a:ext cx="476250" cy="0"/>
          </a:xfrm>
          <a:prstGeom prst="line">
            <a:avLst/>
          </a:prstGeom>
          <a:noFill/>
          <a:ln w="19050">
            <a:solidFill>
              <a:srgbClr val="9B9B96"/>
            </a:solidFill>
            <a:prstDash val="solid"/>
          </a:ln>
        </p:spPr>
        <p:txBody>
          <a:bodyPr/>
          <a:lstStyle/>
          <a:p>
            <a:endParaRPr lang="en-DE"/>
          </a:p>
        </p:txBody>
      </p:sp>
      <p:sp>
        <p:nvSpPr>
          <p:cNvPr id="3" name="section-14">
            <a:extLst>
              <a:ext uri="{FF2B5EF4-FFF2-40B4-BE49-F238E27FC236}">
                <a16:creationId xmlns:a16="http://schemas.microsoft.com/office/drawing/2014/main" id="{C0FE4F0D-3D40-4F9A-AF88-6ADCD7973224}"/>
              </a:ext>
            </a:extLst>
          </p:cNvPr>
          <p:cNvSpPr>
            <a:spLocks noGrp="1"/>
          </p:cNvSpPr>
          <p:nvPr/>
        </p:nvSpPr>
        <p:spPr>
          <a:xfrm>
            <a:off x="1676400" y="285750"/>
            <a:ext cx="4000500" cy="228600"/>
          </a:xfrm>
          <a:prstGeom prst="rect">
            <a:avLst/>
          </a:prstGeom>
          <a:noFill/>
          <a:ln w="0">
            <a:noFill/>
            <a:prstDash val="solid"/>
          </a:ln>
        </p:spPr>
        <p:txBody>
          <a:bodyPr/>
          <a:lstStyle/>
          <a:p>
            <a:pPr algn="l">
              <a:defRPr sz="900" b="1">
                <a:solidFill>
                  <a:srgbClr val="9B9B96"/>
                </a:solidFill>
              </a:defRPr>
            </a:pPr>
            <a:r>
              <a:rPr sz="900" b="1">
                <a:solidFill>
                  <a:srgbClr val="9B9B96"/>
                </a:solidFill>
              </a:rPr>
              <a:t>CLOSE</a:t>
            </a:r>
          </a:p>
        </p:txBody>
      </p:sp>
      <p:sp>
        <p:nvSpPr>
          <p:cNvPr id="4" name="Straight Connector 3">
            <a:extLst>
              <a:ext uri="{FF2B5EF4-FFF2-40B4-BE49-F238E27FC236}">
                <a16:creationId xmlns:a16="http://schemas.microsoft.com/office/drawing/2014/main" id="{81FAD407-7325-4648-94F7-7DC16B357DDE}"/>
              </a:ext>
            </a:extLst>
          </p:cNvPr>
          <p:cNvSpPr>
            <a:spLocks noGrp="1"/>
          </p:cNvSpPr>
          <p:nvPr/>
        </p:nvSpPr>
        <p:spPr>
          <a:xfrm>
            <a:off x="514350" y="6496050"/>
            <a:ext cx="11163300" cy="0"/>
          </a:xfrm>
          <a:prstGeom prst="line">
            <a:avLst/>
          </a:prstGeom>
          <a:noFill/>
          <a:ln w="9525">
            <a:solidFill>
              <a:srgbClr val="2B2B29"/>
            </a:solidFill>
            <a:prstDash val="solid"/>
          </a:ln>
        </p:spPr>
        <p:txBody>
          <a:bodyPr/>
          <a:lstStyle/>
          <a:p>
            <a:endParaRPr lang="en-DE"/>
          </a:p>
        </p:txBody>
      </p:sp>
      <p:sp>
        <p:nvSpPr>
          <p:cNvPr id="5" name="Rectangle 4">
            <a:extLst>
              <a:ext uri="{FF2B5EF4-FFF2-40B4-BE49-F238E27FC236}">
                <a16:creationId xmlns:a16="http://schemas.microsoft.com/office/drawing/2014/main" id="{F58F4C07-9A22-4930-B6EB-D3A033C6201D}"/>
              </a:ext>
            </a:extLst>
          </p:cNvPr>
          <p:cNvSpPr>
            <a:spLocks noGrp="1"/>
          </p:cNvSpPr>
          <p:nvPr/>
        </p:nvSpPr>
        <p:spPr>
          <a:xfrm>
            <a:off x="514350" y="6572250"/>
            <a:ext cx="3619500" cy="171450"/>
          </a:xfrm>
          <a:prstGeom prst="rect">
            <a:avLst/>
          </a:prstGeom>
          <a:noFill/>
          <a:ln w="0">
            <a:noFill/>
            <a:prstDash val="solid"/>
          </a:ln>
        </p:spPr>
        <p:txBody>
          <a:bodyPr/>
          <a:lstStyle/>
          <a:p>
            <a:pPr algn="l">
              <a:defRPr sz="750" b="1">
                <a:solidFill>
                  <a:srgbClr val="9B9B96"/>
                </a:solidFill>
              </a:defRPr>
            </a:pPr>
            <a:r>
              <a:rPr sz="750" b="1">
                <a:solidFill>
                  <a:srgbClr val="9B9B96"/>
                </a:solidFill>
              </a:rPr>
              <a:t>VIKTOR ROUTER / TUM.AI 2026</a:t>
            </a:r>
          </a:p>
        </p:txBody>
      </p:sp>
      <p:sp>
        <p:nvSpPr>
          <p:cNvPr id="6" name="Rectangle 5">
            <a:extLst>
              <a:ext uri="{FF2B5EF4-FFF2-40B4-BE49-F238E27FC236}">
                <a16:creationId xmlns:a16="http://schemas.microsoft.com/office/drawing/2014/main" id="{0C2DCAF9-C641-40DE-8C30-4B9E95F86DBC}"/>
              </a:ext>
            </a:extLst>
          </p:cNvPr>
          <p:cNvSpPr>
            <a:spLocks noGrp="1"/>
          </p:cNvSpPr>
          <p:nvPr/>
        </p:nvSpPr>
        <p:spPr>
          <a:xfrm>
            <a:off x="10191750" y="6572250"/>
            <a:ext cx="1485900" cy="171450"/>
          </a:xfrm>
          <a:prstGeom prst="rect">
            <a:avLst/>
          </a:prstGeom>
          <a:noFill/>
          <a:ln w="0">
            <a:noFill/>
            <a:prstDash val="solid"/>
          </a:ln>
        </p:spPr>
        <p:txBody>
          <a:bodyPr/>
          <a:lstStyle/>
          <a:p>
            <a:pPr algn="r">
              <a:defRPr sz="750" b="1">
                <a:solidFill>
                  <a:srgbClr val="9B9B96"/>
                </a:solidFill>
              </a:defRPr>
            </a:pPr>
            <a:r>
              <a:rPr sz="750" b="1">
                <a:solidFill>
                  <a:srgbClr val="9B9B96"/>
                </a:solidFill>
              </a:rPr>
              <a:t>14 / 14</a:t>
            </a:r>
          </a:p>
        </p:txBody>
      </p:sp>
      <p:sp>
        <p:nvSpPr>
          <p:cNvPr id="7" name="slide-title">
            <a:extLst>
              <a:ext uri="{FF2B5EF4-FFF2-40B4-BE49-F238E27FC236}">
                <a16:creationId xmlns:a16="http://schemas.microsoft.com/office/drawing/2014/main" id="{B3A660F2-0378-45C8-B280-64FF0289EAEE}"/>
              </a:ext>
            </a:extLst>
          </p:cNvPr>
          <p:cNvSpPr>
            <a:spLocks noGrp="1"/>
          </p:cNvSpPr>
          <p:nvPr/>
        </p:nvSpPr>
        <p:spPr>
          <a:xfrm>
            <a:off x="514350" y="704850"/>
            <a:ext cx="11163300" cy="685800"/>
          </a:xfrm>
          <a:prstGeom prst="rect">
            <a:avLst/>
          </a:prstGeom>
          <a:noFill/>
          <a:ln w="0">
            <a:noFill/>
            <a:prstDash val="solid"/>
          </a:ln>
        </p:spPr>
        <p:txBody>
          <a:bodyPr/>
          <a:lstStyle/>
          <a:p>
            <a:pPr algn="l">
              <a:defRPr sz="3000" b="1">
                <a:solidFill>
                  <a:srgbClr val="F4F4F2"/>
                </a:solidFill>
              </a:defRPr>
            </a:pPr>
            <a:r>
              <a:rPr sz="3000" b="1">
                <a:solidFill>
                  <a:srgbClr val="F4F4F2"/>
                </a:solidFill>
              </a:rPr>
              <a:t>Conservative routing follows the available evidence.</a:t>
            </a:r>
          </a:p>
        </p:txBody>
      </p:sp>
      <p:sp>
        <p:nvSpPr>
          <p:cNvPr id="8" name="slide-subtitle">
            <a:extLst>
              <a:ext uri="{FF2B5EF4-FFF2-40B4-BE49-F238E27FC236}">
                <a16:creationId xmlns:a16="http://schemas.microsoft.com/office/drawing/2014/main" id="{6AF0D3C4-F14A-4014-B918-6D0AEB3B19F2}"/>
              </a:ext>
            </a:extLst>
          </p:cNvPr>
          <p:cNvSpPr>
            <a:spLocks noGrp="1"/>
          </p:cNvSpPr>
          <p:nvPr/>
        </p:nvSpPr>
        <p:spPr>
          <a:xfrm>
            <a:off x="533400" y="1371600"/>
            <a:ext cx="10668000" cy="342900"/>
          </a:xfrm>
          <a:prstGeom prst="rect">
            <a:avLst/>
          </a:prstGeom>
          <a:noFill/>
          <a:ln w="0">
            <a:noFill/>
            <a:prstDash val="solid"/>
          </a:ln>
        </p:spPr>
        <p:txBody>
          <a:bodyPr/>
          <a:lstStyle/>
          <a:p>
            <a:pPr algn="l">
              <a:defRPr sz="1350" b="0">
                <a:solidFill>
                  <a:srgbClr val="9B9B96"/>
                </a:solidFill>
              </a:defRPr>
            </a:pPr>
            <a:r>
              <a:rPr sz="1350" b="0">
                <a:solidFill>
                  <a:srgbClr val="9B9B96"/>
                </a:solidFill>
              </a:rPr>
              <a:t>The router reduces assumed cost where historical support is sufficient.</a:t>
            </a:r>
          </a:p>
        </p:txBody>
      </p:sp>
      <p:sp>
        <p:nvSpPr>
          <p:cNvPr id="9" name="Rounded Rectangle 8">
            <a:extLst>
              <a:ext uri="{FF2B5EF4-FFF2-40B4-BE49-F238E27FC236}">
                <a16:creationId xmlns:a16="http://schemas.microsoft.com/office/drawing/2014/main" id="{46D318FF-3E37-4CC5-8FB2-E0AE77A03454}"/>
              </a:ext>
            </a:extLst>
          </p:cNvPr>
          <p:cNvSpPr>
            <a:spLocks noGrp="1"/>
          </p:cNvSpPr>
          <p:nvPr/>
        </p:nvSpPr>
        <p:spPr>
          <a:xfrm>
            <a:off x="552450" y="2571750"/>
            <a:ext cx="1238250" cy="723900"/>
          </a:xfrm>
          <a:prstGeom prst="roundRect">
            <a:avLst>
              <a:gd name="adj" fmla="val 5263"/>
            </a:avLst>
          </a:prstGeom>
          <a:solidFill>
            <a:srgbClr val="101010"/>
          </a:solidFill>
          <a:ln w="9525">
            <a:solidFill>
              <a:srgbClr val="2B2B29"/>
            </a:solidFill>
            <a:prstDash val="solid"/>
          </a:ln>
        </p:spPr>
        <p:txBody>
          <a:bodyPr/>
          <a:lstStyle/>
          <a:p>
            <a:endParaRPr lang="en-DE"/>
          </a:p>
        </p:txBody>
      </p:sp>
      <p:sp>
        <p:nvSpPr>
          <p:cNvPr id="10" name="Rectangle 9">
            <a:extLst>
              <a:ext uri="{FF2B5EF4-FFF2-40B4-BE49-F238E27FC236}">
                <a16:creationId xmlns:a16="http://schemas.microsoft.com/office/drawing/2014/main" id="{DE4CD865-C650-4808-ADB8-7B60A9760079}"/>
              </a:ext>
            </a:extLst>
          </p:cNvPr>
          <p:cNvSpPr>
            <a:spLocks noGrp="1"/>
          </p:cNvSpPr>
          <p:nvPr/>
        </p:nvSpPr>
        <p:spPr>
          <a:xfrm>
            <a:off x="628650" y="2819400"/>
            <a:ext cx="1085850" cy="247650"/>
          </a:xfrm>
          <a:prstGeom prst="rect">
            <a:avLst/>
          </a:prstGeom>
          <a:noFill/>
          <a:ln w="0">
            <a:noFill/>
            <a:prstDash val="solid"/>
          </a:ln>
        </p:spPr>
        <p:txBody>
          <a:bodyPr/>
          <a:lstStyle/>
          <a:p>
            <a:pPr algn="ctr">
              <a:defRPr sz="975" b="1">
                <a:solidFill>
                  <a:srgbClr val="F4F4F2"/>
                </a:solidFill>
              </a:defRPr>
            </a:pPr>
            <a:r>
              <a:rPr sz="975" b="1">
                <a:solidFill>
                  <a:srgbClr val="F4F4F2"/>
                </a:solidFill>
              </a:rPr>
              <a:t>OPENING</a:t>
            </a:r>
          </a:p>
        </p:txBody>
      </p:sp>
      <p:sp>
        <p:nvSpPr>
          <p:cNvPr id="11" name="Rectangle 10">
            <a:extLst>
              <a:ext uri="{FF2B5EF4-FFF2-40B4-BE49-F238E27FC236}">
                <a16:creationId xmlns:a16="http://schemas.microsoft.com/office/drawing/2014/main" id="{6162F016-B960-4F8C-89C9-95B4AFF36973}"/>
              </a:ext>
            </a:extLst>
          </p:cNvPr>
          <p:cNvSpPr>
            <a:spLocks noGrp="1"/>
          </p:cNvSpPr>
          <p:nvPr/>
        </p:nvSpPr>
        <p:spPr>
          <a:xfrm>
            <a:off x="1847850" y="2800350"/>
            <a:ext cx="285750" cy="266700"/>
          </a:xfrm>
          <a:prstGeom prst="rect">
            <a:avLst/>
          </a:prstGeom>
          <a:noFill/>
          <a:ln w="0">
            <a:noFill/>
            <a:prstDash val="solid"/>
          </a:ln>
        </p:spPr>
        <p:txBody>
          <a:bodyPr/>
          <a:lstStyle/>
          <a:p>
            <a:pPr algn="ctr">
              <a:defRPr sz="1500" b="1">
                <a:solidFill>
                  <a:srgbClr val="9B9B96"/>
                </a:solidFill>
              </a:defRPr>
            </a:pPr>
            <a:r>
              <a:rPr sz="1500" b="1">
                <a:solidFill>
                  <a:srgbClr val="9B9B96"/>
                </a:solidFill>
              </a:rPr>
              <a:t>→</a:t>
            </a:r>
          </a:p>
        </p:txBody>
      </p:sp>
      <p:sp>
        <p:nvSpPr>
          <p:cNvPr id="12" name="Rounded Rectangle 11">
            <a:extLst>
              <a:ext uri="{FF2B5EF4-FFF2-40B4-BE49-F238E27FC236}">
                <a16:creationId xmlns:a16="http://schemas.microsoft.com/office/drawing/2014/main" id="{2F3155A4-4497-4D94-AF68-7530684E1CF5}"/>
              </a:ext>
            </a:extLst>
          </p:cNvPr>
          <p:cNvSpPr>
            <a:spLocks noGrp="1"/>
          </p:cNvSpPr>
          <p:nvPr/>
        </p:nvSpPr>
        <p:spPr>
          <a:xfrm>
            <a:off x="2171700" y="2571750"/>
            <a:ext cx="1333500" cy="723900"/>
          </a:xfrm>
          <a:prstGeom prst="roundRect">
            <a:avLst>
              <a:gd name="adj" fmla="val 5263"/>
            </a:avLst>
          </a:prstGeom>
          <a:solidFill>
            <a:srgbClr val="101010"/>
          </a:solidFill>
          <a:ln w="9525">
            <a:solidFill>
              <a:srgbClr val="2B2B29"/>
            </a:solidFill>
            <a:prstDash val="solid"/>
          </a:ln>
        </p:spPr>
        <p:txBody>
          <a:bodyPr/>
          <a:lstStyle/>
          <a:p>
            <a:endParaRPr lang="en-DE"/>
          </a:p>
        </p:txBody>
      </p:sp>
      <p:sp>
        <p:nvSpPr>
          <p:cNvPr id="13" name="Rectangle 12">
            <a:extLst>
              <a:ext uri="{FF2B5EF4-FFF2-40B4-BE49-F238E27FC236}">
                <a16:creationId xmlns:a16="http://schemas.microsoft.com/office/drawing/2014/main" id="{DC0200F1-3416-4EB1-80FC-253ABBC1AEF3}"/>
              </a:ext>
            </a:extLst>
          </p:cNvPr>
          <p:cNvSpPr>
            <a:spLocks noGrp="1"/>
          </p:cNvSpPr>
          <p:nvPr/>
        </p:nvSpPr>
        <p:spPr>
          <a:xfrm>
            <a:off x="2247900" y="2819400"/>
            <a:ext cx="1181100" cy="247650"/>
          </a:xfrm>
          <a:prstGeom prst="rect">
            <a:avLst/>
          </a:prstGeom>
          <a:noFill/>
          <a:ln w="0">
            <a:noFill/>
            <a:prstDash val="solid"/>
          </a:ln>
        </p:spPr>
        <p:txBody>
          <a:bodyPr/>
          <a:lstStyle/>
          <a:p>
            <a:pPr algn="ctr">
              <a:defRPr sz="975" b="1">
                <a:solidFill>
                  <a:srgbClr val="F4F4F2"/>
                </a:solidFill>
              </a:defRPr>
            </a:pPr>
            <a:r>
              <a:rPr sz="975" b="1">
                <a:solidFill>
                  <a:srgbClr val="F4F4F2"/>
                </a:solidFill>
              </a:rPr>
              <a:t>WORKLOAD</a:t>
            </a:r>
          </a:p>
        </p:txBody>
      </p:sp>
      <p:sp>
        <p:nvSpPr>
          <p:cNvPr id="14" name="Rectangle 13">
            <a:extLst>
              <a:ext uri="{FF2B5EF4-FFF2-40B4-BE49-F238E27FC236}">
                <a16:creationId xmlns:a16="http://schemas.microsoft.com/office/drawing/2014/main" id="{347350BA-46A6-4B60-A45F-6537F77D3B64}"/>
              </a:ext>
            </a:extLst>
          </p:cNvPr>
          <p:cNvSpPr>
            <a:spLocks noGrp="1"/>
          </p:cNvSpPr>
          <p:nvPr/>
        </p:nvSpPr>
        <p:spPr>
          <a:xfrm>
            <a:off x="3562350" y="2800350"/>
            <a:ext cx="285750" cy="266700"/>
          </a:xfrm>
          <a:prstGeom prst="rect">
            <a:avLst/>
          </a:prstGeom>
          <a:noFill/>
          <a:ln w="0">
            <a:noFill/>
            <a:prstDash val="solid"/>
          </a:ln>
        </p:spPr>
        <p:txBody>
          <a:bodyPr/>
          <a:lstStyle/>
          <a:p>
            <a:pPr algn="ctr">
              <a:defRPr sz="1500" b="1">
                <a:solidFill>
                  <a:srgbClr val="9B9B96"/>
                </a:solidFill>
              </a:defRPr>
            </a:pPr>
            <a:r>
              <a:rPr sz="1500" b="1">
                <a:solidFill>
                  <a:srgbClr val="9B9B96"/>
                </a:solidFill>
              </a:rPr>
              <a:t>→</a:t>
            </a:r>
          </a:p>
        </p:txBody>
      </p:sp>
      <p:sp>
        <p:nvSpPr>
          <p:cNvPr id="15" name="Rounded Rectangle 14">
            <a:extLst>
              <a:ext uri="{FF2B5EF4-FFF2-40B4-BE49-F238E27FC236}">
                <a16:creationId xmlns:a16="http://schemas.microsoft.com/office/drawing/2014/main" id="{A791FE2B-28CF-48DD-B64D-AB8DED2739AC}"/>
              </a:ext>
            </a:extLst>
          </p:cNvPr>
          <p:cNvSpPr>
            <a:spLocks noGrp="1"/>
          </p:cNvSpPr>
          <p:nvPr/>
        </p:nvSpPr>
        <p:spPr>
          <a:xfrm>
            <a:off x="3886200" y="2571750"/>
            <a:ext cx="1047750" cy="723900"/>
          </a:xfrm>
          <a:prstGeom prst="roundRect">
            <a:avLst>
              <a:gd name="adj" fmla="val 5263"/>
            </a:avLst>
          </a:prstGeom>
          <a:solidFill>
            <a:srgbClr val="101010"/>
          </a:solidFill>
          <a:ln w="9525">
            <a:solidFill>
              <a:srgbClr val="2B2B29"/>
            </a:solidFill>
            <a:prstDash val="solid"/>
          </a:ln>
        </p:spPr>
        <p:txBody>
          <a:bodyPr/>
          <a:lstStyle/>
          <a:p>
            <a:endParaRPr lang="en-DE"/>
          </a:p>
        </p:txBody>
      </p:sp>
      <p:sp>
        <p:nvSpPr>
          <p:cNvPr id="16" name="Rectangle 15">
            <a:extLst>
              <a:ext uri="{FF2B5EF4-FFF2-40B4-BE49-F238E27FC236}">
                <a16:creationId xmlns:a16="http://schemas.microsoft.com/office/drawing/2014/main" id="{9D7721A7-AD31-4443-9CAE-276056C6EC3A}"/>
              </a:ext>
            </a:extLst>
          </p:cNvPr>
          <p:cNvSpPr>
            <a:spLocks noGrp="1"/>
          </p:cNvSpPr>
          <p:nvPr/>
        </p:nvSpPr>
        <p:spPr>
          <a:xfrm>
            <a:off x="3962400" y="2819400"/>
            <a:ext cx="895350" cy="247650"/>
          </a:xfrm>
          <a:prstGeom prst="rect">
            <a:avLst/>
          </a:prstGeom>
          <a:noFill/>
          <a:ln w="0">
            <a:noFill/>
            <a:prstDash val="solid"/>
          </a:ln>
        </p:spPr>
        <p:txBody>
          <a:bodyPr/>
          <a:lstStyle/>
          <a:p>
            <a:pPr algn="ctr">
              <a:defRPr sz="975" b="1">
                <a:solidFill>
                  <a:srgbClr val="F4F4F2"/>
                </a:solidFill>
              </a:defRPr>
            </a:pPr>
            <a:r>
              <a:rPr sz="975" b="1">
                <a:solidFill>
                  <a:srgbClr val="F4F4F2"/>
                </a:solidFill>
              </a:rPr>
              <a:t>RISK</a:t>
            </a:r>
          </a:p>
        </p:txBody>
      </p:sp>
      <p:sp>
        <p:nvSpPr>
          <p:cNvPr id="17" name="Rectangle 16">
            <a:extLst>
              <a:ext uri="{FF2B5EF4-FFF2-40B4-BE49-F238E27FC236}">
                <a16:creationId xmlns:a16="http://schemas.microsoft.com/office/drawing/2014/main" id="{500F511B-7BBF-449A-ABB5-E10DBD2B0215}"/>
              </a:ext>
            </a:extLst>
          </p:cNvPr>
          <p:cNvSpPr>
            <a:spLocks noGrp="1"/>
          </p:cNvSpPr>
          <p:nvPr/>
        </p:nvSpPr>
        <p:spPr>
          <a:xfrm>
            <a:off x="4991100" y="2800350"/>
            <a:ext cx="285750" cy="266700"/>
          </a:xfrm>
          <a:prstGeom prst="rect">
            <a:avLst/>
          </a:prstGeom>
          <a:noFill/>
          <a:ln w="0">
            <a:noFill/>
            <a:prstDash val="solid"/>
          </a:ln>
        </p:spPr>
        <p:txBody>
          <a:bodyPr/>
          <a:lstStyle/>
          <a:p>
            <a:pPr algn="ctr">
              <a:defRPr sz="1500" b="1">
                <a:solidFill>
                  <a:srgbClr val="9B9B96"/>
                </a:solidFill>
              </a:defRPr>
            </a:pPr>
            <a:r>
              <a:rPr sz="1500" b="1">
                <a:solidFill>
                  <a:srgbClr val="9B9B96"/>
                </a:solidFill>
              </a:rPr>
              <a:t>→</a:t>
            </a:r>
          </a:p>
        </p:txBody>
      </p:sp>
      <p:sp>
        <p:nvSpPr>
          <p:cNvPr id="18" name="Rounded Rectangle 17">
            <a:extLst>
              <a:ext uri="{FF2B5EF4-FFF2-40B4-BE49-F238E27FC236}">
                <a16:creationId xmlns:a16="http://schemas.microsoft.com/office/drawing/2014/main" id="{FA27EAB6-86E4-41A2-9962-D1045B5F8BC9}"/>
              </a:ext>
            </a:extLst>
          </p:cNvPr>
          <p:cNvSpPr>
            <a:spLocks noGrp="1"/>
          </p:cNvSpPr>
          <p:nvPr/>
        </p:nvSpPr>
        <p:spPr>
          <a:xfrm>
            <a:off x="5314950" y="2571750"/>
            <a:ext cx="1809750" cy="723900"/>
          </a:xfrm>
          <a:prstGeom prst="roundRect">
            <a:avLst>
              <a:gd name="adj" fmla="val 5263"/>
            </a:avLst>
          </a:prstGeom>
          <a:solidFill>
            <a:srgbClr val="101010"/>
          </a:solidFill>
          <a:ln w="9525">
            <a:solidFill>
              <a:srgbClr val="2B2B29"/>
            </a:solidFill>
            <a:prstDash val="solid"/>
          </a:ln>
        </p:spPr>
        <p:txBody>
          <a:bodyPr/>
          <a:lstStyle/>
          <a:p>
            <a:endParaRPr lang="en-DE"/>
          </a:p>
        </p:txBody>
      </p:sp>
      <p:sp>
        <p:nvSpPr>
          <p:cNvPr id="19" name="Rectangle 18">
            <a:extLst>
              <a:ext uri="{FF2B5EF4-FFF2-40B4-BE49-F238E27FC236}">
                <a16:creationId xmlns:a16="http://schemas.microsoft.com/office/drawing/2014/main" id="{A7045971-AA09-4BA2-B2F2-1ABF54EB0DF5}"/>
              </a:ext>
            </a:extLst>
          </p:cNvPr>
          <p:cNvSpPr>
            <a:spLocks noGrp="1"/>
          </p:cNvSpPr>
          <p:nvPr/>
        </p:nvSpPr>
        <p:spPr>
          <a:xfrm>
            <a:off x="5391150" y="2819400"/>
            <a:ext cx="1657350" cy="247650"/>
          </a:xfrm>
          <a:prstGeom prst="rect">
            <a:avLst/>
          </a:prstGeom>
          <a:noFill/>
          <a:ln w="0">
            <a:noFill/>
            <a:prstDash val="solid"/>
          </a:ln>
        </p:spPr>
        <p:txBody>
          <a:bodyPr/>
          <a:lstStyle/>
          <a:p>
            <a:pPr algn="ctr">
              <a:defRPr sz="975" b="1">
                <a:solidFill>
                  <a:srgbClr val="F4F4F2"/>
                </a:solidFill>
              </a:defRPr>
            </a:pPr>
            <a:r>
              <a:rPr sz="975" b="1">
                <a:solidFill>
                  <a:srgbClr val="F4F4F2"/>
                </a:solidFill>
              </a:rPr>
              <a:t>QUALITY × MODEL</a:t>
            </a:r>
          </a:p>
        </p:txBody>
      </p:sp>
      <p:sp>
        <p:nvSpPr>
          <p:cNvPr id="20" name="Rectangle 19">
            <a:extLst>
              <a:ext uri="{FF2B5EF4-FFF2-40B4-BE49-F238E27FC236}">
                <a16:creationId xmlns:a16="http://schemas.microsoft.com/office/drawing/2014/main" id="{1422914C-7D49-42C4-8EB5-CF23991D7D82}"/>
              </a:ext>
            </a:extLst>
          </p:cNvPr>
          <p:cNvSpPr>
            <a:spLocks noGrp="1"/>
          </p:cNvSpPr>
          <p:nvPr/>
        </p:nvSpPr>
        <p:spPr>
          <a:xfrm>
            <a:off x="7181850" y="2800350"/>
            <a:ext cx="285750" cy="266700"/>
          </a:xfrm>
          <a:prstGeom prst="rect">
            <a:avLst/>
          </a:prstGeom>
          <a:noFill/>
          <a:ln w="0">
            <a:noFill/>
            <a:prstDash val="solid"/>
          </a:ln>
        </p:spPr>
        <p:txBody>
          <a:bodyPr/>
          <a:lstStyle/>
          <a:p>
            <a:pPr algn="ctr">
              <a:defRPr sz="1500" b="1">
                <a:solidFill>
                  <a:srgbClr val="9B9B96"/>
                </a:solidFill>
              </a:defRPr>
            </a:pPr>
            <a:r>
              <a:rPr sz="1500" b="1">
                <a:solidFill>
                  <a:srgbClr val="9B9B96"/>
                </a:solidFill>
              </a:rPr>
              <a:t>→</a:t>
            </a:r>
          </a:p>
        </p:txBody>
      </p:sp>
      <p:sp>
        <p:nvSpPr>
          <p:cNvPr id="21" name="Rounded Rectangle 20">
            <a:extLst>
              <a:ext uri="{FF2B5EF4-FFF2-40B4-BE49-F238E27FC236}">
                <a16:creationId xmlns:a16="http://schemas.microsoft.com/office/drawing/2014/main" id="{9916BE68-1421-4176-86BE-05C3EF73A210}"/>
              </a:ext>
            </a:extLst>
          </p:cNvPr>
          <p:cNvSpPr>
            <a:spLocks noGrp="1"/>
          </p:cNvSpPr>
          <p:nvPr/>
        </p:nvSpPr>
        <p:spPr>
          <a:xfrm>
            <a:off x="7505700" y="2571750"/>
            <a:ext cx="1238250" cy="723900"/>
          </a:xfrm>
          <a:prstGeom prst="roundRect">
            <a:avLst>
              <a:gd name="adj" fmla="val 5263"/>
            </a:avLst>
          </a:prstGeom>
          <a:solidFill>
            <a:srgbClr val="101010"/>
          </a:solidFill>
          <a:ln w="9525">
            <a:solidFill>
              <a:srgbClr val="2B2B29"/>
            </a:solidFill>
            <a:prstDash val="solid"/>
          </a:ln>
        </p:spPr>
        <p:txBody>
          <a:bodyPr/>
          <a:lstStyle/>
          <a:p>
            <a:endParaRPr lang="en-DE"/>
          </a:p>
        </p:txBody>
      </p:sp>
      <p:sp>
        <p:nvSpPr>
          <p:cNvPr id="22" name="Rectangle 21">
            <a:extLst>
              <a:ext uri="{FF2B5EF4-FFF2-40B4-BE49-F238E27FC236}">
                <a16:creationId xmlns:a16="http://schemas.microsoft.com/office/drawing/2014/main" id="{0287CEF9-7C64-4C81-90EB-B582F5F75A78}"/>
              </a:ext>
            </a:extLst>
          </p:cNvPr>
          <p:cNvSpPr>
            <a:spLocks noGrp="1"/>
          </p:cNvSpPr>
          <p:nvPr/>
        </p:nvSpPr>
        <p:spPr>
          <a:xfrm>
            <a:off x="7581900" y="2819400"/>
            <a:ext cx="1085850" cy="247650"/>
          </a:xfrm>
          <a:prstGeom prst="rect">
            <a:avLst/>
          </a:prstGeom>
          <a:noFill/>
          <a:ln w="0">
            <a:noFill/>
            <a:prstDash val="solid"/>
          </a:ln>
        </p:spPr>
        <p:txBody>
          <a:bodyPr/>
          <a:lstStyle/>
          <a:p>
            <a:pPr algn="ctr">
              <a:defRPr sz="975" b="1">
                <a:solidFill>
                  <a:srgbClr val="F4F4F2"/>
                </a:solidFill>
              </a:defRPr>
            </a:pPr>
            <a:r>
              <a:rPr sz="975" b="1">
                <a:solidFill>
                  <a:srgbClr val="F4F4F2"/>
                </a:solidFill>
              </a:rPr>
              <a:t>SUPPORT</a:t>
            </a:r>
          </a:p>
        </p:txBody>
      </p:sp>
      <p:sp>
        <p:nvSpPr>
          <p:cNvPr id="23" name="Rectangle 22">
            <a:extLst>
              <a:ext uri="{FF2B5EF4-FFF2-40B4-BE49-F238E27FC236}">
                <a16:creationId xmlns:a16="http://schemas.microsoft.com/office/drawing/2014/main" id="{0A7884B1-F586-4C92-8BE8-3FF9C00714EE}"/>
              </a:ext>
            </a:extLst>
          </p:cNvPr>
          <p:cNvSpPr>
            <a:spLocks noGrp="1"/>
          </p:cNvSpPr>
          <p:nvPr/>
        </p:nvSpPr>
        <p:spPr>
          <a:xfrm>
            <a:off x="8801100" y="2800350"/>
            <a:ext cx="285750" cy="266700"/>
          </a:xfrm>
          <a:prstGeom prst="rect">
            <a:avLst/>
          </a:prstGeom>
          <a:noFill/>
          <a:ln w="0">
            <a:noFill/>
            <a:prstDash val="solid"/>
          </a:ln>
        </p:spPr>
        <p:txBody>
          <a:bodyPr/>
          <a:lstStyle/>
          <a:p>
            <a:pPr algn="ctr">
              <a:defRPr sz="1500" b="1">
                <a:solidFill>
                  <a:srgbClr val="9B9B96"/>
                </a:solidFill>
              </a:defRPr>
            </a:pPr>
            <a:r>
              <a:rPr sz="1500" b="1">
                <a:solidFill>
                  <a:srgbClr val="9B9B96"/>
                </a:solidFill>
              </a:rPr>
              <a:t>→</a:t>
            </a:r>
          </a:p>
        </p:txBody>
      </p:sp>
      <p:sp>
        <p:nvSpPr>
          <p:cNvPr id="24" name="Rounded Rectangle 23">
            <a:extLst>
              <a:ext uri="{FF2B5EF4-FFF2-40B4-BE49-F238E27FC236}">
                <a16:creationId xmlns:a16="http://schemas.microsoft.com/office/drawing/2014/main" id="{9B0F8D3E-C071-4B1F-89E3-6EB4E1840BD9}"/>
              </a:ext>
            </a:extLst>
          </p:cNvPr>
          <p:cNvSpPr>
            <a:spLocks noGrp="1"/>
          </p:cNvSpPr>
          <p:nvPr/>
        </p:nvSpPr>
        <p:spPr>
          <a:xfrm>
            <a:off x="9124950" y="2571750"/>
            <a:ext cx="1047750" cy="723900"/>
          </a:xfrm>
          <a:prstGeom prst="roundRect">
            <a:avLst>
              <a:gd name="adj" fmla="val 5263"/>
            </a:avLst>
          </a:prstGeom>
          <a:solidFill>
            <a:srgbClr val="101010"/>
          </a:solidFill>
          <a:ln w="9525">
            <a:solidFill>
              <a:srgbClr val="2B2B29"/>
            </a:solidFill>
            <a:prstDash val="solid"/>
          </a:ln>
        </p:spPr>
        <p:txBody>
          <a:bodyPr/>
          <a:lstStyle/>
          <a:p>
            <a:endParaRPr lang="en-DE"/>
          </a:p>
        </p:txBody>
      </p:sp>
      <p:sp>
        <p:nvSpPr>
          <p:cNvPr id="25" name="Rectangle 24">
            <a:extLst>
              <a:ext uri="{FF2B5EF4-FFF2-40B4-BE49-F238E27FC236}">
                <a16:creationId xmlns:a16="http://schemas.microsoft.com/office/drawing/2014/main" id="{CB85EAEF-941F-484C-9CD9-603C362E9099}"/>
              </a:ext>
            </a:extLst>
          </p:cNvPr>
          <p:cNvSpPr>
            <a:spLocks noGrp="1"/>
          </p:cNvSpPr>
          <p:nvPr/>
        </p:nvSpPr>
        <p:spPr>
          <a:xfrm>
            <a:off x="9201150" y="2819400"/>
            <a:ext cx="895350" cy="247650"/>
          </a:xfrm>
          <a:prstGeom prst="rect">
            <a:avLst/>
          </a:prstGeom>
          <a:noFill/>
          <a:ln w="0">
            <a:noFill/>
            <a:prstDash val="solid"/>
          </a:ln>
        </p:spPr>
        <p:txBody>
          <a:bodyPr/>
          <a:lstStyle/>
          <a:p>
            <a:pPr algn="ctr">
              <a:defRPr sz="975" b="1">
                <a:solidFill>
                  <a:srgbClr val="F4F4F2"/>
                </a:solidFill>
              </a:defRPr>
            </a:pPr>
            <a:r>
              <a:rPr sz="975" b="1">
                <a:solidFill>
                  <a:srgbClr val="F4F4F2"/>
                </a:solidFill>
              </a:rPr>
              <a:t>COST</a:t>
            </a:r>
          </a:p>
        </p:txBody>
      </p:sp>
      <p:sp>
        <p:nvSpPr>
          <p:cNvPr id="26" name="Rectangle 25">
            <a:extLst>
              <a:ext uri="{FF2B5EF4-FFF2-40B4-BE49-F238E27FC236}">
                <a16:creationId xmlns:a16="http://schemas.microsoft.com/office/drawing/2014/main" id="{98C47ED0-13D4-4F9A-A04B-118A5F2B79A9}"/>
              </a:ext>
            </a:extLst>
          </p:cNvPr>
          <p:cNvSpPr>
            <a:spLocks noGrp="1"/>
          </p:cNvSpPr>
          <p:nvPr/>
        </p:nvSpPr>
        <p:spPr>
          <a:xfrm>
            <a:off x="10229850" y="2800350"/>
            <a:ext cx="285750" cy="266700"/>
          </a:xfrm>
          <a:prstGeom prst="rect">
            <a:avLst/>
          </a:prstGeom>
          <a:noFill/>
          <a:ln w="0">
            <a:noFill/>
            <a:prstDash val="solid"/>
          </a:ln>
        </p:spPr>
        <p:txBody>
          <a:bodyPr/>
          <a:lstStyle/>
          <a:p>
            <a:pPr algn="ctr">
              <a:defRPr sz="1500" b="1">
                <a:solidFill>
                  <a:srgbClr val="9B9B96"/>
                </a:solidFill>
              </a:defRPr>
            </a:pPr>
            <a:r>
              <a:rPr sz="1500" b="1">
                <a:solidFill>
                  <a:srgbClr val="9B9B96"/>
                </a:solidFill>
              </a:rPr>
              <a:t>→</a:t>
            </a:r>
          </a:p>
        </p:txBody>
      </p:sp>
      <p:sp>
        <p:nvSpPr>
          <p:cNvPr id="27" name="Rounded Rectangle 26">
            <a:extLst>
              <a:ext uri="{FF2B5EF4-FFF2-40B4-BE49-F238E27FC236}">
                <a16:creationId xmlns:a16="http://schemas.microsoft.com/office/drawing/2014/main" id="{EEF30EC4-B8AF-46FF-8DCB-6EDEFB38C03E}"/>
              </a:ext>
            </a:extLst>
          </p:cNvPr>
          <p:cNvSpPr>
            <a:spLocks noGrp="1"/>
          </p:cNvSpPr>
          <p:nvPr/>
        </p:nvSpPr>
        <p:spPr>
          <a:xfrm>
            <a:off x="10553700" y="2571750"/>
            <a:ext cx="1238250" cy="723900"/>
          </a:xfrm>
          <a:prstGeom prst="roundRect">
            <a:avLst>
              <a:gd name="adj" fmla="val 5263"/>
            </a:avLst>
          </a:prstGeom>
          <a:solidFill>
            <a:srgbClr val="F4F4F2"/>
          </a:solidFill>
          <a:ln w="9525">
            <a:solidFill>
              <a:srgbClr val="F4F4F2"/>
            </a:solidFill>
            <a:prstDash val="solid"/>
          </a:ln>
        </p:spPr>
        <p:txBody>
          <a:bodyPr/>
          <a:lstStyle/>
          <a:p>
            <a:endParaRPr lang="en-DE"/>
          </a:p>
        </p:txBody>
      </p:sp>
      <p:sp>
        <p:nvSpPr>
          <p:cNvPr id="28" name="Rectangle 27">
            <a:extLst>
              <a:ext uri="{FF2B5EF4-FFF2-40B4-BE49-F238E27FC236}">
                <a16:creationId xmlns:a16="http://schemas.microsoft.com/office/drawing/2014/main" id="{0190D3EC-1AC5-4D87-9E22-AAA6CD7E9120}"/>
              </a:ext>
            </a:extLst>
          </p:cNvPr>
          <p:cNvSpPr>
            <a:spLocks noGrp="1"/>
          </p:cNvSpPr>
          <p:nvPr/>
        </p:nvSpPr>
        <p:spPr>
          <a:xfrm>
            <a:off x="10629900" y="2819400"/>
            <a:ext cx="1085850" cy="247650"/>
          </a:xfrm>
          <a:prstGeom prst="rect">
            <a:avLst/>
          </a:prstGeom>
          <a:noFill/>
          <a:ln w="0">
            <a:noFill/>
            <a:prstDash val="solid"/>
          </a:ln>
        </p:spPr>
        <p:txBody>
          <a:bodyPr/>
          <a:lstStyle/>
          <a:p>
            <a:pPr algn="ctr">
              <a:defRPr sz="975" b="1">
                <a:solidFill>
                  <a:srgbClr val="0B0B0B"/>
                </a:solidFill>
              </a:defRPr>
            </a:pPr>
            <a:r>
              <a:rPr sz="975" b="1">
                <a:solidFill>
                  <a:srgbClr val="0B0B0B"/>
                </a:solidFill>
              </a:rPr>
              <a:t>ROUTE</a:t>
            </a:r>
          </a:p>
        </p:txBody>
      </p:sp>
      <p:sp>
        <p:nvSpPr>
          <p:cNvPr id="29" name="Straight Connector 28">
            <a:extLst>
              <a:ext uri="{FF2B5EF4-FFF2-40B4-BE49-F238E27FC236}">
                <a16:creationId xmlns:a16="http://schemas.microsoft.com/office/drawing/2014/main" id="{B962B83C-0319-4A25-87CD-89B2B59C4591}"/>
              </a:ext>
            </a:extLst>
          </p:cNvPr>
          <p:cNvSpPr>
            <a:spLocks noGrp="1"/>
          </p:cNvSpPr>
          <p:nvPr/>
        </p:nvSpPr>
        <p:spPr>
          <a:xfrm>
            <a:off x="552450" y="3829050"/>
            <a:ext cx="11087100" cy="0"/>
          </a:xfrm>
          <a:prstGeom prst="line">
            <a:avLst/>
          </a:prstGeom>
          <a:noFill/>
          <a:ln w="19050">
            <a:solidFill>
              <a:srgbClr val="555552"/>
            </a:solidFill>
            <a:prstDash val="solid"/>
          </a:ln>
        </p:spPr>
        <p:txBody>
          <a:bodyPr/>
          <a:lstStyle/>
          <a:p>
            <a:endParaRPr lang="en-DE"/>
          </a:p>
        </p:txBody>
      </p:sp>
      <p:sp>
        <p:nvSpPr>
          <p:cNvPr id="30" name="Rectangle 29">
            <a:extLst>
              <a:ext uri="{FF2B5EF4-FFF2-40B4-BE49-F238E27FC236}">
                <a16:creationId xmlns:a16="http://schemas.microsoft.com/office/drawing/2014/main" id="{9521A64F-9796-4917-9888-13670B331CF5}"/>
              </a:ext>
            </a:extLst>
          </p:cNvPr>
          <p:cNvSpPr>
            <a:spLocks noGrp="1"/>
          </p:cNvSpPr>
          <p:nvPr/>
        </p:nvSpPr>
        <p:spPr>
          <a:xfrm>
            <a:off x="552450" y="4171950"/>
            <a:ext cx="3048000" cy="609600"/>
          </a:xfrm>
          <a:prstGeom prst="rect">
            <a:avLst/>
          </a:prstGeom>
          <a:noFill/>
          <a:ln w="0">
            <a:noFill/>
            <a:prstDash val="solid"/>
          </a:ln>
        </p:spPr>
        <p:txBody>
          <a:bodyPr/>
          <a:lstStyle/>
          <a:p>
            <a:pPr algn="l">
              <a:defRPr sz="3600" b="1">
                <a:solidFill>
                  <a:srgbClr val="F4F4F2"/>
                </a:solidFill>
              </a:defRPr>
            </a:pPr>
            <a:r>
              <a:rPr sz="3600" b="1">
                <a:solidFill>
                  <a:srgbClr val="F4F4F2"/>
                </a:solidFill>
              </a:rPr>
              <a:t>43.4%</a:t>
            </a:r>
          </a:p>
        </p:txBody>
      </p:sp>
      <p:sp>
        <p:nvSpPr>
          <p:cNvPr id="31" name="Rectangle 30">
            <a:extLst>
              <a:ext uri="{FF2B5EF4-FFF2-40B4-BE49-F238E27FC236}">
                <a16:creationId xmlns:a16="http://schemas.microsoft.com/office/drawing/2014/main" id="{599DFDC7-4115-4DFD-B48F-0C31D5488832}"/>
              </a:ext>
            </a:extLst>
          </p:cNvPr>
          <p:cNvSpPr>
            <a:spLocks noGrp="1"/>
          </p:cNvSpPr>
          <p:nvPr/>
        </p:nvSpPr>
        <p:spPr>
          <a:xfrm>
            <a:off x="552450" y="4724400"/>
            <a:ext cx="3048000" cy="438150"/>
          </a:xfrm>
          <a:prstGeom prst="rect">
            <a:avLst/>
          </a:prstGeom>
          <a:noFill/>
          <a:ln w="0">
            <a:noFill/>
            <a:prstDash val="solid"/>
          </a:ln>
        </p:spPr>
        <p:txBody>
          <a:bodyPr/>
          <a:lstStyle/>
          <a:p>
            <a:pPr algn="l">
              <a:defRPr sz="1200" b="0">
                <a:solidFill>
                  <a:srgbClr val="9B9B96"/>
                </a:solidFill>
              </a:defRPr>
            </a:pPr>
            <a:r>
              <a:rPr sz="1200" b="0">
                <a:solidFill>
                  <a:srgbClr val="9B9B96"/>
                </a:solidFill>
              </a:rPr>
              <a:t>external cost saving</a:t>
            </a:r>
          </a:p>
        </p:txBody>
      </p:sp>
      <p:sp>
        <p:nvSpPr>
          <p:cNvPr id="32" name="Rectangle 31">
            <a:extLst>
              <a:ext uri="{FF2B5EF4-FFF2-40B4-BE49-F238E27FC236}">
                <a16:creationId xmlns:a16="http://schemas.microsoft.com/office/drawing/2014/main" id="{86C4BFAE-7357-4D33-A761-5C441C9B0EE5}"/>
              </a:ext>
            </a:extLst>
          </p:cNvPr>
          <p:cNvSpPr>
            <a:spLocks noGrp="1"/>
          </p:cNvSpPr>
          <p:nvPr/>
        </p:nvSpPr>
        <p:spPr>
          <a:xfrm>
            <a:off x="4286250" y="4171950"/>
            <a:ext cx="3048000" cy="609600"/>
          </a:xfrm>
          <a:prstGeom prst="rect">
            <a:avLst/>
          </a:prstGeom>
          <a:noFill/>
          <a:ln w="0">
            <a:noFill/>
            <a:prstDash val="solid"/>
          </a:ln>
        </p:spPr>
        <p:txBody>
          <a:bodyPr/>
          <a:lstStyle/>
          <a:p>
            <a:pPr algn="l">
              <a:defRPr sz="3600" b="1">
                <a:solidFill>
                  <a:srgbClr val="F4F4F2"/>
                </a:solidFill>
              </a:defRPr>
            </a:pPr>
            <a:r>
              <a:rPr sz="3600" b="1">
                <a:solidFill>
                  <a:srgbClr val="F4F4F2"/>
                </a:solidFill>
              </a:rPr>
              <a:t>+0.010</a:t>
            </a:r>
          </a:p>
        </p:txBody>
      </p:sp>
      <p:sp>
        <p:nvSpPr>
          <p:cNvPr id="33" name="Rectangle 32">
            <a:extLst>
              <a:ext uri="{FF2B5EF4-FFF2-40B4-BE49-F238E27FC236}">
                <a16:creationId xmlns:a16="http://schemas.microsoft.com/office/drawing/2014/main" id="{6397E81E-F9DC-4ECA-B2D0-362F415C3406}"/>
              </a:ext>
            </a:extLst>
          </p:cNvPr>
          <p:cNvSpPr>
            <a:spLocks noGrp="1"/>
          </p:cNvSpPr>
          <p:nvPr/>
        </p:nvSpPr>
        <p:spPr>
          <a:xfrm>
            <a:off x="4286250" y="4724400"/>
            <a:ext cx="3048000" cy="438150"/>
          </a:xfrm>
          <a:prstGeom prst="rect">
            <a:avLst/>
          </a:prstGeom>
          <a:noFill/>
          <a:ln w="0">
            <a:noFill/>
            <a:prstDash val="solid"/>
          </a:ln>
        </p:spPr>
        <p:txBody>
          <a:bodyPr/>
          <a:lstStyle/>
          <a:p>
            <a:pPr algn="l">
              <a:defRPr sz="1200" b="0">
                <a:solidFill>
                  <a:srgbClr val="9B9B96"/>
                </a:solidFill>
              </a:defRPr>
            </a:pPr>
            <a:r>
              <a:rPr sz="1200" b="0">
                <a:solidFill>
                  <a:srgbClr val="9B9B96"/>
                </a:solidFill>
              </a:rPr>
              <a:t>external quality delta</a:t>
            </a:r>
          </a:p>
        </p:txBody>
      </p:sp>
      <p:sp>
        <p:nvSpPr>
          <p:cNvPr id="34" name="Rectangle 33">
            <a:extLst>
              <a:ext uri="{FF2B5EF4-FFF2-40B4-BE49-F238E27FC236}">
                <a16:creationId xmlns:a16="http://schemas.microsoft.com/office/drawing/2014/main" id="{5EAD4A42-C0A2-4A63-B4E9-88A5225BE9EA}"/>
              </a:ext>
            </a:extLst>
          </p:cNvPr>
          <p:cNvSpPr>
            <a:spLocks noGrp="1"/>
          </p:cNvSpPr>
          <p:nvPr/>
        </p:nvSpPr>
        <p:spPr>
          <a:xfrm>
            <a:off x="8058150" y="4171950"/>
            <a:ext cx="3143250" cy="609600"/>
          </a:xfrm>
          <a:prstGeom prst="rect">
            <a:avLst/>
          </a:prstGeom>
          <a:noFill/>
          <a:ln w="0">
            <a:noFill/>
            <a:prstDash val="solid"/>
          </a:ln>
        </p:spPr>
        <p:txBody>
          <a:bodyPr/>
          <a:lstStyle/>
          <a:p>
            <a:pPr algn="l">
              <a:defRPr sz="3600" b="1">
                <a:solidFill>
                  <a:srgbClr val="F4F4F2"/>
                </a:solidFill>
              </a:defRPr>
            </a:pPr>
            <a:r>
              <a:rPr sz="3600" b="1">
                <a:solidFill>
                  <a:srgbClr val="F4F4F2"/>
                </a:solidFill>
              </a:rPr>
              <a:t>230.9</a:t>
            </a:r>
          </a:p>
        </p:txBody>
      </p:sp>
      <p:sp>
        <p:nvSpPr>
          <p:cNvPr id="35" name="Rectangle 34">
            <a:extLst>
              <a:ext uri="{FF2B5EF4-FFF2-40B4-BE49-F238E27FC236}">
                <a16:creationId xmlns:a16="http://schemas.microsoft.com/office/drawing/2014/main" id="{78F56982-DC6E-4A91-8851-22599BF16740}"/>
              </a:ext>
            </a:extLst>
          </p:cNvPr>
          <p:cNvSpPr>
            <a:spLocks noGrp="1"/>
          </p:cNvSpPr>
          <p:nvPr/>
        </p:nvSpPr>
        <p:spPr>
          <a:xfrm>
            <a:off x="8058150" y="4724400"/>
            <a:ext cx="3143250" cy="438150"/>
          </a:xfrm>
          <a:prstGeom prst="rect">
            <a:avLst/>
          </a:prstGeom>
          <a:noFill/>
          <a:ln w="0">
            <a:noFill/>
            <a:prstDash val="solid"/>
          </a:ln>
        </p:spPr>
        <p:txBody>
          <a:bodyPr/>
          <a:lstStyle/>
          <a:p>
            <a:pPr algn="l">
              <a:defRPr sz="1200" b="0">
                <a:solidFill>
                  <a:srgbClr val="9B9B96"/>
                </a:solidFill>
              </a:defRPr>
            </a:pPr>
            <a:r>
              <a:rPr sz="1200" b="0">
                <a:solidFill>
                  <a:srgbClr val="9B9B96"/>
                </a:solidFill>
              </a:rPr>
              <a:t>external overlap ESS</a:t>
            </a:r>
          </a:p>
        </p:txBody>
      </p:sp>
      <p:sp>
        <p:nvSpPr>
          <p:cNvPr id="36" name="Rectangle 35">
            <a:extLst>
              <a:ext uri="{FF2B5EF4-FFF2-40B4-BE49-F238E27FC236}">
                <a16:creationId xmlns:a16="http://schemas.microsoft.com/office/drawing/2014/main" id="{7D2709D9-B4E3-4E01-9EE5-2D0820736EE4}"/>
              </a:ext>
            </a:extLst>
          </p:cNvPr>
          <p:cNvSpPr>
            <a:spLocks noGrp="1"/>
          </p:cNvSpPr>
          <p:nvPr/>
        </p:nvSpPr>
        <p:spPr>
          <a:xfrm>
            <a:off x="552450" y="5524500"/>
            <a:ext cx="762000" cy="209550"/>
          </a:xfrm>
          <a:prstGeom prst="rect">
            <a:avLst/>
          </a:prstGeom>
          <a:noFill/>
          <a:ln w="0">
            <a:noFill/>
            <a:prstDash val="solid"/>
          </a:ln>
        </p:spPr>
        <p:txBody>
          <a:bodyPr/>
          <a:lstStyle/>
          <a:p>
            <a:pPr algn="l">
              <a:defRPr sz="900" b="1">
                <a:solidFill>
                  <a:srgbClr val="9B9B96"/>
                </a:solidFill>
              </a:defRPr>
            </a:pPr>
            <a:r>
              <a:rPr sz="900" b="1">
                <a:solidFill>
                  <a:srgbClr val="9B9B96"/>
                </a:solidFill>
              </a:rPr>
              <a:t>CLAIM</a:t>
            </a:r>
          </a:p>
        </p:txBody>
      </p:sp>
      <p:sp>
        <p:nvSpPr>
          <p:cNvPr id="37" name="Rectangle 36">
            <a:extLst>
              <a:ext uri="{FF2B5EF4-FFF2-40B4-BE49-F238E27FC236}">
                <a16:creationId xmlns:a16="http://schemas.microsoft.com/office/drawing/2014/main" id="{79E2A675-8850-44FB-A0BD-8F53944F58A7}"/>
              </a:ext>
            </a:extLst>
          </p:cNvPr>
          <p:cNvSpPr>
            <a:spLocks noGrp="1"/>
          </p:cNvSpPr>
          <p:nvPr/>
        </p:nvSpPr>
        <p:spPr>
          <a:xfrm>
            <a:off x="1428750" y="5448300"/>
            <a:ext cx="9334500" cy="361950"/>
          </a:xfrm>
          <a:prstGeom prst="rect">
            <a:avLst/>
          </a:prstGeom>
          <a:noFill/>
          <a:ln w="0">
            <a:noFill/>
            <a:prstDash val="solid"/>
          </a:ln>
        </p:spPr>
        <p:txBody>
          <a:bodyPr/>
          <a:lstStyle/>
          <a:p>
            <a:pPr algn="l">
              <a:defRPr sz="1800" b="1">
                <a:solidFill>
                  <a:srgbClr val="F4F4F2"/>
                </a:solidFill>
              </a:defRPr>
            </a:pPr>
            <a:r>
              <a:rPr sz="1800" b="1">
                <a:solidFill>
                  <a:srgbClr val="F4F4F2"/>
                </a:solidFill>
              </a:rPr>
              <a:t>Lower assumed input cost, with no detected quality loss.</a:t>
            </a:r>
          </a:p>
        </p:txBody>
      </p:sp>
      <p:sp>
        <p:nvSpPr>
          <p:cNvPr id="38" name="Rectangle 37">
            <a:extLst>
              <a:ext uri="{FF2B5EF4-FFF2-40B4-BE49-F238E27FC236}">
                <a16:creationId xmlns:a16="http://schemas.microsoft.com/office/drawing/2014/main" id="{BAB6CEAC-2CC1-49BE-BBB7-94F6D5773D0F}"/>
              </a:ext>
            </a:extLst>
          </p:cNvPr>
          <p:cNvSpPr>
            <a:spLocks noGrp="1"/>
          </p:cNvSpPr>
          <p:nvPr/>
        </p:nvSpPr>
        <p:spPr>
          <a:xfrm>
            <a:off x="552450" y="6019800"/>
            <a:ext cx="1428750" cy="209550"/>
          </a:xfrm>
          <a:prstGeom prst="rect">
            <a:avLst/>
          </a:prstGeom>
          <a:noFill/>
          <a:ln w="0">
            <a:noFill/>
            <a:prstDash val="solid"/>
          </a:ln>
        </p:spPr>
        <p:txBody>
          <a:bodyPr/>
          <a:lstStyle/>
          <a:p>
            <a:pPr algn="l">
              <a:defRPr sz="900" b="1">
                <a:solidFill>
                  <a:srgbClr val="9B9B96"/>
                </a:solidFill>
              </a:defRPr>
            </a:pPr>
            <a:r>
              <a:rPr sz="900" b="1">
                <a:solidFill>
                  <a:srgbClr val="9B9B96"/>
                </a:solidFill>
              </a:rPr>
              <a:t>KNOWN WEAKNESS</a:t>
            </a:r>
          </a:p>
        </p:txBody>
      </p:sp>
      <p:sp>
        <p:nvSpPr>
          <p:cNvPr id="39" name="Rectangle 38">
            <a:extLst>
              <a:ext uri="{FF2B5EF4-FFF2-40B4-BE49-F238E27FC236}">
                <a16:creationId xmlns:a16="http://schemas.microsoft.com/office/drawing/2014/main" id="{68F27B3E-CC4A-47E8-9DFF-1C79A70ABF86}"/>
              </a:ext>
            </a:extLst>
          </p:cNvPr>
          <p:cNvSpPr>
            <a:spLocks noGrp="1"/>
          </p:cNvSpPr>
          <p:nvPr/>
        </p:nvSpPr>
        <p:spPr>
          <a:xfrm>
            <a:off x="2152650" y="5962650"/>
            <a:ext cx="7810500" cy="323850"/>
          </a:xfrm>
          <a:prstGeom prst="rect">
            <a:avLst/>
          </a:prstGeom>
          <a:noFill/>
          <a:ln w="0">
            <a:noFill/>
            <a:prstDash val="solid"/>
          </a:ln>
        </p:spPr>
        <p:txBody>
          <a:bodyPr/>
          <a:lstStyle/>
          <a:p>
            <a:pPr algn="l">
              <a:defRPr sz="1500" b="0">
                <a:solidFill>
                  <a:srgbClr val="D6D6D2"/>
                </a:solidFill>
              </a:defRPr>
            </a:pPr>
            <a:r>
              <a:rPr sz="1500" b="0">
                <a:solidFill>
                  <a:srgbClr val="D6D6D2"/>
                </a:solidFill>
              </a:rPr>
              <a:t>Weak historical support can hide good alternatives.</a:t>
            </a:r>
          </a:p>
        </p:txBody>
      </p:sp>
    </p:spTree>
    <p:extLst>
      <p:ext uri="{BB962C8B-B14F-4D97-AF65-F5344CB8AC3E}">
        <p14:creationId xmlns:p14="http://schemas.microsoft.com/office/powerpoint/2010/main" val="37421910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3122</Words>
  <Application>Microsoft Macintosh PowerPoint</Application>
  <DocSecurity>0</DocSecurity>
  <PresentationFormat>Widescreen</PresentationFormat>
  <Paragraphs>420</Paragraphs>
  <Slides>14</Slides>
  <Notes>14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14</vt:i4>
      </vt:variant>
    </vt:vector>
  </HeadingPairs>
  <TitlesOfParts>
    <vt:vector size="16"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Christian Lauterbach</cp:lastModifiedBy>
  <cp:revision>2</cp:revision>
  <dcterms:created xsi:type="dcterms:W3CDTF">2026-08-23T09:46:05Z</dcterms:created>
  <dcterms:modified xsi:type="dcterms:W3CDTF">2026-08-23T09:50:28Z</dcterms:modified>
</cp:coreProperties>
</file>